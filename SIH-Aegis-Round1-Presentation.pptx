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t>=== SLIDE MEANING &amp; OBJECTIVE ===</a:t>
            </a:r>
          </a:p>
          <a:p>
            <a:r>
              <a:t>Establishes SIH-Aegis as a serious, technically disciplined cybersecurity initiative for SIH 2026. Sets the core paradigm shift: turning subjective human auditory belief into an objective, measurable security signal.</a:t>
            </a:r>
          </a:p>
          <a:p/>
          <a:p>
            <a:r>
              <a:t>=== PRESENTER SCRIPT (20-40 SECONDS) ===</a:t>
            </a:r>
          </a:p>
          <a:p>
            <a:r>
              <a:t>Good day, respected judges. We are Team SIH-Aegis, presenting our solution for Problem Statement SIH26104: AI-Powered Real-Time Detection and Prevention of Voice Cloning Impersonation Attacks. Today, generative audio allows attackers to clone any human voice with just seconds of reference audio. Our mission is to turn voice authenticity from an easily manipulated human trust assumption into a measurable, cryptographic-grade security signal. We have a validated, working end-to-end prototype and a clear engineering roadmap toward lightweight, mobile-capable deployment.</a:t>
            </a:r>
          </a:p>
          <a:p/>
          <a:p>
            <a:r>
              <a:t>=== LIKELY JUDGE QUESTIONS &amp; DEFENSE ===</a:t>
            </a:r>
          </a:p>
          <a:p/>
          <a:p>
            <a:r>
              <a:t>Q: Why voice cloning detection now?</a:t>
            </a:r>
          </a:p>
          <a:p>
            <a:r>
              <a:t>A: Because generative voice synthesis models have crossed the human perceptual threshold. Anyone can harvest 5 seconds of audio from social media and bypass phone-based authorizations or extort families. Traditional authentication assumes that if it sounds like the person, it is the person. That assumption is now broken.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t>=== SLIDE MEANING &amp; OBJECTIVE ===</a:t>
            </a:r>
          </a:p>
          <a:p>
            <a:r>
              <a:t>Visualizes how audio cloning has transformed from an academic curiosity into an industrialized threat vector. Shows judges that the team understands the full exploit chain: from voice harvesting to social engineering and financial fraud.</a:t>
            </a:r>
          </a:p>
          <a:p/>
          <a:p>
            <a:r>
              <a:t>=== PRESENTER SCRIPT (20-40 SECONDS) ===</a:t>
            </a:r>
          </a:p>
          <a:p>
            <a:r>
              <a:t>To understand the urgency of SIH-Aegis, we must look at how the threat has evolved. An attacker no longer requires studio equipment; 3 to 5 seconds of voice harvested from a social media reel is enough. Zero-shot neural speech synthesis clones the victim's exact pitch, cadence, and accent. The attacker then calls a family member, a bank, or a corporate helpdesk. Human auditory perception fails here because we naturally trust what sounds familiar. This is resulting in massive financial fraud, fake emergency extortion, and account takeovers globally.</a:t>
            </a:r>
          </a:p>
          <a:p/>
          <a:p>
            <a:r>
              <a:t>=== LIKELY JUDGE QUESTIONS &amp; DEFENSE ===</a:t>
            </a:r>
          </a:p>
          <a:p/>
          <a:p>
            <a:r>
              <a:t>Q: Why can't humans detect cloned voices over the phone?</a:t>
            </a:r>
          </a:p>
          <a:p>
            <a:r>
              <a:t>A: Standard cellular codecs compress audio heavily, cutting off frequencies above 3.4 kHz (narrowband) or 7 kHz (wideband). This compression strips away subtle acoustic clues, making synthetic voices sound virtually identical to genuine voices to human ears, especially under stressful emergency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t>=== SLIDE MEANING &amp; OBJECTIVE ===</a:t>
            </a:r>
          </a:p>
          <a:p>
            <a:r>
              <a:t>Defines the conceptual problem: replacing subjective human trust with objective, measurable AI verification. Shows judges the broad commercial and societal utility across banking, telecom, KYC, and personal security.</a:t>
            </a:r>
          </a:p>
          <a:p/>
          <a:p>
            <a:r>
              <a:t>=== PRESENTER SCRIPT (20-40 SECONDS) ===</a:t>
            </a:r>
          </a:p>
          <a:p>
            <a:r>
              <a:t>The core question SIH-Aegis solves is: 'Can a voice that sounds like someone actually be trusted as that person?' Historically, security relied on human judgement: 'It sounds like my boss or my mother, so I trust it.' SIH-Aegis replaces this broken assumption with active defense. Instead of asking whether it sounds real, our models measure physical and spectral authenticity: phase continuity, vocoder artifacts, and time-frequency consistency. This turns voice authenticity into a verifiable security signal for banking, KYC, call centers, and consumer defense.</a:t>
            </a:r>
          </a:p>
          <a:p/>
          <a:p>
            <a:r>
              <a:t>=== LIKELY JUDGE QUESTIONS &amp; DEFENSE ===</a:t>
            </a:r>
          </a:p>
          <a:p/>
          <a:p>
            <a:r>
              <a:t>Q: Can this scale to banking and call centres?</a:t>
            </a:r>
          </a:p>
          <a:p>
            <a:r>
              <a:t>A: Yes. In banking and call centers, SIH-Aegis functions as an automated pre-screening microservice. Inbound audio from telephony SIP trunks or WebRTC is streamed into our inference pipeline, returning a sub-second risk score before an agent authorizes a fund transfer or password reset.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t>=== SLIDE MEANING &amp; OBJECTIVE ===</a:t>
            </a:r>
          </a:p>
          <a:p>
            <a:r>
              <a:t>Provides undeniable technical proof of working code. Shows that the team has a fully functioning, GPU-accelerated AASIST prototype running in Streamlit, has exported it to ONNX, and validated mathematical parity to 3.8e-06.</a:t>
            </a:r>
          </a:p>
          <a:p/>
          <a:p>
            <a:r>
              <a:t>=== PRESENTER SCRIPT (20-40 SECONDS) ===</a:t>
            </a:r>
          </a:p>
          <a:p>
            <a:r>
              <a:t>Slide 4 demonstrates what is verified and working today in our codebase. We built a modular audio pipeline in Python: audio loading, 16 kHz mono resampling, feature extraction, and model evaluation. We successfully initialized and verified the AASIST anti-spoofing model on an NVIDIA RTX 4050 GPU in PyTorch. Crucially for deployment, we exported AASIST to ONNX and validated it in ONNX Runtime. Our parity tests proved a maximum numerical difference of just 3.8e-06 between PyTorch and ONNX, producing identical classification verdicts. This is exposed through an interactive Streamlit UI.</a:t>
            </a:r>
          </a:p>
          <a:p/>
          <a:p>
            <a:r>
              <a:t>=== LIKELY JUDGE QUESTIONS &amp; DEFENSE ===</a:t>
            </a:r>
          </a:p>
          <a:p/>
          <a:p>
            <a:r>
              <a:t>Q: What is actually working today?</a:t>
            </a:r>
          </a:p>
          <a:p>
            <a:r>
              <a:t>A: The end-to-end Python pipeline from audio input to AASIST inference, deterministic scoring, ONNX model export, ONNX Runtime validation with 3.8e-06 numerical parity, and our Streamlit diagnostic interface are all 100% verified and operational.</a:t>
            </a:r>
          </a:p>
          <a:p/>
          <a:p>
            <a:r>
              <a:t>Q: Why not just use AASIST as your final product?</a:t>
            </a:r>
          </a:p>
          <a:p>
            <a:r>
              <a:t>A: AASIST is our working baseline, but as our field testing demonstrated, it suffers from severe domain mismatch outside clean academic datasets, which directly motivated our custom lightweight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t>=== SLIDE MEANING &amp; OBJECTIVE ===</a:t>
            </a:r>
          </a:p>
          <a:p>
            <a:r>
              <a:t>Demonstrates deep engineering maturity. Instead of pretending a pretrained model works magically everywhere, the team highlights empirical testing showing false alarms on genuine speech, directly justifying the custom CNN.</a:t>
            </a:r>
          </a:p>
          <a:p/>
          <a:p>
            <a:r>
              <a:t>=== PRESENTER SCRIPT (20-40 SECONDS) ===</a:t>
            </a:r>
          </a:p>
          <a:p>
            <a:r>
              <a:t>Slide 5 contains one of our most critical engineering discoveries. When we evaluated the AASIST baseline, it performed as expected on synthetic benchmarks: it correctly flagged spoofed voices. However, when we tested genuine, real-world voice notes recorded on smartphones and laptops, AASIST produced false SPOOF predictions on real people! This proved a fundamental industry lesson: benchmark performance does not equal deployment robustness. Academic models overfit to studio acoustics. Deploying AASIST in India would reject legitimate banking customers. This exact insight is why we are developing our own domain-aware Spectrogram CNN.</a:t>
            </a:r>
          </a:p>
          <a:p/>
          <a:p>
            <a:r>
              <a:t>=== LIKELY JUDGE QUESTIONS &amp; DEFENSE ===</a:t>
            </a:r>
          </a:p>
          <a:p/>
          <a:p>
            <a:r>
              <a:t>Q: What makes your approach different from existing research?</a:t>
            </a:r>
          </a:p>
          <a:p>
            <a:r>
              <a:t>A: Most academic projects stop at evaluating pretrained weights on ASVspoof clean partitions. We actively identified its real-world generalization failure on everyday microphones and designed our custom architecture and data augmentation pipeline specifically to mitigate channel and acoustic false positives.</a:t>
            </a:r>
          </a:p>
          <a:p/>
          <a:p>
            <a:r>
              <a:t>Q: How will you evaluate false positives?</a:t>
            </a:r>
          </a:p>
          <a:p>
            <a:r>
              <a:t>A: We measure Equal Error Rate (EER) and false-rejection rate across cross-domain evaluation splits, deliberately including low-cost smartphone recordings, reverberant rooms, and cellular codecs.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t>=== SLIDE MEANING &amp; OBJECTIVE ===</a:t>
            </a:r>
          </a:p>
          <a:p>
            <a:r>
              <a:t>Presents the team's primary new model direction: a lightweight, 97.9k parameter Spectrogram CNN. Highlights why CNN on spectrogram works, and explicitly confirms that the forward pass is verified while training is in progress.</a:t>
            </a:r>
          </a:p>
          <a:p/>
          <a:p>
            <a:r>
              <a:t>=== PRESENTER SCRIPT (20-40 SECONDS) ===</a:t>
            </a:r>
          </a:p>
          <a:p>
            <a:r>
              <a:t>Slide 6 presents our primary model direction: a lightweight Spectrogram CNN. Speech is non-stationary; neural vocoders leave characteristic frequency smearing and temporal phase discontinuities. We convert 16 kHz audio into 128 by 128 Log-Mel spectrograms via STFT. Our CNN uses 4 progressive convolution blocks, Batch Normalization, and Adaptive Pooling, totaling just 97,890 parameters—less than 400 kilobytes. We are technically transparent: the architecture is coded and GPU forward-pass verified on our RTX 4050, but it is not yet trained. We will not claim a fabricated accuracy score.</a:t>
            </a:r>
          </a:p>
          <a:p/>
          <a:p>
            <a:r>
              <a:t>=== LIKELY JUDGE QUESTIONS &amp; DEFENSE ===</a:t>
            </a:r>
          </a:p>
          <a:p/>
          <a:p>
            <a:r>
              <a:t>Q: Why use a CNN rather than a transformer or RNN?</a:t>
            </a:r>
          </a:p>
          <a:p>
            <a:r>
              <a:t>A: A 2D CNN treats the spectrogram as a time-frequency image, efficiently capturing localized acoustic anomalies (spectral cutoffs, harmonic smearing) with low parameter count. Transformers require heavy self-attention compute, which is prohibitive for real-time edge/mobile deployment.</a:t>
            </a:r>
          </a:p>
          <a:p/>
          <a:p>
            <a:r>
              <a:t>Q: Why spectrogram representation?</a:t>
            </a:r>
          </a:p>
          <a:p>
            <a:r>
              <a:t>A: Raw audio contains heavy phase noise. Log-Mel spectrograms preserve perceptual frequency bands while exposing spectral energy anomalies left by neural vocoders like HiFi-GAN and WaveGlow.</a:t>
            </a:r>
          </a:p>
          <a:p/>
          <a:p>
            <a:r>
              <a:t>Q: Is the CNN trained already?</a:t>
            </a:r>
          </a:p>
          <a:p>
            <a:r>
              <a:t>A: No. The architecture is fully implemented, verified, and ready for training. We are currently compiling our balanced Indian-speaker and multi-generator training dataset.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t>=== SLIDE MEANING &amp; OBJECTIVE ===</a:t>
            </a:r>
          </a:p>
          <a:p>
            <a:r>
              <a:t>Shows the full end-to-end layered architecture. Proves that SIH-Aegis is not just a standalone script, but a production-grade, modular software architecture with decoupled ingestion, preprocessing, modeling, and output layers.</a:t>
            </a:r>
          </a:p>
          <a:p/>
          <a:p>
            <a:r>
              <a:t>=== PRESENTER SCRIPT (20-40 SECONDS) ===</a:t>
            </a:r>
          </a:p>
          <a:p>
            <a:r>
              <a:t>Slide 7 illustrates the modular architecture of SIH-Aegis. The system is organized into clean functional layers: presentation via Streamlit and Android Compose, ingestion, preprocessing, dual feature extraction, and our detection engines. This decoupling is vital: our AASIST baseline and our custom Spectrogram CNN share the same audio preprocessing and validation pipelines. When our CNN completes training, it plugs directly into the existing ONNX Runtime engine without rewriting a single line of application code.</a:t>
            </a:r>
          </a:p>
          <a:p/>
          <a:p>
            <a:r>
              <a:t>=== LIKELY JUDGE QUESTIONS &amp; DEFENSE ===</a:t>
            </a:r>
          </a:p>
          <a:p/>
          <a:p>
            <a:r>
              <a:t>Q: Why is the model designed to be so lightweight (~97.9k params)?</a:t>
            </a:r>
          </a:p>
          <a:p>
            <a:r>
              <a:t>A: Because production telephony and smartphone detection requires low latency (&lt;100 ms) and low battery/thermal impact. Heavy architectures cannot run alongside a real-time call. Our 97.9k CNN fits entirely in mobile L3 cache (~390 KB) and executes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t>=== SLIDE MEANING &amp; OBJECTIVE ===</a:t>
            </a:r>
          </a:p>
          <a:p>
            <a:r>
              <a:t>Details mobile execution. Demonstrates that the Android application is real, built in Kotlin and Compose with ONNX Runtime, while honestly acknowledging Android OS limitations regarding cellular call recording.</a:t>
            </a:r>
          </a:p>
          <a:p/>
          <a:p>
            <a:r>
              <a:t>=== PRESENTER SCRIPT (20-40 SECONDS) ===</a:t>
            </a:r>
          </a:p>
          <a:p>
            <a:r>
              <a:t>Slide 8 addresses our mobile execution. We have set up an Android Studio project using Kotlin, Jetpack Compose, and Material 3. We successfully embedded ONNX Runtime Mobile and loaded our AASIST ONNX model into memory inside the Android environment. We have a responsive state machine transitioning between Ready, Listening, Analyzing, Bonafide, and Spoof. Equally important is our engineering integrity: we do not claim that our app intercepts live cellular calls in the background. Android OS privacy sandboxes prevent arbitrary call recording. Our roadmap targets VoIP, voice notes, user-consented audio, and enterprise telecom SDK partnerships.</a:t>
            </a:r>
          </a:p>
          <a:p/>
          <a:p>
            <a:r>
              <a:t>=== LIKELY JUDGE QUESTIONS &amp; DEFENSE ===</a:t>
            </a:r>
          </a:p>
          <a:p/>
          <a:p>
            <a:r>
              <a:t>Q: Is Android already doing real-time cellular call detection?</a:t>
            </a:r>
          </a:p>
          <a:p>
            <a:r>
              <a:t>A: No, and anyone claiming a normal 3rd-party Android app can freely intercept standard cellular calls is ignoring Android 10+ security policies. We are currently integrating file upload inference, and our next milestone is live microphone streaming for VoIP and messaging apps.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t>=== SLIDE MEANING &amp; OBJECTIVE ===</a:t>
            </a:r>
          </a:p>
          <a:p>
            <a:r>
              <a:t>Demonstrates a comprehensive real-world data strategy. Shows how the team tackles domain shift, Indian language accents, and unseen cloning models, while adhering to biometric privacy-by-design standards.</a:t>
            </a:r>
          </a:p>
          <a:p/>
          <a:p>
            <a:r>
              <a:t>=== PRESENTER SCRIPT (20-40 SECONDS) ===</a:t>
            </a:r>
          </a:p>
          <a:p>
            <a:r>
              <a:t>Slide 9 outlines our data and robustness strategy. A detector trained only on American or European voices will fail when deployed in India. Our strategy tackles four barriers: accent mismatch, acoustic noise, codec compression, and unseen synthesis generators. We are building our dataset to include Indian English and regional languages, multiple synthesis architectures, and aggressive noise augmentation. We also planned a consent-based Android data collection mode to gather opt-in Indian speech ethically. Voice is biometric data, so we enforce privacy-by-design: explicit user consent, strict metadata isolation, and zero personal identification linking.</a:t>
            </a:r>
          </a:p>
          <a:p/>
          <a:p>
            <a:r>
              <a:t>=== LIKELY JUDGE QUESTIONS &amp; DEFENSE ===</a:t>
            </a:r>
          </a:p>
          <a:p/>
          <a:p>
            <a:r>
              <a:t>Q: How will this work for Indian speakers?</a:t>
            </a:r>
          </a:p>
          <a:p>
            <a:r>
              <a:t>A: By deliberately including Indian English and regional linguistic datasets, and fine-tuning on speech containing typical Indian phoneme cadences and ambient acoustic environments, rather than relying exclusively on Western benchmarks.</a:t>
            </a:r>
          </a:p>
          <a:p/>
          <a:p>
            <a:r>
              <a:t>Q: What happens when a new cloning system appears?</a:t>
            </a:r>
          </a:p>
          <a:p>
            <a:r>
              <a:t>A: Our CNN is trained on acoustic artifacts common to neural speech reconstruction (vocoder smoothing, phase discontinuities, and high-frequency roll-off), enabling cross-generator generalization rather than memorizing a specific model's watermarks.</a:t>
            </a:r>
          </a:p>
          <a:p/>
          <a:p>
            <a:r>
              <a:t>Q: How are you handling biometric privacy?</a:t>
            </a:r>
          </a:p>
          <a:p>
            <a:r>
              <a:t>A: We follow privacy-by-design: explicit user opt-in consent, no collection of phone numbers or names, randomized speaker IDs, secure local storage, and immediate user-initiated deletion rights.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wrap="square"/>
          <a:lstStyle/>
          <a:p>
            <a:r>
              <a:t>=== SLIDE MEANING &amp; OBJECTIVE ===</a:t>
            </a:r>
          </a:p>
          <a:p>
            <a:r>
              <a:t>Concludes the presentation with a powerful strategic vision. Demonstrates high commercial viability across banking, KYC, and citizen defense, presents an honest phased roadmap, and finishes on the memorable project punchline.</a:t>
            </a:r>
          </a:p>
          <a:p/>
          <a:p>
            <a:r>
              <a:t>=== PRESENTER SCRIPT (20-40 SECONDS) ===</a:t>
            </a:r>
          </a:p>
          <a:p>
            <a:r>
              <a:t>To conclude, SIH-Aegis is engineered for real-world viability and measurable impact. The market need spans banking authorizations, KYC onboarding verification, enterprise call center defense, and consumer scam protection. Our roadmap is clear: Phase 1 is verified with working baseline inference and ONNX parity; Phase 2 trains our lightweight CNN with diverse Indian speech; Phase 3 deploys on-device mobile streaming; and Phase 4 scales to enterprise telecom gateways. In an era where any voice can be forged in seconds, SIH-Aegis turns voice authenticity from a vulnerable trust assumption into a measurable, objective security signal. Thank you, and Team SIH-Aegis welcomes your questions.</a:t>
            </a:r>
          </a:p>
          <a:p/>
          <a:p>
            <a:r>
              <a:t>=== LIKELY JUDGE QUESTIONS &amp; DEFENSE ===</a:t>
            </a:r>
          </a:p>
          <a:p/>
          <a:p>
            <a:r>
              <a:t>Q: What is your biggest competitive advantage?</a:t>
            </a:r>
          </a:p>
          <a:p>
            <a:r>
              <a:t>A: Technical honesty, edge efficiency, and domain awareness. Rather than claiming impossible features, we discovered baseline real-world limitations and designed a lightweight 97.9k parameter detector tailored for low latency and Indian acoustic conditions.</a:t>
            </a:r>
          </a:p>
          <a:p/>
          <a:p>
            <a:r>
              <a:t>Q: How does this align with SIH 2026 evaluation criteria?</a:t>
            </a:r>
          </a:p>
          <a:p>
            <a:r>
              <a:t>A: It hits all criteria: F1 Innovation (domain-aware spectrogram CNN), F2 Feasibility (verified ONNX runtime), F3 UX (Streamlit &amp; Compose UI), F4 Impact (fraud defense), F5 Execution (RTX 4050 GPU pipeline), F6 Sustainability (open architecture), F7 Viability (banking/KYC applications), and F8 Privacy (consent-based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05840"/>
            <a:ext cx="109728" cy="4663440"/>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005840"/>
            <a:ext cx="4754880" cy="384048"/>
          </a:xfrm>
          <a:prstGeom prst="roundRect">
            <a:avLst/>
          </a:prstGeom>
          <a:solidFill>
            <a:srgbClr val="111C33"/>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D2FF"/>
                </a:solidFill>
                <a:latin typeface="Arial"/>
              </a:defRPr>
            </a:pPr>
            <a:r>
              <a:t>SMART INDIA HACKATHON 2026 · ROUND 1 PRESENTATION</a:t>
            </a:r>
          </a:p>
        </p:txBody>
      </p:sp>
      <p:sp>
        <p:nvSpPr>
          <p:cNvPr id="5" name="TextBox 4"/>
          <p:cNvSpPr txBox="1"/>
          <p:nvPr/>
        </p:nvSpPr>
        <p:spPr>
          <a:xfrm>
            <a:off x="1097280" y="1508760"/>
            <a:ext cx="9601200" cy="1005840"/>
          </a:xfrm>
          <a:prstGeom prst="rect">
            <a:avLst/>
          </a:prstGeom>
          <a:noFill/>
        </p:spPr>
        <p:txBody>
          <a:bodyPr wrap="square">
            <a:spAutoFit/>
          </a:bodyPr>
          <a:lstStyle/>
          <a:p>
            <a:pPr>
              <a:defRPr sz="4600" b="1">
                <a:solidFill>
                  <a:srgbClr val="F8FAFC"/>
                </a:solidFill>
                <a:latin typeface="Helvetica"/>
              </a:defRPr>
            </a:pPr>
            <a:r>
              <a:t>SIH-Aegis</a:t>
            </a:r>
          </a:p>
        </p:txBody>
      </p:sp>
      <p:sp>
        <p:nvSpPr>
          <p:cNvPr id="6" name="TextBox 5"/>
          <p:cNvSpPr txBox="1"/>
          <p:nvPr/>
        </p:nvSpPr>
        <p:spPr>
          <a:xfrm>
            <a:off x="1097280" y="2514600"/>
            <a:ext cx="10058400" cy="1097280"/>
          </a:xfrm>
          <a:prstGeom prst="rect">
            <a:avLst/>
          </a:prstGeom>
          <a:noFill/>
        </p:spPr>
        <p:txBody>
          <a:bodyPr wrap="square">
            <a:spAutoFit/>
          </a:bodyPr>
          <a:lstStyle/>
          <a:p>
            <a:pPr>
              <a:defRPr sz="2200" b="1">
                <a:solidFill>
                  <a:srgbClr val="00D2FF"/>
                </a:solidFill>
                <a:latin typeface="Helvetica"/>
              </a:defRPr>
            </a:pPr>
            <a:r>
              <a:t>AI-Powered Real-Time Detection and Prevention of</a:t>
            </a:r>
            <a:br/>
            <a:r>
              <a:t>Voice Cloning Impersonation Attacks</a:t>
            </a:r>
          </a:p>
        </p:txBody>
      </p:sp>
      <p:sp>
        <p:nvSpPr>
          <p:cNvPr id="7" name="TextBox 6"/>
          <p:cNvSpPr txBox="1"/>
          <p:nvPr/>
        </p:nvSpPr>
        <p:spPr>
          <a:xfrm>
            <a:off x="1097280" y="3703320"/>
            <a:ext cx="10058400" cy="548640"/>
          </a:xfrm>
          <a:prstGeom prst="rect">
            <a:avLst/>
          </a:prstGeom>
          <a:noFill/>
        </p:spPr>
        <p:txBody>
          <a:bodyPr wrap="square">
            <a:spAutoFit/>
          </a:bodyPr>
          <a:lstStyle/>
          <a:p>
            <a:pPr>
              <a:defRPr sz="1300">
                <a:solidFill>
                  <a:srgbClr val="94A3B8"/>
                </a:solidFill>
                <a:latin typeface="Arial"/>
              </a:defRPr>
            </a:pPr>
            <a:r>
              <a:t>Transforming voice authenticity from a subjective human trust assumption into a measurable, objective security signal.</a:t>
            </a:r>
          </a:p>
        </p:txBody>
      </p:sp>
      <p:sp>
        <p:nvSpPr>
          <p:cNvPr id="8" name="Rounded Rectangle 7"/>
          <p:cNvSpPr/>
          <p:nvPr/>
        </p:nvSpPr>
        <p:spPr>
          <a:xfrm>
            <a:off x="1097280" y="4526280"/>
            <a:ext cx="2542032" cy="105156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spcAft>
                <a:spcPts val="200"/>
              </a:spcAft>
              <a:defRPr sz="850" b="1">
                <a:solidFill>
                  <a:srgbClr val="00D2FF"/>
                </a:solidFill>
                <a:latin typeface="Arial"/>
              </a:defRPr>
            </a:pPr>
            <a:r>
              <a:t>PROBLEM STATEMENT</a:t>
            </a:r>
          </a:p>
          <a:p>
            <a:pPr>
              <a:defRPr sz="1000" b="1">
                <a:solidFill>
                  <a:srgbClr val="F8FAFC"/>
                </a:solidFill>
                <a:latin typeface="Arial"/>
              </a:defRPr>
            </a:pPr>
            <a:r>
              <a:t>SIH26104 (ID: 104)</a:t>
            </a:r>
          </a:p>
        </p:txBody>
      </p:sp>
      <p:sp>
        <p:nvSpPr>
          <p:cNvPr id="9" name="Rounded Rectangle 8"/>
          <p:cNvSpPr/>
          <p:nvPr/>
        </p:nvSpPr>
        <p:spPr>
          <a:xfrm>
            <a:off x="3794760" y="4526280"/>
            <a:ext cx="2542032" cy="105156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spcAft>
                <a:spcPts val="200"/>
              </a:spcAft>
              <a:defRPr sz="850" b="1">
                <a:solidFill>
                  <a:srgbClr val="00D2FF"/>
                </a:solidFill>
                <a:latin typeface="Arial"/>
              </a:defRPr>
            </a:pPr>
            <a:r>
              <a:t>ORGANIZATION</a:t>
            </a:r>
          </a:p>
          <a:p>
            <a:pPr>
              <a:defRPr sz="1000" b="1">
                <a:solidFill>
                  <a:srgbClr val="F8FAFC"/>
                </a:solidFill>
                <a:latin typeface="Arial"/>
              </a:defRPr>
            </a:pPr>
            <a:r>
              <a:t>AICTE · Blockchain &amp; Cyber Security</a:t>
            </a:r>
          </a:p>
        </p:txBody>
      </p:sp>
      <p:sp>
        <p:nvSpPr>
          <p:cNvPr id="10" name="Rounded Rectangle 9"/>
          <p:cNvSpPr/>
          <p:nvPr/>
        </p:nvSpPr>
        <p:spPr>
          <a:xfrm>
            <a:off x="6492240" y="4526280"/>
            <a:ext cx="2542032" cy="105156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spcAft>
                <a:spcPts val="200"/>
              </a:spcAft>
              <a:defRPr sz="850" b="1">
                <a:solidFill>
                  <a:srgbClr val="00D2FF"/>
                </a:solidFill>
                <a:latin typeface="Arial"/>
              </a:defRPr>
            </a:pPr>
            <a:r>
              <a:t>DEVELOPMENT STAGE</a:t>
            </a:r>
          </a:p>
          <a:p>
            <a:pPr>
              <a:defRPr sz="1000" b="1">
                <a:solidFill>
                  <a:srgbClr val="F8FAFC"/>
                </a:solidFill>
                <a:latin typeface="Arial"/>
              </a:defRPr>
            </a:pPr>
            <a:r>
              <a:t>Verified Working Baseline + Stage 1 Architecture</a:t>
            </a:r>
          </a:p>
        </p:txBody>
      </p:sp>
      <p:sp>
        <p:nvSpPr>
          <p:cNvPr id="11" name="Rounded Rectangle 10"/>
          <p:cNvSpPr/>
          <p:nvPr/>
        </p:nvSpPr>
        <p:spPr>
          <a:xfrm>
            <a:off x="9189720" y="4526280"/>
            <a:ext cx="2542032" cy="105156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spcAft>
                <a:spcPts val="200"/>
              </a:spcAft>
              <a:defRPr sz="850" b="1">
                <a:solidFill>
                  <a:srgbClr val="00D2FF"/>
                </a:solidFill>
                <a:latin typeface="Arial"/>
              </a:defRPr>
            </a:pPr>
            <a:r>
              <a:t>TEAM IDENTITY</a:t>
            </a:r>
          </a:p>
          <a:p>
            <a:pPr>
              <a:defRPr sz="1000" b="1">
                <a:solidFill>
                  <a:srgbClr val="F8FAFC"/>
                </a:solidFill>
                <a:latin typeface="Arial"/>
              </a:defRPr>
            </a:pPr>
            <a:r>
              <a:t>SIH-Aegis · Software Track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858000" cy="274320"/>
          </a:xfrm>
          <a:prstGeom prst="rect">
            <a:avLst/>
          </a:prstGeom>
          <a:noFill/>
        </p:spPr>
        <p:txBody>
          <a:bodyPr wrap="square" lIns="0" tIns="0" rIns="0" bIns="0">
            <a:spAutoFit/>
          </a:bodyPr>
          <a:lstStyle/>
          <a:p>
            <a:pPr>
              <a:defRPr sz="950" b="1">
                <a:solidFill>
                  <a:srgbClr val="00D2FF"/>
                </a:solidFill>
                <a:latin typeface="Arial"/>
              </a:defRPr>
            </a:pPr>
            <a:r>
              <a:t>SMART INDIA HACKATHON 2026  ·  THREAT CONTEXT</a:t>
            </a:r>
          </a:p>
        </p:txBody>
      </p:sp>
      <p:sp>
        <p:nvSpPr>
          <p:cNvPr id="5" name="TextBox 4"/>
          <p:cNvSpPr txBox="1"/>
          <p:nvPr/>
        </p:nvSpPr>
        <p:spPr>
          <a:xfrm>
            <a:off x="731520" y="713232"/>
            <a:ext cx="8961120" cy="640080"/>
          </a:xfrm>
          <a:prstGeom prst="rect">
            <a:avLst/>
          </a:prstGeom>
          <a:noFill/>
        </p:spPr>
        <p:txBody>
          <a:bodyPr wrap="square" lIns="0" tIns="0" rIns="0" bIns="0">
            <a:spAutoFit/>
          </a:bodyPr>
          <a:lstStyle/>
          <a:p>
            <a:pPr>
              <a:defRPr sz="2100" b="1">
                <a:solidFill>
                  <a:srgbClr val="F8FAFC"/>
                </a:solidFill>
                <a:latin typeface="Helvetica"/>
              </a:defRPr>
            </a:pPr>
            <a:r>
              <a:t>Your Voice Can Be Copied: The Generative Threat Landscape</a:t>
            </a:r>
          </a:p>
        </p:txBody>
      </p:sp>
      <p:sp>
        <p:nvSpPr>
          <p:cNvPr id="6" name="Rounded Rectangle 5"/>
          <p:cNvSpPr/>
          <p:nvPr/>
        </p:nvSpPr>
        <p:spPr>
          <a:xfrm>
            <a:off x="9722815" y="438912"/>
            <a:ext cx="1737360" cy="475488"/>
          </a:xfrm>
          <a:prstGeom prst="roundRect">
            <a:avLst/>
          </a:prstGeom>
          <a:solidFill>
            <a:srgbClr val="111C33"/>
          </a:solidFill>
          <a:ln w="1270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94A3B8"/>
                </a:solidFill>
                <a:latin typeface="Arial"/>
              </a:defRPr>
            </a:pPr>
            <a:r>
              <a:t>SIH-Aegis  |  2/10</a:t>
            </a:r>
          </a:p>
        </p:txBody>
      </p:sp>
      <p:sp>
        <p:nvSpPr>
          <p:cNvPr id="7" name="Rounded Rectangle 6"/>
          <p:cNvSpPr/>
          <p:nvPr/>
        </p:nvSpPr>
        <p:spPr>
          <a:xfrm>
            <a:off x="731520" y="1554480"/>
            <a:ext cx="1965960" cy="146304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spcAft>
                <a:spcPts val="400"/>
              </a:spcAft>
              <a:defRPr sz="1100" b="1">
                <a:solidFill>
                  <a:srgbClr val="F8FAFC"/>
                </a:solidFill>
                <a:latin typeface="Arial"/>
              </a:defRPr>
            </a:pPr>
            <a:r>
              <a:t>1. Real Speaker</a:t>
            </a:r>
          </a:p>
          <a:p>
            <a:pPr>
              <a:defRPr sz="950">
                <a:solidFill>
                  <a:srgbClr val="94A3B8"/>
                </a:solidFill>
                <a:latin typeface="Arial"/>
              </a:defRPr>
            </a:pPr>
            <a:r>
              <a:t>3-5 sec voice harvested</a:t>
            </a:r>
            <a:br/>
            <a:r>
              <a:t>from social media or call</a:t>
            </a:r>
          </a:p>
        </p:txBody>
      </p:sp>
      <p:sp>
        <p:nvSpPr>
          <p:cNvPr id="8" name="TextBox 7"/>
          <p:cNvSpPr txBox="1"/>
          <p:nvPr/>
        </p:nvSpPr>
        <p:spPr>
          <a:xfrm>
            <a:off x="2697480" y="2057400"/>
            <a:ext cx="228600" cy="457200"/>
          </a:xfrm>
          <a:prstGeom prst="rect">
            <a:avLst/>
          </a:prstGeom>
          <a:noFill/>
        </p:spPr>
        <p:txBody>
          <a:bodyPr wrap="none" lIns="0" tIns="0" rIns="0" bIns="0">
            <a:spAutoFit/>
          </a:bodyPr>
          <a:lstStyle/>
          <a:p>
            <a:pPr algn="ctr">
              <a:defRPr sz="1800" b="1">
                <a:solidFill>
                  <a:srgbClr val="00D2FF"/>
                </a:solidFill>
                <a:latin typeface="Helvetica"/>
              </a:defRPr>
            </a:pPr>
            <a:r>
              <a:t>→</a:t>
            </a:r>
          </a:p>
        </p:txBody>
      </p:sp>
      <p:sp>
        <p:nvSpPr>
          <p:cNvPr id="9" name="Rounded Rectangle 8"/>
          <p:cNvSpPr/>
          <p:nvPr/>
        </p:nvSpPr>
        <p:spPr>
          <a:xfrm>
            <a:off x="2926080" y="1554480"/>
            <a:ext cx="1965960" cy="146304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spcAft>
                <a:spcPts val="400"/>
              </a:spcAft>
              <a:defRPr sz="1100" b="1">
                <a:solidFill>
                  <a:srgbClr val="00D2FF"/>
                </a:solidFill>
                <a:latin typeface="Arial"/>
              </a:defRPr>
            </a:pPr>
            <a:r>
              <a:t>2. Voice Cloning</a:t>
            </a:r>
          </a:p>
          <a:p>
            <a:pPr>
              <a:defRPr sz="950">
                <a:solidFill>
                  <a:srgbClr val="94A3B8"/>
                </a:solidFill>
                <a:latin typeface="Arial"/>
              </a:defRPr>
            </a:pPr>
            <a:r>
              <a:t>Zero-shot neural TTS</a:t>
            </a:r>
            <a:br/>
            <a:r>
              <a:t>models (XTTS, ElevenLabs)</a:t>
            </a:r>
          </a:p>
        </p:txBody>
      </p:sp>
      <p:sp>
        <p:nvSpPr>
          <p:cNvPr id="10" name="TextBox 9"/>
          <p:cNvSpPr txBox="1"/>
          <p:nvPr/>
        </p:nvSpPr>
        <p:spPr>
          <a:xfrm>
            <a:off x="4892040" y="2057400"/>
            <a:ext cx="228600" cy="457200"/>
          </a:xfrm>
          <a:prstGeom prst="rect">
            <a:avLst/>
          </a:prstGeom>
          <a:noFill/>
        </p:spPr>
        <p:txBody>
          <a:bodyPr wrap="none" lIns="0" tIns="0" rIns="0" bIns="0">
            <a:spAutoFit/>
          </a:bodyPr>
          <a:lstStyle/>
          <a:p>
            <a:pPr algn="ctr">
              <a:defRPr sz="1800" b="1">
                <a:solidFill>
                  <a:srgbClr val="00D2FF"/>
                </a:solidFill>
                <a:latin typeface="Helvetica"/>
              </a:defRPr>
            </a:pPr>
            <a:r>
              <a:t>→</a:t>
            </a:r>
          </a:p>
        </p:txBody>
      </p:sp>
      <p:sp>
        <p:nvSpPr>
          <p:cNvPr id="11" name="Rounded Rectangle 10"/>
          <p:cNvSpPr/>
          <p:nvPr/>
        </p:nvSpPr>
        <p:spPr>
          <a:xfrm>
            <a:off x="5120640" y="1554480"/>
            <a:ext cx="1965960" cy="146304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spcAft>
                <a:spcPts val="400"/>
              </a:spcAft>
              <a:defRPr sz="1100" b="1">
                <a:solidFill>
                  <a:srgbClr val="F59E0B"/>
                </a:solidFill>
                <a:latin typeface="Arial"/>
              </a:defRPr>
            </a:pPr>
            <a:r>
              <a:t>3. Synthetic Speech</a:t>
            </a:r>
          </a:p>
          <a:p>
            <a:pPr>
              <a:defRPr sz="950">
                <a:solidFill>
                  <a:srgbClr val="94A3B8"/>
                </a:solidFill>
                <a:latin typeface="Arial"/>
              </a:defRPr>
            </a:pPr>
            <a:r>
              <a:t>Vocal timbre, emotion &amp;</a:t>
            </a:r>
            <a:br/>
            <a:r>
              <a:t>intonation replicated</a:t>
            </a:r>
          </a:p>
        </p:txBody>
      </p:sp>
      <p:sp>
        <p:nvSpPr>
          <p:cNvPr id="12" name="TextBox 11"/>
          <p:cNvSpPr txBox="1"/>
          <p:nvPr/>
        </p:nvSpPr>
        <p:spPr>
          <a:xfrm>
            <a:off x="7086600" y="2057400"/>
            <a:ext cx="228600" cy="457200"/>
          </a:xfrm>
          <a:prstGeom prst="rect">
            <a:avLst/>
          </a:prstGeom>
          <a:noFill/>
        </p:spPr>
        <p:txBody>
          <a:bodyPr wrap="none" lIns="0" tIns="0" rIns="0" bIns="0">
            <a:spAutoFit/>
          </a:bodyPr>
          <a:lstStyle/>
          <a:p>
            <a:pPr algn="ctr">
              <a:defRPr sz="1800" b="1">
                <a:solidFill>
                  <a:srgbClr val="00D2FF"/>
                </a:solidFill>
                <a:latin typeface="Helvetica"/>
              </a:defRPr>
            </a:pPr>
            <a:r>
              <a:t>→</a:t>
            </a:r>
          </a:p>
        </p:txBody>
      </p:sp>
      <p:sp>
        <p:nvSpPr>
          <p:cNvPr id="13" name="Rounded Rectangle 12"/>
          <p:cNvSpPr/>
          <p:nvPr/>
        </p:nvSpPr>
        <p:spPr>
          <a:xfrm>
            <a:off x="7315200" y="1554480"/>
            <a:ext cx="1965960" cy="1463040"/>
          </a:xfrm>
          <a:prstGeom prst="roundRect">
            <a:avLst/>
          </a:prstGeom>
          <a:solidFill>
            <a:srgbClr val="2D141C"/>
          </a:solidFill>
          <a:ln w="15240">
            <a:solidFill>
              <a:srgbClr val="7F1D1D"/>
            </a:solidFill>
          </a:ln>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spcAft>
                <a:spcPts val="400"/>
              </a:spcAft>
              <a:defRPr sz="1100" b="1">
                <a:solidFill>
                  <a:srgbClr val="EF4444"/>
                </a:solidFill>
                <a:latin typeface="Arial"/>
              </a:defRPr>
            </a:pPr>
            <a:r>
              <a:t>4. Impersonation</a:t>
            </a:r>
          </a:p>
          <a:p>
            <a:pPr>
              <a:defRPr sz="950">
                <a:solidFill>
                  <a:srgbClr val="94A3B8"/>
                </a:solidFill>
                <a:latin typeface="Arial"/>
              </a:defRPr>
            </a:pPr>
            <a:r>
              <a:t>CEO fraud, fake emergency,</a:t>
            </a:r>
            <a:br/>
            <a:r>
              <a:t>KYC &amp; voice auth bypass</a:t>
            </a:r>
          </a:p>
        </p:txBody>
      </p:sp>
      <p:sp>
        <p:nvSpPr>
          <p:cNvPr id="14" name="TextBox 13"/>
          <p:cNvSpPr txBox="1"/>
          <p:nvPr/>
        </p:nvSpPr>
        <p:spPr>
          <a:xfrm>
            <a:off x="9281160" y="2057400"/>
            <a:ext cx="228600" cy="457200"/>
          </a:xfrm>
          <a:prstGeom prst="rect">
            <a:avLst/>
          </a:prstGeom>
          <a:noFill/>
        </p:spPr>
        <p:txBody>
          <a:bodyPr wrap="none" lIns="0" tIns="0" rIns="0" bIns="0">
            <a:spAutoFit/>
          </a:bodyPr>
          <a:lstStyle/>
          <a:p>
            <a:pPr algn="ctr">
              <a:defRPr sz="1800" b="1">
                <a:solidFill>
                  <a:srgbClr val="00D2FF"/>
                </a:solidFill>
                <a:latin typeface="Helvetica"/>
              </a:defRPr>
            </a:pPr>
            <a:r>
              <a:t>→</a:t>
            </a:r>
          </a:p>
        </p:txBody>
      </p:sp>
      <p:sp>
        <p:nvSpPr>
          <p:cNvPr id="15" name="Rounded Rectangle 14"/>
          <p:cNvSpPr/>
          <p:nvPr/>
        </p:nvSpPr>
        <p:spPr>
          <a:xfrm>
            <a:off x="9509760" y="1554480"/>
            <a:ext cx="1965960" cy="1463040"/>
          </a:xfrm>
          <a:prstGeom prst="roundRect">
            <a:avLst/>
          </a:prstGeom>
          <a:solidFill>
            <a:srgbClr val="2D141C"/>
          </a:solidFill>
          <a:ln w="15240">
            <a:solidFill>
              <a:srgbClr val="7F1D1D"/>
            </a:solidFill>
          </a:ln>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spcAft>
                <a:spcPts val="400"/>
              </a:spcAft>
              <a:defRPr sz="1100" b="1">
                <a:solidFill>
                  <a:srgbClr val="EF4444"/>
                </a:solidFill>
                <a:latin typeface="Arial"/>
              </a:defRPr>
            </a:pPr>
            <a:r>
              <a:t>5. Severe Impact</a:t>
            </a:r>
          </a:p>
          <a:p>
            <a:pPr>
              <a:defRPr sz="950">
                <a:solidFill>
                  <a:srgbClr val="94A3B8"/>
                </a:solidFill>
                <a:latin typeface="Arial"/>
              </a:defRPr>
            </a:pPr>
            <a:r>
              <a:t>Financial theft, identity</a:t>
            </a:r>
            <a:br/>
            <a:r>
              <a:t>compromise &amp; social fraud</a:t>
            </a:r>
          </a:p>
        </p:txBody>
      </p:sp>
      <p:sp>
        <p:nvSpPr>
          <p:cNvPr id="16" name="Rounded Rectangle 15"/>
          <p:cNvSpPr/>
          <p:nvPr/>
        </p:nvSpPr>
        <p:spPr>
          <a:xfrm>
            <a:off x="731520" y="3291840"/>
            <a:ext cx="3401568" cy="283464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t" wrap="square" lIns="201168" rIns="201168" tIns="182880"/>
          <a:lstStyle/>
          <a:p>
            <a:pPr algn="ctr">
              <a:spcAft>
                <a:spcPts val="800"/>
              </a:spcAft>
              <a:defRPr sz="1100" b="1">
                <a:solidFill>
                  <a:srgbClr val="00D2FF"/>
                </a:solidFill>
                <a:latin typeface="Arial"/>
              </a:defRPr>
            </a:pPr>
            <a:r>
              <a:t>ZERO-SHOT ACCESSIBILITY</a:t>
            </a:r>
          </a:p>
          <a:p>
            <a:pPr>
              <a:defRPr sz="1000">
                <a:solidFill>
                  <a:srgbClr val="94A3B8"/>
                </a:solidFill>
                <a:latin typeface="Arial"/>
              </a:defRPr>
            </a:pPr>
            <a:r>
              <a:t>Attackers no longer need hours of studio speech. Diffusion and autoregressive neural vocoders generate indistinguishable clones from as little as 3 seconds of noisy audio harvested from Instagram, WhatsApp voice notes, or recorded outbound phone inquiries.</a:t>
            </a:r>
          </a:p>
        </p:txBody>
      </p:sp>
      <p:sp>
        <p:nvSpPr>
          <p:cNvPr id="17" name="Rounded Rectangle 16"/>
          <p:cNvSpPr/>
          <p:nvPr/>
        </p:nvSpPr>
        <p:spPr>
          <a:xfrm>
            <a:off x="4389120" y="3291840"/>
            <a:ext cx="3401568" cy="283464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t" wrap="square" lIns="201168" rIns="201168" tIns="182880"/>
          <a:lstStyle/>
          <a:p>
            <a:pPr algn="ctr">
              <a:spcAft>
                <a:spcPts val="800"/>
              </a:spcAft>
              <a:defRPr sz="1100" b="1">
                <a:solidFill>
                  <a:srgbClr val="F59E0B"/>
                </a:solidFill>
                <a:latin typeface="Arial"/>
              </a:defRPr>
            </a:pPr>
            <a:r>
              <a:t>COGNITIVE &amp; AUDITORY BYPASS</a:t>
            </a:r>
          </a:p>
          <a:p>
            <a:pPr>
              <a:defRPr sz="1000">
                <a:solidFill>
                  <a:srgbClr val="94A3B8"/>
                </a:solidFill>
                <a:latin typeface="Arial"/>
              </a:defRPr>
            </a:pPr>
            <a:r>
              <a:t>Human hearing evaluates identity primarily through pitch, rhythm, and familiar vocabulary. Humans are chemically and emotionally conditioned to trust familiar voices, causing an estimated &gt;40% error rate when detecting deepfakes over telephone codecs.</a:t>
            </a:r>
          </a:p>
        </p:txBody>
      </p:sp>
      <p:sp>
        <p:nvSpPr>
          <p:cNvPr id="18" name="Rounded Rectangle 17"/>
          <p:cNvSpPr/>
          <p:nvPr/>
        </p:nvSpPr>
        <p:spPr>
          <a:xfrm>
            <a:off x="8046720" y="3291840"/>
            <a:ext cx="3401568" cy="2834640"/>
          </a:xfrm>
          <a:prstGeom prst="roundRect">
            <a:avLst/>
          </a:prstGeom>
          <a:solidFill>
            <a:srgbClr val="111C33"/>
          </a:solidFill>
          <a:ln w="15240">
            <a:solidFill>
              <a:srgbClr val="7F1D1D"/>
            </a:solidFill>
          </a:ln>
        </p:spPr>
        <p:style>
          <a:lnRef idx="1">
            <a:schemeClr val="accent1"/>
          </a:lnRef>
          <a:fillRef idx="3">
            <a:schemeClr val="accent1"/>
          </a:fillRef>
          <a:effectRef idx="2">
            <a:schemeClr val="accent1"/>
          </a:effectRef>
          <a:fontRef idx="minor">
            <a:schemeClr val="lt1"/>
          </a:fontRef>
        </p:style>
        <p:txBody>
          <a:bodyPr rtlCol="0" anchor="t" wrap="square" lIns="201168" rIns="201168" tIns="182880"/>
          <a:lstStyle/>
          <a:p>
            <a:pPr algn="ctr">
              <a:spcAft>
                <a:spcPts val="800"/>
              </a:spcAft>
              <a:defRPr sz="1100" b="1">
                <a:solidFill>
                  <a:srgbClr val="EF4444"/>
                </a:solidFill>
                <a:latin typeface="Arial"/>
              </a:defRPr>
            </a:pPr>
            <a:r>
              <a:t>CRITICAL SYSTEMIC TARGETS</a:t>
            </a:r>
          </a:p>
          <a:p>
            <a:pPr>
              <a:defRPr sz="1000">
                <a:solidFill>
                  <a:srgbClr val="94A3B8"/>
                </a:solidFill>
                <a:latin typeface="Arial"/>
              </a:defRPr>
            </a:pPr>
            <a:r>
              <a:t>The attack surface spans high-value banking authorization calls, remote video KYC onboarding, call-center verbal OTP verifications, executive wire-transfer authorizations, and emotionally coercive 'emergency bail/kidnapping' scams targeting families.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858000" cy="274320"/>
          </a:xfrm>
          <a:prstGeom prst="rect">
            <a:avLst/>
          </a:prstGeom>
          <a:noFill/>
        </p:spPr>
        <p:txBody>
          <a:bodyPr wrap="square" lIns="0" tIns="0" rIns="0" bIns="0">
            <a:spAutoFit/>
          </a:bodyPr>
          <a:lstStyle/>
          <a:p>
            <a:pPr>
              <a:defRPr sz="950" b="1">
                <a:solidFill>
                  <a:srgbClr val="00D2FF"/>
                </a:solidFill>
                <a:latin typeface="Arial"/>
              </a:defRPr>
            </a:pPr>
            <a:r>
              <a:t>SMART INDIA HACKATHON 2026  ·  PROBLEM PARADIGM</a:t>
            </a:r>
          </a:p>
        </p:txBody>
      </p:sp>
      <p:sp>
        <p:nvSpPr>
          <p:cNvPr id="5" name="TextBox 4"/>
          <p:cNvSpPr txBox="1"/>
          <p:nvPr/>
        </p:nvSpPr>
        <p:spPr>
          <a:xfrm>
            <a:off x="731520" y="713232"/>
            <a:ext cx="8961120" cy="640080"/>
          </a:xfrm>
          <a:prstGeom prst="rect">
            <a:avLst/>
          </a:prstGeom>
          <a:noFill/>
        </p:spPr>
        <p:txBody>
          <a:bodyPr wrap="square" lIns="0" tIns="0" rIns="0" bIns="0">
            <a:spAutoFit/>
          </a:bodyPr>
          <a:lstStyle/>
          <a:p>
            <a:pPr>
              <a:defRPr sz="2100" b="1">
                <a:solidFill>
                  <a:srgbClr val="F8FAFC"/>
                </a:solidFill>
                <a:latin typeface="Helvetica"/>
              </a:defRPr>
            </a:pPr>
            <a:r>
              <a:t>Can We Trust a Familiar Voice? Measuring the Authenticity Signal</a:t>
            </a:r>
          </a:p>
        </p:txBody>
      </p:sp>
      <p:sp>
        <p:nvSpPr>
          <p:cNvPr id="6" name="Rounded Rectangle 5"/>
          <p:cNvSpPr/>
          <p:nvPr/>
        </p:nvSpPr>
        <p:spPr>
          <a:xfrm>
            <a:off x="9722815" y="438912"/>
            <a:ext cx="1737360" cy="475488"/>
          </a:xfrm>
          <a:prstGeom prst="roundRect">
            <a:avLst/>
          </a:prstGeom>
          <a:solidFill>
            <a:srgbClr val="111C33"/>
          </a:solidFill>
          <a:ln w="1270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94A3B8"/>
                </a:solidFill>
                <a:latin typeface="Arial"/>
              </a:defRPr>
            </a:pPr>
            <a:r>
              <a:t>SIH-Aegis  |  3/10</a:t>
            </a:r>
          </a:p>
        </p:txBody>
      </p:sp>
      <p:sp>
        <p:nvSpPr>
          <p:cNvPr id="7" name="Rounded Rectangle 6"/>
          <p:cNvSpPr/>
          <p:nvPr/>
        </p:nvSpPr>
        <p:spPr>
          <a:xfrm>
            <a:off x="731520" y="1508760"/>
            <a:ext cx="5212080" cy="2651760"/>
          </a:xfrm>
          <a:prstGeom prst="roundRect">
            <a:avLst/>
          </a:prstGeom>
          <a:solidFill>
            <a:srgbClr val="2D141C"/>
          </a:solidFill>
          <a:ln w="15240">
            <a:solidFill>
              <a:srgbClr val="7F1D1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200" b="1">
                <a:solidFill>
                  <a:srgbClr val="EF4444"/>
                </a:solidFill>
                <a:latin typeface="Arial"/>
              </a:defRPr>
            </a:pPr>
            <a:r>
              <a:t>TRADITIONAL TRUST MODEL  (UNSUSTAINABLE)</a:t>
            </a:r>
          </a:p>
          <a:p>
            <a:pPr>
              <a:spcAft>
                <a:spcPts val="400"/>
              </a:spcAft>
            </a:pPr>
            <a:r>
              <a:rPr sz="950" b="1">
                <a:solidFill>
                  <a:srgbClr val="F8FAFC"/>
                </a:solidFill>
                <a:latin typeface="Arial"/>
              </a:rPr>
              <a:t>• Core Assumption: </a:t>
            </a:r>
            <a:r>
              <a:rPr sz="950">
                <a:solidFill>
                  <a:srgbClr val="94A3B8"/>
                </a:solidFill>
                <a:latin typeface="Arial"/>
              </a:rPr>
              <a:t>If a voice sounds like someone, it can be trusted as that person.</a:t>
            </a:r>
          </a:p>
          <a:p>
            <a:pPr>
              <a:spcAft>
                <a:spcPts val="400"/>
              </a:spcAft>
            </a:pPr>
            <a:r>
              <a:rPr sz="950" b="1">
                <a:solidFill>
                  <a:srgbClr val="F8FAFC"/>
                </a:solidFill>
                <a:latin typeface="Arial"/>
              </a:rPr>
              <a:t>• Verification Method: </a:t>
            </a:r>
            <a:r>
              <a:rPr sz="950">
                <a:solidFill>
                  <a:srgbClr val="94A3B8"/>
                </a:solidFill>
                <a:latin typeface="Arial"/>
              </a:rPr>
              <a:t>Subjective human auditory perception &amp; cognitive familiarity.</a:t>
            </a:r>
          </a:p>
          <a:p>
            <a:pPr>
              <a:spcAft>
                <a:spcPts val="400"/>
              </a:spcAft>
            </a:pPr>
            <a:r>
              <a:rPr sz="950" b="1">
                <a:solidFill>
                  <a:srgbClr val="F8FAFC"/>
                </a:solidFill>
                <a:latin typeface="Arial"/>
              </a:rPr>
              <a:t>• Vulnerabilities: </a:t>
            </a:r>
            <a:r>
              <a:rPr sz="950">
                <a:solidFill>
                  <a:srgbClr val="94A3B8"/>
                </a:solidFill>
                <a:latin typeface="Arial"/>
              </a:rPr>
              <a:t>Easily tricked by pitch-matching vocoders, emotional manipulation, and noisy lines.</a:t>
            </a:r>
          </a:p>
          <a:p>
            <a:pPr>
              <a:spcAft>
                <a:spcPts val="400"/>
              </a:spcAft>
            </a:pPr>
            <a:r>
              <a:rPr sz="950" b="1">
                <a:solidFill>
                  <a:srgbClr val="F8FAFC"/>
                </a:solidFill>
                <a:latin typeface="Arial"/>
              </a:rPr>
              <a:t>• Security Outcome: </a:t>
            </a:r>
            <a:r>
              <a:rPr sz="950">
                <a:solidFill>
                  <a:srgbClr val="94A3B8"/>
                </a:solidFill>
                <a:latin typeface="Arial"/>
              </a:rPr>
              <a:t>Blind spot for social engineering, unauthorized wire transfers, and identity spoofing.</a:t>
            </a:r>
          </a:p>
        </p:txBody>
      </p:sp>
      <p:sp>
        <p:nvSpPr>
          <p:cNvPr id="8" name="Rounded Rectangle 7"/>
          <p:cNvSpPr/>
          <p:nvPr/>
        </p:nvSpPr>
        <p:spPr>
          <a:xfrm>
            <a:off x="6217920" y="1508760"/>
            <a:ext cx="5212080" cy="2651760"/>
          </a:xfrm>
          <a:prstGeom prst="roundRect">
            <a:avLst/>
          </a:prstGeom>
          <a:solidFill>
            <a:srgbClr val="10261E"/>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200" b="1">
                <a:solidFill>
                  <a:srgbClr val="10B981"/>
                </a:solidFill>
                <a:latin typeface="Arial"/>
              </a:defRPr>
            </a:pPr>
            <a:r>
              <a:t>SIH-AEGIS ACTIVE DEFENSE  (OBJECTIVE SECURITY)</a:t>
            </a:r>
          </a:p>
          <a:p>
            <a:pPr>
              <a:spcAft>
                <a:spcPts val="400"/>
              </a:spcAft>
            </a:pPr>
            <a:r>
              <a:rPr sz="950" b="1">
                <a:solidFill>
                  <a:srgbClr val="F8FAFC"/>
                </a:solidFill>
                <a:latin typeface="Arial"/>
              </a:rPr>
              <a:t>• Core Principle: </a:t>
            </a:r>
            <a:r>
              <a:rPr sz="950">
                <a:solidFill>
                  <a:srgbClr val="94A3B8"/>
                </a:solidFill>
                <a:latin typeface="Arial"/>
              </a:rPr>
              <a:t>Treat voice as an untrusted biometric payload until mathematically verified.</a:t>
            </a:r>
          </a:p>
          <a:p>
            <a:pPr>
              <a:spcAft>
                <a:spcPts val="400"/>
              </a:spcAft>
            </a:pPr>
            <a:r>
              <a:rPr sz="950" b="1">
                <a:solidFill>
                  <a:srgbClr val="F8FAFC"/>
                </a:solidFill>
                <a:latin typeface="Arial"/>
              </a:rPr>
              <a:t>• Verification Method: </a:t>
            </a:r>
            <a:r>
              <a:rPr sz="950">
                <a:solidFill>
                  <a:srgbClr val="94A3B8"/>
                </a:solidFill>
                <a:latin typeface="Arial"/>
              </a:rPr>
              <a:t>Extract sub-perceptual acoustic artifacts, phase continuity, &amp; spectral traces.</a:t>
            </a:r>
          </a:p>
          <a:p>
            <a:pPr>
              <a:spcAft>
                <a:spcPts val="400"/>
              </a:spcAft>
            </a:pPr>
            <a:r>
              <a:rPr sz="950" b="1">
                <a:solidFill>
                  <a:srgbClr val="F8FAFC"/>
                </a:solidFill>
                <a:latin typeface="Arial"/>
              </a:rPr>
              <a:t>• Capabilities: </a:t>
            </a:r>
            <a:r>
              <a:rPr sz="950">
                <a:solidFill>
                  <a:srgbClr val="94A3B8"/>
                </a:solidFill>
                <a:latin typeface="Arial"/>
              </a:rPr>
              <a:t>Detects synthetic vocoder artifacts even when pitch and cadence perfectly match human speech.</a:t>
            </a:r>
          </a:p>
          <a:p>
            <a:pPr>
              <a:spcAft>
                <a:spcPts val="400"/>
              </a:spcAft>
            </a:pPr>
            <a:r>
              <a:rPr sz="950" b="1">
                <a:solidFill>
                  <a:srgbClr val="F8FAFC"/>
                </a:solidFill>
                <a:latin typeface="Arial"/>
              </a:rPr>
              <a:t>• Security Outcome: </a:t>
            </a:r>
            <a:r>
              <a:rPr sz="950">
                <a:solidFill>
                  <a:srgbClr val="94A3B8"/>
                </a:solidFill>
                <a:latin typeface="Arial"/>
              </a:rPr>
              <a:t>Deterministic, measurable authenticity score (BONAFIDE vs SPOOF) with confidence.</a:t>
            </a:r>
          </a:p>
        </p:txBody>
      </p:sp>
      <p:sp>
        <p:nvSpPr>
          <p:cNvPr id="9" name="TextBox 8"/>
          <p:cNvSpPr txBox="1"/>
          <p:nvPr/>
        </p:nvSpPr>
        <p:spPr>
          <a:xfrm>
            <a:off x="731520" y="4343400"/>
            <a:ext cx="10698480" cy="320040"/>
          </a:xfrm>
          <a:prstGeom prst="rect">
            <a:avLst/>
          </a:prstGeom>
          <a:noFill/>
        </p:spPr>
        <p:txBody>
          <a:bodyPr wrap="square" lIns="0" tIns="0" rIns="0" bIns="0">
            <a:spAutoFit/>
          </a:bodyPr>
          <a:lstStyle/>
          <a:p>
            <a:pPr>
              <a:defRPr sz="1050" b="1">
                <a:solidFill>
                  <a:srgbClr val="00D2FF"/>
                </a:solidFill>
                <a:latin typeface="Arial"/>
              </a:defRPr>
            </a:pPr>
            <a:r>
              <a:t>CRITICAL TARGET DOMAINS REQUIRING OBJECTIVE AUTHENTICITY</a:t>
            </a:r>
          </a:p>
        </p:txBody>
      </p:sp>
      <p:sp>
        <p:nvSpPr>
          <p:cNvPr id="10" name="Rounded Rectangle 9"/>
          <p:cNvSpPr/>
          <p:nvPr/>
        </p:nvSpPr>
        <p:spPr>
          <a:xfrm>
            <a:off x="731520" y="4709160"/>
            <a:ext cx="2039112"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spcAft>
                <a:spcPts val="400"/>
              </a:spcAft>
              <a:defRPr sz="1050" b="1">
                <a:solidFill>
                  <a:srgbClr val="F8FAFC"/>
                </a:solidFill>
                <a:latin typeface="Arial"/>
              </a:defRPr>
            </a:pPr>
            <a:r>
              <a:t>Banking &amp; Wire Transfers</a:t>
            </a:r>
          </a:p>
          <a:p>
            <a:pPr>
              <a:defRPr sz="900">
                <a:solidFill>
                  <a:srgbClr val="94A3B8"/>
                </a:solidFill>
                <a:latin typeface="Arial"/>
              </a:defRPr>
            </a:pPr>
            <a:r>
              <a:t>Verbal authorization for high-value transactions</a:t>
            </a:r>
          </a:p>
        </p:txBody>
      </p:sp>
      <p:sp>
        <p:nvSpPr>
          <p:cNvPr id="11" name="Rounded Rectangle 10"/>
          <p:cNvSpPr/>
          <p:nvPr/>
        </p:nvSpPr>
        <p:spPr>
          <a:xfrm>
            <a:off x="2898648" y="4709160"/>
            <a:ext cx="2039112"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spcAft>
                <a:spcPts val="400"/>
              </a:spcAft>
              <a:defRPr sz="1050" b="1">
                <a:solidFill>
                  <a:srgbClr val="F8FAFC"/>
                </a:solidFill>
                <a:latin typeface="Arial"/>
              </a:defRPr>
            </a:pPr>
            <a:r>
              <a:t>Remote KYC &amp; Onboarding</a:t>
            </a:r>
          </a:p>
          <a:p>
            <a:pPr>
              <a:defRPr sz="900">
                <a:solidFill>
                  <a:srgbClr val="94A3B8"/>
                </a:solidFill>
                <a:latin typeface="Arial"/>
              </a:defRPr>
            </a:pPr>
            <a:r>
              <a:t>Preventing synthetic injection into digital identity queues</a:t>
            </a:r>
          </a:p>
        </p:txBody>
      </p:sp>
      <p:sp>
        <p:nvSpPr>
          <p:cNvPr id="12" name="Rounded Rectangle 11"/>
          <p:cNvSpPr/>
          <p:nvPr/>
        </p:nvSpPr>
        <p:spPr>
          <a:xfrm>
            <a:off x="5065776" y="4709160"/>
            <a:ext cx="2039112"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spcAft>
                <a:spcPts val="400"/>
              </a:spcAft>
              <a:defRPr sz="1050" b="1">
                <a:solidFill>
                  <a:srgbClr val="F8FAFC"/>
                </a:solidFill>
                <a:latin typeface="Arial"/>
              </a:defRPr>
            </a:pPr>
            <a:r>
              <a:t>Enterprise Call Centers</a:t>
            </a:r>
          </a:p>
          <a:p>
            <a:pPr>
              <a:defRPr sz="900">
                <a:solidFill>
                  <a:srgbClr val="94A3B8"/>
                </a:solidFill>
                <a:latin typeface="Arial"/>
              </a:defRPr>
            </a:pPr>
            <a:r>
              <a:t>Inbound verification protecting customer service agents</a:t>
            </a:r>
          </a:p>
        </p:txBody>
      </p:sp>
      <p:sp>
        <p:nvSpPr>
          <p:cNvPr id="13" name="Rounded Rectangle 12"/>
          <p:cNvSpPr/>
          <p:nvPr/>
        </p:nvSpPr>
        <p:spPr>
          <a:xfrm>
            <a:off x="7232904" y="4709160"/>
            <a:ext cx="2039112"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spcAft>
                <a:spcPts val="400"/>
              </a:spcAft>
              <a:defRPr sz="1050" b="1">
                <a:solidFill>
                  <a:srgbClr val="F8FAFC"/>
                </a:solidFill>
                <a:latin typeface="Arial"/>
              </a:defRPr>
            </a:pPr>
            <a:r>
              <a:t>Emergency &amp; Family Defense</a:t>
            </a:r>
          </a:p>
          <a:p>
            <a:pPr>
              <a:defRPr sz="900">
                <a:solidFill>
                  <a:srgbClr val="94A3B8"/>
                </a:solidFill>
                <a:latin typeface="Arial"/>
              </a:defRPr>
            </a:pPr>
            <a:r>
              <a:t>Real-time threat alerts on coercive extortion calls</a:t>
            </a:r>
          </a:p>
        </p:txBody>
      </p:sp>
      <p:sp>
        <p:nvSpPr>
          <p:cNvPr id="14" name="Rounded Rectangle 13"/>
          <p:cNvSpPr/>
          <p:nvPr/>
        </p:nvSpPr>
        <p:spPr>
          <a:xfrm>
            <a:off x="9400032" y="4709160"/>
            <a:ext cx="2039112"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pPr algn="ctr">
              <a:spcAft>
                <a:spcPts val="400"/>
              </a:spcAft>
              <a:defRPr sz="1050" b="1">
                <a:solidFill>
                  <a:srgbClr val="F8FAFC"/>
                </a:solidFill>
                <a:latin typeface="Arial"/>
              </a:defRPr>
            </a:pPr>
            <a:r>
              <a:t>Voice Biometric MFA</a:t>
            </a:r>
          </a:p>
          <a:p>
            <a:pPr>
              <a:defRPr sz="900">
                <a:solidFill>
                  <a:srgbClr val="94A3B8"/>
                </a:solidFill>
                <a:latin typeface="Arial"/>
              </a:defRPr>
            </a:pPr>
            <a:r>
              <a:t>Anti-spoofing gateway shielding speaker recognition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858000" cy="274320"/>
          </a:xfrm>
          <a:prstGeom prst="rect">
            <a:avLst/>
          </a:prstGeom>
          <a:noFill/>
        </p:spPr>
        <p:txBody>
          <a:bodyPr wrap="square" lIns="0" tIns="0" rIns="0" bIns="0">
            <a:spAutoFit/>
          </a:bodyPr>
          <a:lstStyle/>
          <a:p>
            <a:pPr>
              <a:defRPr sz="950" b="1">
                <a:solidFill>
                  <a:srgbClr val="00D2FF"/>
                </a:solidFill>
                <a:latin typeface="Arial"/>
              </a:defRPr>
            </a:pPr>
            <a:r>
              <a:t>SMART INDIA HACKATHON 2026  ·  TECHNICAL EXECUTION</a:t>
            </a:r>
          </a:p>
        </p:txBody>
      </p:sp>
      <p:sp>
        <p:nvSpPr>
          <p:cNvPr id="5" name="TextBox 4"/>
          <p:cNvSpPr txBox="1"/>
          <p:nvPr/>
        </p:nvSpPr>
        <p:spPr>
          <a:xfrm>
            <a:off x="731520" y="713232"/>
            <a:ext cx="8961120" cy="640080"/>
          </a:xfrm>
          <a:prstGeom prst="rect">
            <a:avLst/>
          </a:prstGeom>
          <a:noFill/>
        </p:spPr>
        <p:txBody>
          <a:bodyPr wrap="square" lIns="0" tIns="0" rIns="0" bIns="0">
            <a:spAutoFit/>
          </a:bodyPr>
          <a:lstStyle/>
          <a:p>
            <a:pPr>
              <a:defRPr sz="2100" b="1">
                <a:solidFill>
                  <a:srgbClr val="F8FAFC"/>
                </a:solidFill>
                <a:latin typeface="Helvetica"/>
              </a:defRPr>
            </a:pPr>
            <a:r>
              <a:t>Current Working Pipeline: Verified Baseline &amp; ONNX Parity</a:t>
            </a:r>
          </a:p>
        </p:txBody>
      </p:sp>
      <p:sp>
        <p:nvSpPr>
          <p:cNvPr id="6" name="Rounded Rectangle 5"/>
          <p:cNvSpPr/>
          <p:nvPr/>
        </p:nvSpPr>
        <p:spPr>
          <a:xfrm>
            <a:off x="9722815" y="438912"/>
            <a:ext cx="1737360" cy="475488"/>
          </a:xfrm>
          <a:prstGeom prst="roundRect">
            <a:avLst/>
          </a:prstGeom>
          <a:solidFill>
            <a:srgbClr val="111C33"/>
          </a:solidFill>
          <a:ln w="1270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94A3B8"/>
                </a:solidFill>
                <a:latin typeface="Arial"/>
              </a:defRPr>
            </a:pPr>
            <a:r>
              <a:t>SIH-Aegis  |  4/10</a:t>
            </a:r>
          </a:p>
        </p:txBody>
      </p:sp>
      <p:sp>
        <p:nvSpPr>
          <p:cNvPr id="7" name="Rounded Rectangle 6"/>
          <p:cNvSpPr/>
          <p:nvPr/>
        </p:nvSpPr>
        <p:spPr>
          <a:xfrm>
            <a:off x="731520" y="1463040"/>
            <a:ext cx="10728655" cy="384048"/>
          </a:xfrm>
          <a:prstGeom prst="roundRect">
            <a:avLst/>
          </a:prstGeom>
          <a:solidFill>
            <a:srgbClr val="10261E"/>
          </a:solidFill>
          <a:ln>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latin typeface="Arial"/>
              </a:defRPr>
            </a:pPr>
            <a:r>
              <a:t>✓ CURRENT VERIFIED PROTOTYPE: END-TO-END DETECTION OPERATIONAL ON PYTORCH &amp; ONNX RUNTIME</a:t>
            </a:r>
          </a:p>
        </p:txBody>
      </p:sp>
      <p:sp>
        <p:nvSpPr>
          <p:cNvPr id="8" name="Rounded Rectangle 7"/>
          <p:cNvSpPr/>
          <p:nvPr/>
        </p:nvSpPr>
        <p:spPr>
          <a:xfrm>
            <a:off x="731520" y="2011680"/>
            <a:ext cx="1627632"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400"/>
              </a:spcAft>
              <a:defRPr sz="1050" b="1">
                <a:solidFill>
                  <a:srgbClr val="00D2FF"/>
                </a:solidFill>
                <a:latin typeface="Arial"/>
              </a:defRPr>
            </a:pPr>
            <a:r>
              <a:t>1. Audio Input</a:t>
            </a:r>
          </a:p>
          <a:p>
            <a:pPr>
              <a:defRPr sz="900">
                <a:solidFill>
                  <a:srgbClr val="94A3B8"/>
                </a:solidFill>
                <a:latin typeface="Arial"/>
              </a:defRPr>
            </a:pPr>
            <a:r>
              <a:t>.wav / .mp3 / .flac</a:t>
            </a:r>
            <a:br/>
            <a:r>
              <a:t>Single / streaming source</a:t>
            </a:r>
          </a:p>
        </p:txBody>
      </p:sp>
      <p:sp>
        <p:nvSpPr>
          <p:cNvPr id="9" name="TextBox 8"/>
          <p:cNvSpPr txBox="1"/>
          <p:nvPr/>
        </p:nvSpPr>
        <p:spPr>
          <a:xfrm>
            <a:off x="2359152" y="2468880"/>
            <a:ext cx="201168" cy="365760"/>
          </a:xfrm>
          <a:prstGeom prst="rect">
            <a:avLst/>
          </a:prstGeom>
          <a:noFill/>
        </p:spPr>
        <p:txBody>
          <a:bodyPr wrap="none" lIns="0" tIns="0" rIns="0" bIns="0">
            <a:spAutoFit/>
          </a:bodyPr>
          <a:lstStyle/>
          <a:p>
            <a:pPr algn="ctr">
              <a:defRPr sz="1600" b="1">
                <a:solidFill>
                  <a:srgbClr val="00D2FF"/>
                </a:solidFill>
                <a:latin typeface="Helvetica"/>
              </a:defRPr>
            </a:pPr>
            <a:r>
              <a:t>→</a:t>
            </a:r>
          </a:p>
        </p:txBody>
      </p:sp>
      <p:sp>
        <p:nvSpPr>
          <p:cNvPr id="10" name="Rounded Rectangle 9"/>
          <p:cNvSpPr/>
          <p:nvPr/>
        </p:nvSpPr>
        <p:spPr>
          <a:xfrm>
            <a:off x="2560320" y="2011680"/>
            <a:ext cx="1627632"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400"/>
              </a:spcAft>
              <a:defRPr sz="1050" b="1">
                <a:solidFill>
                  <a:srgbClr val="00D2FF"/>
                </a:solidFill>
                <a:latin typeface="Arial"/>
              </a:defRPr>
            </a:pPr>
            <a:r>
              <a:t>2. Preprocessing</a:t>
            </a:r>
          </a:p>
          <a:p>
            <a:pPr>
              <a:defRPr sz="900">
                <a:solidFill>
                  <a:srgbClr val="94A3B8"/>
                </a:solidFill>
                <a:latin typeface="Arial"/>
              </a:defRPr>
            </a:pPr>
            <a:r>
              <a:t>16 kHz resampling, mono,</a:t>
            </a:r>
            <a:br/>
            <a:r>
              <a:t>length normalization</a:t>
            </a:r>
          </a:p>
        </p:txBody>
      </p:sp>
      <p:sp>
        <p:nvSpPr>
          <p:cNvPr id="11" name="TextBox 10"/>
          <p:cNvSpPr txBox="1"/>
          <p:nvPr/>
        </p:nvSpPr>
        <p:spPr>
          <a:xfrm>
            <a:off x="4187952" y="2468880"/>
            <a:ext cx="201168" cy="365760"/>
          </a:xfrm>
          <a:prstGeom prst="rect">
            <a:avLst/>
          </a:prstGeom>
          <a:noFill/>
        </p:spPr>
        <p:txBody>
          <a:bodyPr wrap="none" lIns="0" tIns="0" rIns="0" bIns="0">
            <a:spAutoFit/>
          </a:bodyPr>
          <a:lstStyle/>
          <a:p>
            <a:pPr algn="ctr">
              <a:defRPr sz="1600" b="1">
                <a:solidFill>
                  <a:srgbClr val="00D2FF"/>
                </a:solidFill>
                <a:latin typeface="Helvetica"/>
              </a:defRPr>
            </a:pPr>
            <a:r>
              <a:t>→</a:t>
            </a:r>
          </a:p>
        </p:txBody>
      </p:sp>
      <p:sp>
        <p:nvSpPr>
          <p:cNvPr id="12" name="Rounded Rectangle 11"/>
          <p:cNvSpPr/>
          <p:nvPr/>
        </p:nvSpPr>
        <p:spPr>
          <a:xfrm>
            <a:off x="4389120" y="2011680"/>
            <a:ext cx="1627632"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400"/>
              </a:spcAft>
              <a:defRPr sz="1050" b="1">
                <a:solidFill>
                  <a:srgbClr val="00D2FF"/>
                </a:solidFill>
                <a:latin typeface="Arial"/>
              </a:defRPr>
            </a:pPr>
            <a:r>
              <a:t>3. AASIST Baseline</a:t>
            </a:r>
          </a:p>
          <a:p>
            <a:pPr>
              <a:defRPr sz="900">
                <a:solidFill>
                  <a:srgbClr val="94A3B8"/>
                </a:solidFill>
                <a:latin typeface="Arial"/>
              </a:defRPr>
            </a:pPr>
            <a:r>
              <a:t>Pretrained anti-spoofing</a:t>
            </a:r>
            <a:br/>
            <a:r>
              <a:t>sinc-convolution backbone</a:t>
            </a:r>
          </a:p>
        </p:txBody>
      </p:sp>
      <p:sp>
        <p:nvSpPr>
          <p:cNvPr id="13" name="TextBox 12"/>
          <p:cNvSpPr txBox="1"/>
          <p:nvPr/>
        </p:nvSpPr>
        <p:spPr>
          <a:xfrm>
            <a:off x="6016752" y="2468880"/>
            <a:ext cx="201168" cy="365760"/>
          </a:xfrm>
          <a:prstGeom prst="rect">
            <a:avLst/>
          </a:prstGeom>
          <a:noFill/>
        </p:spPr>
        <p:txBody>
          <a:bodyPr wrap="none" lIns="0" tIns="0" rIns="0" bIns="0">
            <a:spAutoFit/>
          </a:bodyPr>
          <a:lstStyle/>
          <a:p>
            <a:pPr algn="ctr">
              <a:defRPr sz="1600" b="1">
                <a:solidFill>
                  <a:srgbClr val="00D2FF"/>
                </a:solidFill>
                <a:latin typeface="Helvetica"/>
              </a:defRPr>
            </a:pPr>
            <a:r>
              <a:t>→</a:t>
            </a:r>
          </a:p>
        </p:txBody>
      </p:sp>
      <p:sp>
        <p:nvSpPr>
          <p:cNvPr id="14" name="Rounded Rectangle 13"/>
          <p:cNvSpPr/>
          <p:nvPr/>
        </p:nvSpPr>
        <p:spPr>
          <a:xfrm>
            <a:off x="6217920" y="2011680"/>
            <a:ext cx="1627632"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400"/>
              </a:spcAft>
              <a:defRPr sz="1050" b="1">
                <a:solidFill>
                  <a:srgbClr val="00D2FF"/>
                </a:solidFill>
                <a:latin typeface="Arial"/>
              </a:defRPr>
            </a:pPr>
            <a:r>
              <a:t>4. Logit Extraction</a:t>
            </a:r>
          </a:p>
          <a:p>
            <a:pPr>
              <a:defRPr sz="900">
                <a:solidFill>
                  <a:srgbClr val="94A3B8"/>
                </a:solidFill>
                <a:latin typeface="Arial"/>
              </a:defRPr>
            </a:pPr>
            <a:r>
              <a:t>Deterministic forward pass</a:t>
            </a:r>
            <a:br/>
            <a:r>
              <a:t>Softmax probability</a:t>
            </a:r>
          </a:p>
        </p:txBody>
      </p:sp>
      <p:sp>
        <p:nvSpPr>
          <p:cNvPr id="15" name="TextBox 14"/>
          <p:cNvSpPr txBox="1"/>
          <p:nvPr/>
        </p:nvSpPr>
        <p:spPr>
          <a:xfrm>
            <a:off x="7845552" y="2468880"/>
            <a:ext cx="201168" cy="365760"/>
          </a:xfrm>
          <a:prstGeom prst="rect">
            <a:avLst/>
          </a:prstGeom>
          <a:noFill/>
        </p:spPr>
        <p:txBody>
          <a:bodyPr wrap="none" lIns="0" tIns="0" rIns="0" bIns="0">
            <a:spAutoFit/>
          </a:bodyPr>
          <a:lstStyle/>
          <a:p>
            <a:pPr algn="ctr">
              <a:defRPr sz="1600" b="1">
                <a:solidFill>
                  <a:srgbClr val="00D2FF"/>
                </a:solidFill>
                <a:latin typeface="Helvetica"/>
              </a:defRPr>
            </a:pPr>
            <a:r>
              <a:t>→</a:t>
            </a:r>
          </a:p>
        </p:txBody>
      </p:sp>
      <p:sp>
        <p:nvSpPr>
          <p:cNvPr id="16" name="Rounded Rectangle 15"/>
          <p:cNvSpPr/>
          <p:nvPr/>
        </p:nvSpPr>
        <p:spPr>
          <a:xfrm>
            <a:off x="8046720" y="2011680"/>
            <a:ext cx="1627632"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400"/>
              </a:spcAft>
              <a:defRPr sz="1050" b="1">
                <a:solidFill>
                  <a:srgbClr val="00D2FF"/>
                </a:solidFill>
                <a:latin typeface="Arial"/>
              </a:defRPr>
            </a:pPr>
            <a:r>
              <a:t>5. Security Verdict</a:t>
            </a:r>
          </a:p>
          <a:p>
            <a:pPr>
              <a:defRPr sz="900">
                <a:solidFill>
                  <a:srgbClr val="94A3B8"/>
                </a:solidFill>
                <a:latin typeface="Arial"/>
              </a:defRPr>
            </a:pPr>
            <a:r>
              <a:t>SPOOF / BONAFIDE</a:t>
            </a:r>
            <a:br/>
            <a:r>
              <a:t>Confidence percentage</a:t>
            </a:r>
          </a:p>
        </p:txBody>
      </p:sp>
      <p:sp>
        <p:nvSpPr>
          <p:cNvPr id="17" name="TextBox 16"/>
          <p:cNvSpPr txBox="1"/>
          <p:nvPr/>
        </p:nvSpPr>
        <p:spPr>
          <a:xfrm>
            <a:off x="9674352" y="2468880"/>
            <a:ext cx="201168" cy="365760"/>
          </a:xfrm>
          <a:prstGeom prst="rect">
            <a:avLst/>
          </a:prstGeom>
          <a:noFill/>
        </p:spPr>
        <p:txBody>
          <a:bodyPr wrap="none" lIns="0" tIns="0" rIns="0" bIns="0">
            <a:spAutoFit/>
          </a:bodyPr>
          <a:lstStyle/>
          <a:p>
            <a:pPr algn="ctr">
              <a:defRPr sz="1600" b="1">
                <a:solidFill>
                  <a:srgbClr val="00D2FF"/>
                </a:solidFill>
                <a:latin typeface="Helvetica"/>
              </a:defRPr>
            </a:pPr>
            <a:r>
              <a:t>→</a:t>
            </a:r>
          </a:p>
        </p:txBody>
      </p:sp>
      <p:sp>
        <p:nvSpPr>
          <p:cNvPr id="18" name="Rounded Rectangle 17"/>
          <p:cNvSpPr/>
          <p:nvPr/>
        </p:nvSpPr>
        <p:spPr>
          <a:xfrm>
            <a:off x="9875520" y="2011680"/>
            <a:ext cx="1627632"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400"/>
              </a:spcAft>
              <a:defRPr sz="1050" b="1">
                <a:solidFill>
                  <a:srgbClr val="00D2FF"/>
                </a:solidFill>
                <a:latin typeface="Arial"/>
              </a:defRPr>
            </a:pPr>
            <a:r>
              <a:t>6. Streamlit UI</a:t>
            </a:r>
          </a:p>
          <a:p>
            <a:pPr>
              <a:defRPr sz="900">
                <a:solidFill>
                  <a:srgbClr val="94A3B8"/>
                </a:solidFill>
                <a:latin typeface="Arial"/>
              </a:defRPr>
            </a:pPr>
            <a:r>
              <a:t>Real-time diagnostic</a:t>
            </a:r>
            <a:br/>
            <a:r>
              <a:t>operator dashboard</a:t>
            </a:r>
          </a:p>
        </p:txBody>
      </p:sp>
      <p:sp>
        <p:nvSpPr>
          <p:cNvPr id="19" name="Rounded Rectangle 18"/>
          <p:cNvSpPr/>
          <p:nvPr/>
        </p:nvSpPr>
        <p:spPr>
          <a:xfrm>
            <a:off x="731520" y="3611880"/>
            <a:ext cx="5230368" cy="27432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50" b="1">
                <a:solidFill>
                  <a:srgbClr val="00D2FF"/>
                </a:solidFill>
                <a:latin typeface="Arial"/>
              </a:defRPr>
            </a:pPr>
            <a:r>
              <a:t>PROTOTYPE ENVIRONMENT &amp; GPU ACCELERATION</a:t>
            </a:r>
          </a:p>
          <a:p>
            <a:pPr>
              <a:spcAft>
                <a:spcPts val="400"/>
              </a:spcAft>
            </a:pPr>
            <a:r>
              <a:rPr sz="950" b="1">
                <a:solidFill>
                  <a:srgbClr val="F8FAFC"/>
                </a:solidFill>
                <a:latin typeface="Arial"/>
              </a:rPr>
              <a:t>• Framework: </a:t>
            </a:r>
            <a:r>
              <a:rPr sz="950">
                <a:solidFill>
                  <a:srgbClr val="94A3B8"/>
                </a:solidFill>
                <a:latin typeface="Arial"/>
              </a:rPr>
              <a:t>PyTorch 2.x with native CUDA 12 support.</a:t>
            </a:r>
          </a:p>
          <a:p>
            <a:pPr>
              <a:spcAft>
                <a:spcPts val="400"/>
              </a:spcAft>
            </a:pPr>
            <a:r>
              <a:rPr sz="950" b="1">
                <a:solidFill>
                  <a:srgbClr val="F8FAFC"/>
                </a:solidFill>
                <a:latin typeface="Arial"/>
              </a:rPr>
              <a:t>• Host Hardware: </a:t>
            </a:r>
            <a:r>
              <a:rPr sz="950">
                <a:solidFill>
                  <a:srgbClr val="94A3B8"/>
                </a:solidFill>
                <a:latin typeface="Arial"/>
              </a:rPr>
              <a:t>NVIDIA GeForce RTX 4050 Laptop GPU (6 GB VRAM).</a:t>
            </a:r>
          </a:p>
          <a:p>
            <a:pPr>
              <a:spcAft>
                <a:spcPts val="400"/>
              </a:spcAft>
            </a:pPr>
            <a:r>
              <a:rPr sz="950" b="1">
                <a:solidFill>
                  <a:srgbClr val="F8FAFC"/>
                </a:solidFill>
                <a:latin typeface="Arial"/>
              </a:rPr>
              <a:t>• Model Checkpoint: </a:t>
            </a:r>
            <a:r>
              <a:rPr sz="950">
                <a:solidFill>
                  <a:srgbClr val="94A3B8"/>
                </a:solidFill>
                <a:latin typeface="Arial"/>
              </a:rPr>
              <a:t>Pretrained AASIST (Audio Anti-Spoofing using Integrated Spectro-Temporal Graph Attention).</a:t>
            </a:r>
          </a:p>
          <a:p>
            <a:pPr>
              <a:spcAft>
                <a:spcPts val="400"/>
              </a:spcAft>
            </a:pPr>
            <a:r>
              <a:rPr sz="950" b="1">
                <a:solidFill>
                  <a:srgbClr val="F8FAFC"/>
                </a:solidFill>
                <a:latin typeface="Arial"/>
              </a:rPr>
              <a:t>• Inference Mode: </a:t>
            </a:r>
            <a:r>
              <a:rPr sz="950">
                <a:solidFill>
                  <a:srgbClr val="94A3B8"/>
                </a:solidFill>
                <a:latin typeface="Arial"/>
              </a:rPr>
              <a:t>Model.eval() deterministic evaluation mode verified.</a:t>
            </a:r>
          </a:p>
          <a:p>
            <a:pPr>
              <a:spcAft>
                <a:spcPts val="400"/>
              </a:spcAft>
            </a:pPr>
            <a:r>
              <a:rPr sz="950" b="1">
                <a:solidFill>
                  <a:srgbClr val="F8FAFC"/>
                </a:solidFill>
                <a:latin typeface="Arial"/>
              </a:rPr>
              <a:t>• Analyst Interface: </a:t>
            </a:r>
            <a:r>
              <a:rPr sz="950">
                <a:solidFill>
                  <a:srgbClr val="94A3B8"/>
                </a:solidFill>
                <a:latin typeface="Arial"/>
              </a:rPr>
              <a:t>Interactive Streamlit web app supporting direct file upload, waveform display, and confidence readouts.</a:t>
            </a:r>
          </a:p>
        </p:txBody>
      </p:sp>
      <p:sp>
        <p:nvSpPr>
          <p:cNvPr id="20" name="Rounded Rectangle 19"/>
          <p:cNvSpPr/>
          <p:nvPr/>
        </p:nvSpPr>
        <p:spPr>
          <a:xfrm>
            <a:off x="6217920" y="3611880"/>
            <a:ext cx="5230368" cy="27432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50" b="1">
                <a:solidFill>
                  <a:srgbClr val="10B981"/>
                </a:solidFill>
                <a:latin typeface="Arial"/>
              </a:defRPr>
            </a:pPr>
            <a:r>
              <a:t>ONNX EXPORT &amp; MATHEMATICAL PARITY VALIDATION</a:t>
            </a:r>
          </a:p>
          <a:p>
            <a:pPr>
              <a:spcAft>
                <a:spcPts val="400"/>
              </a:spcAft>
            </a:pPr>
            <a:r>
              <a:rPr sz="950" b="1">
                <a:solidFill>
                  <a:srgbClr val="F8FAFC"/>
                </a:solidFill>
                <a:latin typeface="Arial"/>
              </a:rPr>
              <a:t>• ONNX Conversion: </a:t>
            </a:r>
            <a:r>
              <a:rPr sz="950">
                <a:solidFill>
                  <a:srgbClr val="94A3B8"/>
                </a:solidFill>
                <a:latin typeface="Arial"/>
              </a:rPr>
              <a:t>Successfully exported full AASIST graph to standard ONNX format for platform-agnostic runtime execution.</a:t>
            </a:r>
          </a:p>
          <a:p>
            <a:pPr>
              <a:spcAft>
                <a:spcPts val="400"/>
              </a:spcAft>
            </a:pPr>
            <a:r>
              <a:rPr sz="950" b="1">
                <a:solidFill>
                  <a:srgbClr val="F8FAFC"/>
                </a:solidFill>
                <a:latin typeface="Arial"/>
              </a:rPr>
              <a:t>• Runtime Engine: </a:t>
            </a:r>
            <a:r>
              <a:rPr sz="950">
                <a:solidFill>
                  <a:srgbClr val="94A3B8"/>
                </a:solidFill>
                <a:latin typeface="Arial"/>
              </a:rPr>
              <a:t>Validated model execution using ONNX Runtime (CPU &amp; CUDA execution providers).</a:t>
            </a:r>
          </a:p>
          <a:p>
            <a:pPr>
              <a:spcAft>
                <a:spcPts val="400"/>
              </a:spcAft>
            </a:pPr>
            <a:r>
              <a:rPr sz="950" b="1">
                <a:solidFill>
                  <a:srgbClr val="F8FAFC"/>
                </a:solidFill>
                <a:latin typeface="Arial"/>
              </a:rPr>
              <a:t>• Numerical Parity: </a:t>
            </a:r>
            <a:r>
              <a:rPr sz="950">
                <a:solidFill>
                  <a:srgbClr val="94A3B8"/>
                </a:solidFill>
                <a:latin typeface="Arial"/>
              </a:rPr>
              <a:t>Conducted rigorous output comparison against native PyTorch tensors.</a:t>
            </a:r>
          </a:p>
          <a:p>
            <a:pPr>
              <a:spcAft>
                <a:spcPts val="400"/>
              </a:spcAft>
            </a:pPr>
            <a:r>
              <a:rPr sz="950" b="1">
                <a:solidFill>
                  <a:srgbClr val="F8FAFC"/>
                </a:solidFill>
                <a:latin typeface="Arial"/>
              </a:rPr>
              <a:t>• Max Delta Verified: </a:t>
            </a:r>
            <a:r>
              <a:rPr sz="950">
                <a:solidFill>
                  <a:srgbClr val="94A3B8"/>
                </a:solidFill>
                <a:latin typeface="Arial"/>
              </a:rPr>
              <a:t>Max absolute numerical difference: ~3.8e-06 (well within single-precision floating-point epsilon).</a:t>
            </a:r>
          </a:p>
          <a:p>
            <a:pPr>
              <a:spcAft>
                <a:spcPts val="400"/>
              </a:spcAft>
            </a:pPr>
            <a:r>
              <a:rPr sz="950" b="1">
                <a:solidFill>
                  <a:srgbClr val="F8FAFC"/>
                </a:solidFill>
                <a:latin typeface="Arial"/>
              </a:rPr>
              <a:t>• Class Equivalence: </a:t>
            </a:r>
            <a:r>
              <a:rPr sz="950">
                <a:solidFill>
                  <a:srgbClr val="94A3B8"/>
                </a:solidFill>
                <a:latin typeface="Arial"/>
              </a:rPr>
              <a:t>100% agreement on predicted class (BONAFIDE vs SPOOF) between PyTorch and ONNX Runtime engines.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858000" cy="274320"/>
          </a:xfrm>
          <a:prstGeom prst="rect">
            <a:avLst/>
          </a:prstGeom>
          <a:noFill/>
        </p:spPr>
        <p:txBody>
          <a:bodyPr wrap="square" lIns="0" tIns="0" rIns="0" bIns="0">
            <a:spAutoFit/>
          </a:bodyPr>
          <a:lstStyle/>
          <a:p>
            <a:pPr>
              <a:defRPr sz="950" b="1">
                <a:solidFill>
                  <a:srgbClr val="00D2FF"/>
                </a:solidFill>
                <a:latin typeface="Arial"/>
              </a:defRPr>
            </a:pPr>
            <a:r>
              <a:t>SMART INDIA HACKATHON 2026  ·  KEY INNOVATION INSIGHT</a:t>
            </a:r>
          </a:p>
        </p:txBody>
      </p:sp>
      <p:sp>
        <p:nvSpPr>
          <p:cNvPr id="5" name="TextBox 4"/>
          <p:cNvSpPr txBox="1"/>
          <p:nvPr/>
        </p:nvSpPr>
        <p:spPr>
          <a:xfrm>
            <a:off x="731520" y="713232"/>
            <a:ext cx="8961120" cy="640080"/>
          </a:xfrm>
          <a:prstGeom prst="rect">
            <a:avLst/>
          </a:prstGeom>
          <a:noFill/>
        </p:spPr>
        <p:txBody>
          <a:bodyPr wrap="square" lIns="0" tIns="0" rIns="0" bIns="0">
            <a:spAutoFit/>
          </a:bodyPr>
          <a:lstStyle/>
          <a:p>
            <a:pPr>
              <a:defRPr sz="2100" b="1">
                <a:solidFill>
                  <a:srgbClr val="F8FAFC"/>
                </a:solidFill>
                <a:latin typeface="Helvetica"/>
              </a:defRPr>
            </a:pPr>
            <a:r>
              <a:t>Why We Are Building Our Own Detector: The Baseline Insight</a:t>
            </a:r>
          </a:p>
        </p:txBody>
      </p:sp>
      <p:sp>
        <p:nvSpPr>
          <p:cNvPr id="6" name="Rounded Rectangle 5"/>
          <p:cNvSpPr/>
          <p:nvPr/>
        </p:nvSpPr>
        <p:spPr>
          <a:xfrm>
            <a:off x="9722815" y="438912"/>
            <a:ext cx="1737360" cy="475488"/>
          </a:xfrm>
          <a:prstGeom prst="roundRect">
            <a:avLst/>
          </a:prstGeom>
          <a:solidFill>
            <a:srgbClr val="111C33"/>
          </a:solidFill>
          <a:ln w="1270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94A3B8"/>
                </a:solidFill>
                <a:latin typeface="Arial"/>
              </a:defRPr>
            </a:pPr>
            <a:r>
              <a:t>SIH-Aegis  |  5/10</a:t>
            </a:r>
          </a:p>
        </p:txBody>
      </p:sp>
      <p:sp>
        <p:nvSpPr>
          <p:cNvPr id="7" name="Rounded Rectangle 6"/>
          <p:cNvSpPr/>
          <p:nvPr/>
        </p:nvSpPr>
        <p:spPr>
          <a:xfrm>
            <a:off x="731520" y="1463040"/>
            <a:ext cx="10728655" cy="658368"/>
          </a:xfrm>
          <a:prstGeom prst="roundRect">
            <a:avLst/>
          </a:prstGeom>
          <a:solidFill>
            <a:srgbClr val="111C33"/>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D2FF"/>
                </a:solidFill>
                <a:latin typeface="Arial"/>
              </a:defRPr>
            </a:pPr>
            <a:r>
              <a:t>CORE ENGINEERING INSIGHT: "BENCHMARK PERFORMANCE ≠ DEPLOYMENT ROBUSTNESS"</a:t>
            </a:r>
          </a:p>
          <a:p>
            <a:pPr algn="ctr">
              <a:defRPr sz="1000">
                <a:solidFill>
                  <a:srgbClr val="94A3B8"/>
                </a:solidFill>
                <a:latin typeface="Arial"/>
              </a:defRPr>
            </a:pPr>
            <a:r>
              <a:t>Validating AASIST under field conditions revealed critical domain-shift failure modes that motivated our custom detector.</a:t>
            </a:r>
          </a:p>
        </p:txBody>
      </p:sp>
      <p:sp>
        <p:nvSpPr>
          <p:cNvPr id="8" name="Rounded Rectangle 7"/>
          <p:cNvSpPr/>
          <p:nvPr/>
        </p:nvSpPr>
        <p:spPr>
          <a:xfrm>
            <a:off x="731520" y="2286000"/>
            <a:ext cx="5230368" cy="2468880"/>
          </a:xfrm>
          <a:prstGeom prst="roundRect">
            <a:avLst/>
          </a:prstGeom>
          <a:solidFill>
            <a:srgbClr val="10261E"/>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600"/>
              </a:spcAft>
              <a:defRPr sz="1150" b="1">
                <a:solidFill>
                  <a:srgbClr val="10B981"/>
                </a:solidFill>
                <a:latin typeface="Arial"/>
              </a:defRPr>
            </a:pPr>
            <a:r>
              <a:t>BRANCH 1: CONTROLLED ACADEMIC BENCHMARKS</a:t>
            </a:r>
          </a:p>
          <a:p>
            <a:pPr>
              <a:spcAft>
                <a:spcPts val="300"/>
              </a:spcAft>
            </a:pPr>
            <a:r>
              <a:rPr sz="950" b="1">
                <a:solidFill>
                  <a:srgbClr val="F8FAFC"/>
                </a:solidFill>
                <a:latin typeface="Arial"/>
              </a:rPr>
              <a:t>• Evaluation Target: </a:t>
            </a:r>
            <a:r>
              <a:rPr sz="950">
                <a:solidFill>
                  <a:srgbClr val="94A3B8"/>
                </a:solidFill>
                <a:latin typeface="Arial"/>
              </a:rPr>
              <a:t>ASVspoof 2019 Logical Access (LA) evaluation partitions.</a:t>
            </a:r>
          </a:p>
          <a:p>
            <a:pPr>
              <a:spcAft>
                <a:spcPts val="300"/>
              </a:spcAft>
            </a:pPr>
            <a:r>
              <a:rPr sz="950" b="1">
                <a:solidFill>
                  <a:srgbClr val="F8FAFC"/>
                </a:solidFill>
                <a:latin typeface="Arial"/>
              </a:rPr>
              <a:t>• Behavior Observed: </a:t>
            </a:r>
            <a:r>
              <a:rPr sz="950">
                <a:solidFill>
                  <a:srgbClr val="94A3B8"/>
                </a:solidFill>
                <a:latin typeface="Arial"/>
              </a:rPr>
              <a:t>AASIST correctly and decisively classifies known synthetic samples as SPOOF.</a:t>
            </a:r>
          </a:p>
          <a:p>
            <a:pPr>
              <a:spcAft>
                <a:spcPts val="300"/>
              </a:spcAft>
            </a:pPr>
            <a:r>
              <a:rPr sz="950" b="1">
                <a:solidFill>
                  <a:srgbClr val="F8FAFC"/>
                </a:solidFill>
                <a:latin typeface="Arial"/>
              </a:rPr>
              <a:t>• Strengths: </a:t>
            </a:r>
            <a:r>
              <a:rPr sz="950">
                <a:solidFill>
                  <a:srgbClr val="94A3B8"/>
                </a:solidFill>
                <a:latin typeface="Arial"/>
              </a:rPr>
              <a:t>Excels at detecting specific neural vocoders and synthesis artifacts represented in the training distribution.</a:t>
            </a:r>
          </a:p>
          <a:p>
            <a:pPr>
              <a:spcAft>
                <a:spcPts val="300"/>
              </a:spcAft>
            </a:pPr>
            <a:r>
              <a:rPr sz="950" b="1">
                <a:solidFill>
                  <a:srgbClr val="F8FAFC"/>
                </a:solidFill>
                <a:latin typeface="Arial"/>
              </a:rPr>
              <a:t>• False Sense of Security: </a:t>
            </a:r>
            <a:r>
              <a:rPr sz="950">
                <a:solidFill>
                  <a:srgbClr val="94A3B8"/>
                </a:solidFill>
                <a:latin typeface="Arial"/>
              </a:rPr>
              <a:t>High paper accuracy suggests the problem is solved, masking deployment realities.</a:t>
            </a:r>
          </a:p>
        </p:txBody>
      </p:sp>
      <p:sp>
        <p:nvSpPr>
          <p:cNvPr id="9" name="Rounded Rectangle 8"/>
          <p:cNvSpPr/>
          <p:nvPr/>
        </p:nvSpPr>
        <p:spPr>
          <a:xfrm>
            <a:off x="6217920" y="2286000"/>
            <a:ext cx="5230368" cy="2468880"/>
          </a:xfrm>
          <a:prstGeom prst="roundRect">
            <a:avLst/>
          </a:prstGeom>
          <a:solidFill>
            <a:srgbClr val="2D141C"/>
          </a:solidFill>
          <a:ln w="15240">
            <a:solidFill>
              <a:srgbClr val="7F1D1D"/>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600"/>
              </a:spcAft>
              <a:defRPr sz="1150" b="1">
                <a:solidFill>
                  <a:srgbClr val="EF4444"/>
                </a:solidFill>
                <a:latin typeface="Arial"/>
              </a:defRPr>
            </a:pPr>
            <a:r>
              <a:t>BRANCH 2: REAL-WORLD MICROPHONE &amp; CALL RECORDINGS</a:t>
            </a:r>
          </a:p>
          <a:p>
            <a:pPr>
              <a:spcAft>
                <a:spcPts val="300"/>
              </a:spcAft>
            </a:pPr>
            <a:r>
              <a:rPr sz="950" b="1">
                <a:solidFill>
                  <a:srgbClr val="F8FAFC"/>
                </a:solidFill>
                <a:latin typeface="Arial"/>
              </a:rPr>
              <a:t>• Evaluation Target: </a:t>
            </a:r>
            <a:r>
              <a:rPr sz="950">
                <a:solidFill>
                  <a:srgbClr val="94A3B8"/>
                </a:solidFill>
                <a:latin typeface="Arial"/>
              </a:rPr>
              <a:t>Genuine smartphone voice notes, laptop microphones, and cellular recordings.</a:t>
            </a:r>
          </a:p>
          <a:p>
            <a:pPr>
              <a:spcAft>
                <a:spcPts val="300"/>
              </a:spcAft>
            </a:pPr>
            <a:r>
              <a:rPr sz="950" b="1">
                <a:solidFill>
                  <a:srgbClr val="F8FAFC"/>
                </a:solidFill>
                <a:latin typeface="Arial"/>
              </a:rPr>
              <a:t>• Behavior Observed: </a:t>
            </a:r>
            <a:r>
              <a:rPr sz="950">
                <a:solidFill>
                  <a:srgbClr val="94A3B8"/>
                </a:solidFill>
                <a:latin typeface="Arial"/>
              </a:rPr>
              <a:t>AASIST frequently produced strong false SPOOF predictions on legitimate human speech!</a:t>
            </a:r>
          </a:p>
          <a:p>
            <a:pPr>
              <a:spcAft>
                <a:spcPts val="300"/>
              </a:spcAft>
            </a:pPr>
            <a:r>
              <a:rPr sz="950" b="1">
                <a:solidFill>
                  <a:srgbClr val="F8FAFC"/>
                </a:solidFill>
                <a:latin typeface="Arial"/>
              </a:rPr>
              <a:t>• Root Cause Analysis: </a:t>
            </a:r>
            <a:r>
              <a:rPr sz="950">
                <a:solidFill>
                  <a:srgbClr val="94A3B8"/>
                </a:solidFill>
                <a:latin typeface="Arial"/>
              </a:rPr>
              <a:t>Severe domain mismatch: room acoustics, background fan noise, and phone codecs are misclassified as synthetic artifacts.</a:t>
            </a:r>
          </a:p>
          <a:p>
            <a:pPr>
              <a:spcAft>
                <a:spcPts val="300"/>
              </a:spcAft>
            </a:pPr>
            <a:r>
              <a:rPr sz="950" b="1">
                <a:solidFill>
                  <a:srgbClr val="F8FAFC"/>
                </a:solidFill>
                <a:latin typeface="Arial"/>
              </a:rPr>
              <a:t>• Engineering Conclusion: </a:t>
            </a:r>
            <a:r>
              <a:rPr sz="950">
                <a:solidFill>
                  <a:srgbClr val="94A3B8"/>
                </a:solidFill>
                <a:latin typeface="Arial"/>
              </a:rPr>
              <a:t>A baseline model cannot be deployed in production without domain-aware adaptation.</a:t>
            </a:r>
          </a:p>
        </p:txBody>
      </p:sp>
      <p:sp>
        <p:nvSpPr>
          <p:cNvPr id="10" name="Rounded Rectangle 9"/>
          <p:cNvSpPr/>
          <p:nvPr/>
        </p:nvSpPr>
        <p:spPr>
          <a:xfrm>
            <a:off x="731520" y="4892040"/>
            <a:ext cx="10728655" cy="137160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46304"/>
          <a:lstStyle/>
          <a:p>
            <a:pPr algn="ctr">
              <a:spcAft>
                <a:spcPts val="400"/>
              </a:spcAft>
              <a:defRPr sz="1100" b="1">
                <a:solidFill>
                  <a:srgbClr val="00D2FF"/>
                </a:solidFill>
                <a:latin typeface="Arial"/>
              </a:defRPr>
            </a:pPr>
            <a:r>
              <a:t>OUR STRATEGIC RESPONSE: DOMAIN-AWARE CUSTOM DETECTOR</a:t>
            </a:r>
          </a:p>
          <a:p>
            <a:pPr>
              <a:spcAft>
                <a:spcPts val="200"/>
              </a:spcAft>
            </a:pPr>
            <a:r>
              <a:rPr sz="950" b="1">
                <a:solidFill>
                  <a:srgbClr val="F8FAFC"/>
                </a:solidFill>
                <a:latin typeface="Arial"/>
              </a:rPr>
              <a:t>→ We do NOT claim AASIST is useless: </a:t>
            </a:r>
            <a:r>
              <a:rPr sz="950">
                <a:solidFill>
                  <a:srgbClr val="94A3B8"/>
                </a:solidFill>
                <a:latin typeface="Arial"/>
              </a:rPr>
              <a:t>AASIST is a strong theoretical baseline, but deploying it blindly would paralyze a bank with false alarm rejections.</a:t>
            </a:r>
          </a:p>
          <a:p>
            <a:pPr>
              <a:spcAft>
                <a:spcPts val="200"/>
              </a:spcAft>
            </a:pPr>
            <a:r>
              <a:rPr sz="950" b="1">
                <a:solidFill>
                  <a:srgbClr val="F8FAFC"/>
                </a:solidFill>
                <a:latin typeface="Arial"/>
              </a:rPr>
              <a:t>→ Why a custom model is required: </a:t>
            </a:r>
            <a:r>
              <a:rPr sz="950">
                <a:solidFill>
                  <a:srgbClr val="94A3B8"/>
                </a:solidFill>
                <a:latin typeface="Arial"/>
              </a:rPr>
              <a:t>We need a detector trained with acoustic augmentations (environmental noise, telecom compression, diverse Indian accents) to separate true synthesis artifacts from real-world acoustic variations.</a:t>
            </a:r>
          </a:p>
          <a:p>
            <a:pPr>
              <a:spcAft>
                <a:spcPts val="200"/>
              </a:spcAft>
            </a:pPr>
            <a:r>
              <a:rPr sz="950" b="1">
                <a:solidFill>
                  <a:srgbClr val="F8FAFC"/>
                </a:solidFill>
                <a:latin typeface="Arial"/>
              </a:rPr>
              <a:t>→ Primary Development Direction: </a:t>
            </a:r>
            <a:r>
              <a:rPr sz="950">
                <a:solidFill>
                  <a:srgbClr val="94A3B8"/>
                </a:solidFill>
                <a:latin typeface="Arial"/>
              </a:rPr>
              <a:t>We designed a lightweight Spectrogram CNN specifically structured to learn invariant time-frequency features while running efficiently on consumer and edge devices.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858000" cy="274320"/>
          </a:xfrm>
          <a:prstGeom prst="rect">
            <a:avLst/>
          </a:prstGeom>
          <a:noFill/>
        </p:spPr>
        <p:txBody>
          <a:bodyPr wrap="square" lIns="0" tIns="0" rIns="0" bIns="0">
            <a:spAutoFit/>
          </a:bodyPr>
          <a:lstStyle/>
          <a:p>
            <a:pPr>
              <a:defRPr sz="950" b="1">
                <a:solidFill>
                  <a:srgbClr val="00D2FF"/>
                </a:solidFill>
                <a:latin typeface="Arial"/>
              </a:defRPr>
            </a:pPr>
            <a:r>
              <a:t>SMART INDIA HACKATHON 2026  ·  CUSTOM MODEL ARCHITECTURE</a:t>
            </a:r>
          </a:p>
        </p:txBody>
      </p:sp>
      <p:sp>
        <p:nvSpPr>
          <p:cNvPr id="5" name="TextBox 4"/>
          <p:cNvSpPr txBox="1"/>
          <p:nvPr/>
        </p:nvSpPr>
        <p:spPr>
          <a:xfrm>
            <a:off x="731520" y="713232"/>
            <a:ext cx="8961120" cy="640080"/>
          </a:xfrm>
          <a:prstGeom prst="rect">
            <a:avLst/>
          </a:prstGeom>
          <a:noFill/>
        </p:spPr>
        <p:txBody>
          <a:bodyPr wrap="square" lIns="0" tIns="0" rIns="0" bIns="0">
            <a:spAutoFit/>
          </a:bodyPr>
          <a:lstStyle/>
          <a:p>
            <a:pPr>
              <a:defRPr sz="2100" b="1">
                <a:solidFill>
                  <a:srgbClr val="F8FAFC"/>
                </a:solidFill>
                <a:latin typeface="Helvetica"/>
              </a:defRPr>
            </a:pPr>
            <a:r>
              <a:t>Level 3 Direction: Learning Time-Frequency Patterns with CNN</a:t>
            </a:r>
          </a:p>
        </p:txBody>
      </p:sp>
      <p:sp>
        <p:nvSpPr>
          <p:cNvPr id="6" name="Rounded Rectangle 5"/>
          <p:cNvSpPr/>
          <p:nvPr/>
        </p:nvSpPr>
        <p:spPr>
          <a:xfrm>
            <a:off x="9722815" y="438912"/>
            <a:ext cx="1737360" cy="475488"/>
          </a:xfrm>
          <a:prstGeom prst="roundRect">
            <a:avLst/>
          </a:prstGeom>
          <a:solidFill>
            <a:srgbClr val="111C33"/>
          </a:solidFill>
          <a:ln w="1270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94A3B8"/>
                </a:solidFill>
                <a:latin typeface="Arial"/>
              </a:defRPr>
            </a:pPr>
            <a:r>
              <a:t>SIH-Aegis  |  6/10</a:t>
            </a:r>
          </a:p>
        </p:txBody>
      </p:sp>
      <p:sp>
        <p:nvSpPr>
          <p:cNvPr id="7" name="Rounded Rectangle 6"/>
          <p:cNvSpPr/>
          <p:nvPr/>
        </p:nvSpPr>
        <p:spPr>
          <a:xfrm>
            <a:off x="731520" y="1463040"/>
            <a:ext cx="5230368" cy="356616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50" b="1">
                <a:solidFill>
                  <a:srgbClr val="00D2FF"/>
                </a:solidFill>
                <a:latin typeface="Arial"/>
              </a:defRPr>
            </a:pPr>
            <a:r>
              <a:t>ACOUSTIC REPRESENTATION: 128 × 128 LOG-MEL SPECTROGRAM</a:t>
            </a:r>
          </a:p>
          <a:p>
            <a:pPr>
              <a:spcAft>
                <a:spcPts val="400"/>
              </a:spcAft>
            </a:pPr>
            <a:r>
              <a:rPr sz="950" b="1">
                <a:solidFill>
                  <a:srgbClr val="F8FAFC"/>
                </a:solidFill>
                <a:latin typeface="Arial"/>
              </a:rPr>
              <a:t>• Why Spectrogram?: </a:t>
            </a:r>
            <a:r>
              <a:rPr sz="950">
                <a:solidFill>
                  <a:srgbClr val="94A3B8"/>
                </a:solidFill>
                <a:latin typeface="Arial"/>
              </a:rPr>
              <a:t>Speech is non-stationary. Time-frequency representations capture harmonic structures and phase transitions where neural vocoders leave subtle mathematical flaws.</a:t>
            </a:r>
          </a:p>
          <a:p>
            <a:pPr>
              <a:spcAft>
                <a:spcPts val="400"/>
              </a:spcAft>
            </a:pPr>
            <a:r>
              <a:rPr sz="950" b="1">
                <a:solidFill>
                  <a:srgbClr val="F8FAFC"/>
                </a:solidFill>
                <a:latin typeface="Arial"/>
              </a:rPr>
              <a:t>• Input Sampling: </a:t>
            </a:r>
            <a:r>
              <a:rPr sz="950">
                <a:solidFill>
                  <a:srgbClr val="94A3B8"/>
                </a:solidFill>
                <a:latin typeface="Arial"/>
              </a:rPr>
              <a:t>16,000 Hz single-channel mono audio.</a:t>
            </a:r>
          </a:p>
          <a:p>
            <a:pPr>
              <a:spcAft>
                <a:spcPts val="400"/>
              </a:spcAft>
            </a:pPr>
            <a:r>
              <a:rPr sz="950" b="1">
                <a:solidFill>
                  <a:srgbClr val="F8FAFC"/>
                </a:solidFill>
                <a:latin typeface="Arial"/>
              </a:rPr>
              <a:t>• STFT Configuration: </a:t>
            </a:r>
            <a:r>
              <a:rPr sz="950">
                <a:solidFill>
                  <a:srgbClr val="94A3B8"/>
                </a:solidFill>
                <a:latin typeface="Arial"/>
              </a:rPr>
              <a:t>FFT window size: 512 | Hop length: 160 samples (10 ms frame advance).</a:t>
            </a:r>
          </a:p>
          <a:p>
            <a:pPr>
              <a:spcAft>
                <a:spcPts val="400"/>
              </a:spcAft>
            </a:pPr>
            <a:r>
              <a:rPr sz="950" b="1">
                <a:solidFill>
                  <a:srgbClr val="F8FAFC"/>
                </a:solidFill>
                <a:latin typeface="Arial"/>
              </a:rPr>
              <a:t>• Filterbank Mapping: </a:t>
            </a:r>
            <a:r>
              <a:rPr sz="950">
                <a:solidFill>
                  <a:srgbClr val="94A3B8"/>
                </a:solidFill>
                <a:latin typeface="Arial"/>
              </a:rPr>
              <a:t>128 Mel frequency bins scaled psychoacoustically.</a:t>
            </a:r>
          </a:p>
          <a:p>
            <a:pPr>
              <a:spcAft>
                <a:spcPts val="400"/>
              </a:spcAft>
            </a:pPr>
            <a:r>
              <a:rPr sz="950" b="1">
                <a:solidFill>
                  <a:srgbClr val="F8FAFC"/>
                </a:solidFill>
                <a:latin typeface="Arial"/>
              </a:rPr>
              <a:t>• Final Matrix Shape: </a:t>
            </a:r>
            <a:r>
              <a:rPr sz="950">
                <a:solidFill>
                  <a:srgbClr val="94A3B8"/>
                </a:solidFill>
                <a:latin typeface="Arial"/>
              </a:rPr>
              <a:t>Fixed 128 × 128 float32 representation per 1.28-second temporal context.</a:t>
            </a:r>
          </a:p>
          <a:p>
            <a:pPr>
              <a:spcAft>
                <a:spcPts val="400"/>
              </a:spcAft>
            </a:pPr>
            <a:r>
              <a:rPr sz="950" b="1">
                <a:solidFill>
                  <a:srgbClr val="F8FAFC"/>
                </a:solidFill>
                <a:latin typeface="Arial"/>
              </a:rPr>
              <a:t>• Normalization: </a:t>
            </a:r>
            <a:r>
              <a:rPr sz="950">
                <a:solidFill>
                  <a:srgbClr val="94A3B8"/>
                </a:solidFill>
                <a:latin typeface="Arial"/>
              </a:rPr>
              <a:t>Per-sample zero-mean, unit-variance standardization to eliminate recording volume bias.</a:t>
            </a:r>
          </a:p>
        </p:txBody>
      </p:sp>
      <p:sp>
        <p:nvSpPr>
          <p:cNvPr id="8" name="Rounded Rectangle 7"/>
          <p:cNvSpPr/>
          <p:nvPr/>
        </p:nvSpPr>
        <p:spPr>
          <a:xfrm>
            <a:off x="6217920" y="1463040"/>
            <a:ext cx="5230368" cy="356616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50" b="1">
                <a:solidFill>
                  <a:srgbClr val="10B981"/>
                </a:solidFill>
                <a:latin typeface="Arial"/>
              </a:defRPr>
            </a:pPr>
            <a:r>
              <a:t>LIGHTWEIGHT CONVOLUTIONAL DETECTOR (~97.9K PARAMS)</a:t>
            </a:r>
          </a:p>
          <a:p>
            <a:pPr>
              <a:spcAft>
                <a:spcPts val="400"/>
              </a:spcAft>
            </a:pPr>
            <a:r>
              <a:rPr sz="950" b="1">
                <a:solidFill>
                  <a:srgbClr val="F8FAFC"/>
                </a:solidFill>
                <a:latin typeface="Arial"/>
              </a:rPr>
              <a:t>• Input Tensor: </a:t>
            </a:r>
            <a:r>
              <a:rPr sz="950">
                <a:solidFill>
                  <a:srgbClr val="94A3B8"/>
                </a:solidFill>
                <a:latin typeface="Arial"/>
              </a:rPr>
              <a:t>Shape: 1 × 128 × 128 (Batch, Channel, Freq, Time)</a:t>
            </a:r>
          </a:p>
          <a:p>
            <a:pPr>
              <a:spcAft>
                <a:spcPts val="400"/>
              </a:spcAft>
            </a:pPr>
            <a:r>
              <a:rPr sz="950" b="1">
                <a:solidFill>
                  <a:srgbClr val="F8FAFC"/>
                </a:solidFill>
                <a:latin typeface="Arial"/>
              </a:rPr>
              <a:t>• Conv Block 1: </a:t>
            </a:r>
            <a:r>
              <a:rPr sz="950">
                <a:solidFill>
                  <a:srgbClr val="94A3B8"/>
                </a:solidFill>
                <a:latin typeface="Arial"/>
              </a:rPr>
              <a:t>Conv2d (1 → 16 channels) + BatchNorm + ReLU + MaxPool(2,2)</a:t>
            </a:r>
          </a:p>
          <a:p>
            <a:pPr>
              <a:spcAft>
                <a:spcPts val="400"/>
              </a:spcAft>
            </a:pPr>
            <a:r>
              <a:rPr sz="950" b="1">
                <a:solidFill>
                  <a:srgbClr val="F8FAFC"/>
                </a:solidFill>
                <a:latin typeface="Arial"/>
              </a:rPr>
              <a:t>• Conv Block 2: </a:t>
            </a:r>
            <a:r>
              <a:rPr sz="950">
                <a:solidFill>
                  <a:srgbClr val="94A3B8"/>
                </a:solidFill>
                <a:latin typeface="Arial"/>
              </a:rPr>
              <a:t>Conv2d (16 → 32 channels) + BatchNorm + ReLU + MaxPool(2,2)</a:t>
            </a:r>
          </a:p>
          <a:p>
            <a:pPr>
              <a:spcAft>
                <a:spcPts val="400"/>
              </a:spcAft>
            </a:pPr>
            <a:r>
              <a:rPr sz="950" b="1">
                <a:solidFill>
                  <a:srgbClr val="F8FAFC"/>
                </a:solidFill>
                <a:latin typeface="Arial"/>
              </a:rPr>
              <a:t>• Conv Block 3: </a:t>
            </a:r>
            <a:r>
              <a:rPr sz="950">
                <a:solidFill>
                  <a:srgbClr val="94A3B8"/>
                </a:solidFill>
                <a:latin typeface="Arial"/>
              </a:rPr>
              <a:t>Conv2d (32 → 64 channels) + BatchNorm + ReLU + MaxPool(2,2)</a:t>
            </a:r>
          </a:p>
          <a:p>
            <a:pPr>
              <a:spcAft>
                <a:spcPts val="400"/>
              </a:spcAft>
            </a:pPr>
            <a:r>
              <a:rPr sz="950" b="1">
                <a:solidFill>
                  <a:srgbClr val="F8FAFC"/>
                </a:solidFill>
                <a:latin typeface="Arial"/>
              </a:rPr>
              <a:t>• Conv Block 4: </a:t>
            </a:r>
            <a:r>
              <a:rPr sz="950">
                <a:solidFill>
                  <a:srgbClr val="94A3B8"/>
                </a:solidFill>
                <a:latin typeface="Arial"/>
              </a:rPr>
              <a:t>Conv2d (64 → 128 channels) + BatchNorm + ReLU (Dense spectral cues)</a:t>
            </a:r>
          </a:p>
          <a:p>
            <a:pPr>
              <a:spcAft>
                <a:spcPts val="400"/>
              </a:spcAft>
            </a:pPr>
            <a:r>
              <a:rPr sz="950" b="1">
                <a:solidFill>
                  <a:srgbClr val="F8FAFC"/>
                </a:solidFill>
                <a:latin typeface="Arial"/>
              </a:rPr>
              <a:t>• Classification Head: </a:t>
            </a:r>
            <a:r>
              <a:rPr sz="950">
                <a:solidFill>
                  <a:srgbClr val="94A3B8"/>
                </a:solidFill>
                <a:latin typeface="Arial"/>
              </a:rPr>
              <a:t>AdaptiveAvgPool2d(1,1) → Flatten → Dropout(0.3) → Linear(128 → 2)</a:t>
            </a:r>
          </a:p>
          <a:p>
            <a:pPr>
              <a:spcAft>
                <a:spcPts val="400"/>
              </a:spcAft>
            </a:pPr>
            <a:r>
              <a:rPr sz="950" b="1">
                <a:solidFill>
                  <a:srgbClr val="F8FAFC"/>
                </a:solidFill>
                <a:latin typeface="Arial"/>
              </a:rPr>
              <a:t>• Model Footprint: </a:t>
            </a:r>
            <a:r>
              <a:rPr sz="950">
                <a:solidFill>
                  <a:srgbClr val="94A3B8"/>
                </a:solidFill>
                <a:latin typeface="Arial"/>
              </a:rPr>
              <a:t>Exactly 97,890 trainable parameters (~390 KB memory footprint)</a:t>
            </a:r>
          </a:p>
        </p:txBody>
      </p:sp>
      <p:sp>
        <p:nvSpPr>
          <p:cNvPr id="9" name="Rounded Rectangle 8"/>
          <p:cNvSpPr/>
          <p:nvPr/>
        </p:nvSpPr>
        <p:spPr>
          <a:xfrm>
            <a:off x="731520" y="5166360"/>
            <a:ext cx="10728655" cy="1188720"/>
          </a:xfrm>
          <a:prstGeom prst="roundRect">
            <a:avLst/>
          </a:prstGeom>
          <a:solidFill>
            <a:srgbClr val="2D230F"/>
          </a:solidFill>
          <a:ln w="1524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28016"/>
          <a:lstStyle/>
          <a:p>
            <a:pPr algn="ctr">
              <a:spcAft>
                <a:spcPts val="300"/>
              </a:spcAft>
              <a:defRPr sz="1050" b="1">
                <a:solidFill>
                  <a:srgbClr val="F59E0B"/>
                </a:solidFill>
                <a:latin typeface="Arial"/>
              </a:defRPr>
            </a:pPr>
            <a:r>
              <a:t>RIGOROUS TECHNICAL HONESTY STATEMENT</a:t>
            </a:r>
          </a:p>
          <a:p>
            <a:pPr>
              <a:spcAft>
                <a:spcPts val="200"/>
              </a:spcAft>
            </a:pPr>
            <a:r>
              <a:rPr sz="950" b="1">
                <a:solidFill>
                  <a:srgbClr val="F8FAFC"/>
                </a:solidFill>
                <a:latin typeface="Arial"/>
              </a:rPr>
              <a:t>✓ Architecture Implemented &amp; Verified: </a:t>
            </a:r>
            <a:r>
              <a:rPr sz="950">
                <a:solidFill>
                  <a:srgbClr val="94A3B8"/>
                </a:solidFill>
                <a:latin typeface="Arial"/>
              </a:rPr>
              <a:t>The 4-block CNN graph has been coded in PyTorch; full tensor forward-pass compatibility has been verified on our RTX 4050 GPU.</a:t>
            </a:r>
          </a:p>
          <a:p>
            <a:pPr>
              <a:spcAft>
                <a:spcPts val="200"/>
              </a:spcAft>
            </a:pPr>
            <a:r>
              <a:rPr sz="950" b="1">
                <a:solidFill>
                  <a:srgbClr val="F8FAFC"/>
                </a:solidFill>
                <a:latin typeface="Arial"/>
              </a:rPr>
              <a:t>✓ Training Status (In Progress): </a:t>
            </a:r>
            <a:r>
              <a:rPr sz="950">
                <a:solidFill>
                  <a:srgbClr val="94A3B8"/>
                </a:solidFill>
                <a:latin typeface="Arial"/>
              </a:rPr>
              <a:t>The CNN has NOT yet been trained. There is NO trained checkpoint or fabricated accuracy score. Training dataset preparation with Indian accents and multi-TTS engines is actively underway.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858000" cy="274320"/>
          </a:xfrm>
          <a:prstGeom prst="rect">
            <a:avLst/>
          </a:prstGeom>
          <a:noFill/>
        </p:spPr>
        <p:txBody>
          <a:bodyPr wrap="square" lIns="0" tIns="0" rIns="0" bIns="0">
            <a:spAutoFit/>
          </a:bodyPr>
          <a:lstStyle/>
          <a:p>
            <a:pPr>
              <a:defRPr sz="950" b="1">
                <a:solidFill>
                  <a:srgbClr val="00D2FF"/>
                </a:solidFill>
                <a:latin typeface="Arial"/>
              </a:defRPr>
            </a:pPr>
            <a:r>
              <a:t>SMART INDIA HACKATHON 2026  ·  ENGINEERING ARCHITECTURE</a:t>
            </a:r>
          </a:p>
        </p:txBody>
      </p:sp>
      <p:sp>
        <p:nvSpPr>
          <p:cNvPr id="5" name="TextBox 4"/>
          <p:cNvSpPr txBox="1"/>
          <p:nvPr/>
        </p:nvSpPr>
        <p:spPr>
          <a:xfrm>
            <a:off x="731520" y="713232"/>
            <a:ext cx="8961120" cy="640080"/>
          </a:xfrm>
          <a:prstGeom prst="rect">
            <a:avLst/>
          </a:prstGeom>
          <a:noFill/>
        </p:spPr>
        <p:txBody>
          <a:bodyPr wrap="square" lIns="0" tIns="0" rIns="0" bIns="0">
            <a:spAutoFit/>
          </a:bodyPr>
          <a:lstStyle/>
          <a:p>
            <a:pPr>
              <a:defRPr sz="2100" b="1">
                <a:solidFill>
                  <a:srgbClr val="F8FAFC"/>
                </a:solidFill>
                <a:latin typeface="Helvetica"/>
              </a:defRPr>
            </a:pPr>
            <a:r>
              <a:t>System Architecture: Modular, Extensible Security Pipeline</a:t>
            </a:r>
          </a:p>
        </p:txBody>
      </p:sp>
      <p:sp>
        <p:nvSpPr>
          <p:cNvPr id="6" name="Rounded Rectangle 5"/>
          <p:cNvSpPr/>
          <p:nvPr/>
        </p:nvSpPr>
        <p:spPr>
          <a:xfrm>
            <a:off x="9722815" y="438912"/>
            <a:ext cx="1737360" cy="475488"/>
          </a:xfrm>
          <a:prstGeom prst="roundRect">
            <a:avLst/>
          </a:prstGeom>
          <a:solidFill>
            <a:srgbClr val="111C33"/>
          </a:solidFill>
          <a:ln w="1270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94A3B8"/>
                </a:solidFill>
                <a:latin typeface="Arial"/>
              </a:defRPr>
            </a:pPr>
            <a:r>
              <a:t>SIH-Aegis  |  7/10</a:t>
            </a:r>
          </a:p>
        </p:txBody>
      </p:sp>
      <p:sp>
        <p:nvSpPr>
          <p:cNvPr id="7" name="Rounded Rectangle 6"/>
          <p:cNvSpPr/>
          <p:nvPr/>
        </p:nvSpPr>
        <p:spPr>
          <a:xfrm>
            <a:off x="731520" y="1463040"/>
            <a:ext cx="10728655" cy="658368"/>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200"/>
              </a:spcAft>
              <a:defRPr sz="1050" b="1">
                <a:solidFill>
                  <a:srgbClr val="00D2FF"/>
                </a:solidFill>
                <a:latin typeface="Arial"/>
              </a:defRPr>
            </a:pPr>
            <a:r>
              <a:t>1. CLIENT &amp; EDGE INTERACTION LAYER</a:t>
            </a:r>
          </a:p>
          <a:p>
            <a:pPr>
              <a:defRPr sz="950">
                <a:solidFill>
                  <a:srgbClr val="94A3B8"/>
                </a:solidFill>
                <a:latin typeface="Arial"/>
              </a:defRPr>
            </a:pPr>
            <a:r>
              <a:t>Streamlit Diagnostic Web Dashboard (Working Prototype)  ·  Android Jetpack Compose Mobile App (Under Integration)</a:t>
            </a:r>
          </a:p>
        </p:txBody>
      </p:sp>
      <p:sp>
        <p:nvSpPr>
          <p:cNvPr id="8" name="Rounded Rectangle 7"/>
          <p:cNvSpPr/>
          <p:nvPr/>
        </p:nvSpPr>
        <p:spPr>
          <a:xfrm>
            <a:off x="731520" y="2212848"/>
            <a:ext cx="10728655" cy="658368"/>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200"/>
              </a:spcAft>
              <a:defRPr sz="1050" b="1">
                <a:solidFill>
                  <a:srgbClr val="F8FAFC"/>
                </a:solidFill>
                <a:latin typeface="Arial"/>
              </a:defRPr>
            </a:pPr>
            <a:r>
              <a:t>2. PIPELINE INGESTION &amp; ORCHESTRATION LAYER</a:t>
            </a:r>
          </a:p>
          <a:p>
            <a:pPr>
              <a:defRPr sz="950">
                <a:solidFill>
                  <a:srgbClr val="94A3B8"/>
                </a:solidFill>
                <a:latin typeface="Arial"/>
              </a:defRPr>
            </a:pPr>
            <a:r>
              <a:t>Audio file ingestion (.wav, .mp3, .m4a)  ·  Header integrity verification  ·  3-second sliding chunk buffer  ·  Stream synchronizer</a:t>
            </a:r>
          </a:p>
        </p:txBody>
      </p:sp>
      <p:sp>
        <p:nvSpPr>
          <p:cNvPr id="9" name="Rounded Rectangle 8"/>
          <p:cNvSpPr/>
          <p:nvPr/>
        </p:nvSpPr>
        <p:spPr>
          <a:xfrm>
            <a:off x="731520" y="2962656"/>
            <a:ext cx="10728655" cy="658368"/>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200"/>
              </a:spcAft>
              <a:defRPr sz="1050" b="1">
                <a:solidFill>
                  <a:srgbClr val="F8FAFC"/>
                </a:solidFill>
                <a:latin typeface="Arial"/>
              </a:defRPr>
            </a:pPr>
            <a:r>
              <a:t>3. DIGITAL AUDIO PREPROCESSING LAYER</a:t>
            </a:r>
          </a:p>
          <a:p>
            <a:pPr>
              <a:defRPr sz="950">
                <a:solidFill>
                  <a:srgbClr val="94A3B8"/>
                </a:solidFill>
                <a:latin typeface="Arial"/>
              </a:defRPr>
            </a:pPr>
            <a:r>
              <a:t>Dynamic 16 kHz resampling (librosa/soundfile)  ·  Mono downmix  ·  Silence/Energy threshold trimming  ·  RMS normalization</a:t>
            </a:r>
          </a:p>
        </p:txBody>
      </p:sp>
      <p:sp>
        <p:nvSpPr>
          <p:cNvPr id="10" name="Rounded Rectangle 9"/>
          <p:cNvSpPr/>
          <p:nvPr/>
        </p:nvSpPr>
        <p:spPr>
          <a:xfrm>
            <a:off x="731520" y="3712464"/>
            <a:ext cx="10728655" cy="658368"/>
          </a:xfrm>
          <a:prstGeom prst="roundRect">
            <a:avLst/>
          </a:prstGeom>
          <a:solidFill>
            <a:srgbClr val="182848"/>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200"/>
              </a:spcAft>
              <a:defRPr sz="1050" b="1">
                <a:solidFill>
                  <a:srgbClr val="00D2FF"/>
                </a:solidFill>
                <a:latin typeface="Arial"/>
              </a:defRPr>
            </a:pPr>
            <a:r>
              <a:t>4. FEATURE EXTRACTION &amp; TENSOR TRANSFORM</a:t>
            </a:r>
          </a:p>
          <a:p>
            <a:pPr>
              <a:defRPr sz="950">
                <a:solidFill>
                  <a:srgbClr val="94A3B8"/>
                </a:solidFill>
                <a:latin typeface="Arial"/>
              </a:defRPr>
            </a:pPr>
            <a:r>
              <a:t>Path A: Raw Sinc-convolution waveform tensor slicing  ·  Path B: 128-Mel STFT Log-Mel Spectrogram generator (128 × 128)</a:t>
            </a:r>
          </a:p>
        </p:txBody>
      </p:sp>
      <p:sp>
        <p:nvSpPr>
          <p:cNvPr id="11" name="Rounded Rectangle 10"/>
          <p:cNvSpPr/>
          <p:nvPr/>
        </p:nvSpPr>
        <p:spPr>
          <a:xfrm>
            <a:off x="731520" y="4462272"/>
            <a:ext cx="10728655" cy="658368"/>
          </a:xfrm>
          <a:prstGeom prst="roundRect">
            <a:avLst/>
          </a:prstGeom>
          <a:solidFill>
            <a:srgbClr val="10261E"/>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200"/>
              </a:spcAft>
              <a:defRPr sz="1050" b="1">
                <a:solidFill>
                  <a:srgbClr val="10B981"/>
                </a:solidFill>
                <a:latin typeface="Arial"/>
              </a:defRPr>
            </a:pPr>
            <a:r>
              <a:t>5. DUAL DETECTION ENGINE (MODULAR BACKBONE)</a:t>
            </a:r>
          </a:p>
          <a:p>
            <a:pPr>
              <a:defRPr sz="950">
                <a:solidFill>
                  <a:srgbClr val="94A3B8"/>
                </a:solidFill>
                <a:latin typeface="Arial"/>
              </a:defRPr>
            </a:pPr>
            <a:r>
              <a:t>AASIST Benchmark Baseline (Pretrained, ONNX Runtime, 3.8e-06 parity)  ⇄  Lightweight Spectrogram CNN (97.9K params, primary dev)</a:t>
            </a:r>
          </a:p>
        </p:txBody>
      </p:sp>
      <p:sp>
        <p:nvSpPr>
          <p:cNvPr id="12" name="Rounded Rectangle 11"/>
          <p:cNvSpPr/>
          <p:nvPr/>
        </p:nvSpPr>
        <p:spPr>
          <a:xfrm>
            <a:off x="731520" y="5212080"/>
            <a:ext cx="10728655" cy="658368"/>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200"/>
              </a:spcAft>
              <a:defRPr sz="1050" b="1">
                <a:solidFill>
                  <a:srgbClr val="F59E0B"/>
                </a:solidFill>
                <a:latin typeface="Arial"/>
              </a:defRPr>
            </a:pPr>
            <a:r>
              <a:t>6. DECISION &amp; EXPLAINABILITY LAYER</a:t>
            </a:r>
          </a:p>
          <a:p>
            <a:pPr>
              <a:defRPr sz="950">
                <a:solidFill>
                  <a:srgbClr val="94A3B8"/>
                </a:solidFill>
                <a:latin typeface="Arial"/>
              </a:defRPr>
            </a:pPr>
            <a:r>
              <a:t>Softmax confidence scores  ·  Configurable thresholding  ·  Binary Classification (BONAFIDE / SPOOF)  ·  Audit log generator</a:t>
            </a:r>
          </a:p>
        </p:txBody>
      </p:sp>
      <p:sp>
        <p:nvSpPr>
          <p:cNvPr id="13" name="Rounded Rectangle 12"/>
          <p:cNvSpPr/>
          <p:nvPr/>
        </p:nvSpPr>
        <p:spPr>
          <a:xfrm>
            <a:off x="731520" y="5989320"/>
            <a:ext cx="10728655" cy="475488"/>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950" b="1">
                <a:solidFill>
                  <a:srgbClr val="F8FAFC"/>
                </a:solidFill>
                <a:latin typeface="Arial"/>
              </a:defRPr>
            </a:pPr>
            <a:r>
              <a:t>MODULAR DESIGN PRINCIPLE: Features, models, and interfaces are decoupled. AASIST serves as our benchmark validator, while our 97.9K CNN is optimized for real-time mobile and edge microservices.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858000" cy="274320"/>
          </a:xfrm>
          <a:prstGeom prst="rect">
            <a:avLst/>
          </a:prstGeom>
          <a:noFill/>
        </p:spPr>
        <p:txBody>
          <a:bodyPr wrap="square" lIns="0" tIns="0" rIns="0" bIns="0">
            <a:spAutoFit/>
          </a:bodyPr>
          <a:lstStyle/>
          <a:p>
            <a:pPr>
              <a:defRPr sz="950" b="1">
                <a:solidFill>
                  <a:srgbClr val="00D2FF"/>
                </a:solidFill>
                <a:latin typeface="Arial"/>
              </a:defRPr>
            </a:pPr>
            <a:r>
              <a:t>SMART INDIA HACKATHON 2026  ·  MOBILE IMPLEMENTATION</a:t>
            </a:r>
          </a:p>
        </p:txBody>
      </p:sp>
      <p:sp>
        <p:nvSpPr>
          <p:cNvPr id="5" name="TextBox 4"/>
          <p:cNvSpPr txBox="1"/>
          <p:nvPr/>
        </p:nvSpPr>
        <p:spPr>
          <a:xfrm>
            <a:off x="731520" y="713232"/>
            <a:ext cx="8961120" cy="640080"/>
          </a:xfrm>
          <a:prstGeom prst="rect">
            <a:avLst/>
          </a:prstGeom>
          <a:noFill/>
        </p:spPr>
        <p:txBody>
          <a:bodyPr wrap="square" lIns="0" tIns="0" rIns="0" bIns="0">
            <a:spAutoFit/>
          </a:bodyPr>
          <a:lstStyle/>
          <a:p>
            <a:pPr>
              <a:defRPr sz="2100" b="1">
                <a:solidFill>
                  <a:srgbClr val="F8FAFC"/>
                </a:solidFill>
                <a:latin typeface="Helvetica"/>
              </a:defRPr>
            </a:pPr>
            <a:r>
              <a:t>Android Mobile Security: Current Milestone &amp; Future Real-Time</a:t>
            </a:r>
          </a:p>
        </p:txBody>
      </p:sp>
      <p:sp>
        <p:nvSpPr>
          <p:cNvPr id="6" name="Rounded Rectangle 5"/>
          <p:cNvSpPr/>
          <p:nvPr/>
        </p:nvSpPr>
        <p:spPr>
          <a:xfrm>
            <a:off x="9722815" y="438912"/>
            <a:ext cx="1737360" cy="475488"/>
          </a:xfrm>
          <a:prstGeom prst="roundRect">
            <a:avLst/>
          </a:prstGeom>
          <a:solidFill>
            <a:srgbClr val="111C33"/>
          </a:solidFill>
          <a:ln w="1270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94A3B8"/>
                </a:solidFill>
                <a:latin typeface="Arial"/>
              </a:defRPr>
            </a:pPr>
            <a:r>
              <a:t>SIH-Aegis  |  8/10</a:t>
            </a:r>
          </a:p>
        </p:txBody>
      </p:sp>
      <p:sp>
        <p:nvSpPr>
          <p:cNvPr id="7" name="Rounded Rectangle 6"/>
          <p:cNvSpPr/>
          <p:nvPr/>
        </p:nvSpPr>
        <p:spPr>
          <a:xfrm>
            <a:off x="731520" y="1463040"/>
            <a:ext cx="5230368" cy="3611880"/>
          </a:xfrm>
          <a:prstGeom prst="roundRect">
            <a:avLst/>
          </a:prstGeom>
          <a:solidFill>
            <a:srgbClr val="10261E"/>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50" b="1">
                <a:solidFill>
                  <a:srgbClr val="10B981"/>
                </a:solidFill>
                <a:latin typeface="Arial"/>
              </a:defRPr>
            </a:pPr>
            <a:r>
              <a:t>CURRENT VERIFIED ANDROID MILESTONE (WORKING)</a:t>
            </a:r>
          </a:p>
          <a:p>
            <a:pPr>
              <a:spcAft>
                <a:spcPts val="400"/>
              </a:spcAft>
            </a:pPr>
            <a:r>
              <a:rPr sz="950" b="1">
                <a:solidFill>
                  <a:srgbClr val="F8FAFC"/>
                </a:solidFill>
                <a:latin typeface="Arial"/>
              </a:rPr>
              <a:t>✓ Native Android Stack: </a:t>
            </a:r>
            <a:r>
              <a:rPr sz="950">
                <a:solidFill>
                  <a:srgbClr val="94A3B8"/>
                </a:solidFill>
                <a:latin typeface="Arial"/>
              </a:rPr>
              <a:t>Modern Android Studio project written purely in Kotlin with Jetpack Compose &amp; Material 3 design.</a:t>
            </a:r>
          </a:p>
          <a:p>
            <a:pPr>
              <a:spcAft>
                <a:spcPts val="400"/>
              </a:spcAft>
            </a:pPr>
            <a:r>
              <a:rPr sz="950" b="1">
                <a:solidFill>
                  <a:srgbClr val="F8FAFC"/>
                </a:solidFill>
                <a:latin typeface="Arial"/>
              </a:rPr>
              <a:t>✓ ONNX Runtime Mobile: </a:t>
            </a:r>
            <a:r>
              <a:rPr sz="950">
                <a:solidFill>
                  <a:srgbClr val="94A3B8"/>
                </a:solidFill>
                <a:latin typeface="Arial"/>
              </a:rPr>
              <a:t>Integrated onnxruntime-android dependency into Gradle build.</a:t>
            </a:r>
          </a:p>
          <a:p>
            <a:pPr>
              <a:spcAft>
                <a:spcPts val="400"/>
              </a:spcAft>
            </a:pPr>
            <a:r>
              <a:rPr sz="950" b="1">
                <a:solidFill>
                  <a:srgbClr val="F8FAFC"/>
                </a:solidFill>
                <a:latin typeface="Arial"/>
              </a:rPr>
              <a:t>✓ Model Asset Loading: </a:t>
            </a:r>
            <a:r>
              <a:rPr sz="950">
                <a:solidFill>
                  <a:srgbClr val="94A3B8"/>
                </a:solidFill>
                <a:latin typeface="Arial"/>
              </a:rPr>
              <a:t>Bundled AASIST ONNX model into app assets; verified successful initialization and in-memory session loading.</a:t>
            </a:r>
          </a:p>
          <a:p>
            <a:pPr>
              <a:spcAft>
                <a:spcPts val="400"/>
              </a:spcAft>
            </a:pPr>
            <a:r>
              <a:rPr sz="950" b="1">
                <a:solidFill>
                  <a:srgbClr val="F8FAFC"/>
                </a:solidFill>
                <a:latin typeface="Arial"/>
              </a:rPr>
              <a:t>✓ UI State Machine: </a:t>
            </a:r>
            <a:r>
              <a:rPr sz="950">
                <a:solidFill>
                  <a:srgbClr val="94A3B8"/>
                </a:solidFill>
                <a:latin typeface="Arial"/>
              </a:rPr>
              <a:t>Built dynamic reactive Compose UI supporting 5 distinct states: READY → LISTENING → ANALYZING → BONAFIDE → SPOOF.</a:t>
            </a:r>
          </a:p>
          <a:p>
            <a:pPr>
              <a:spcAft>
                <a:spcPts val="400"/>
              </a:spcAft>
            </a:pPr>
            <a:r>
              <a:rPr sz="950" b="1">
                <a:solidFill>
                  <a:srgbClr val="F8FAFC"/>
                </a:solidFill>
                <a:latin typeface="Arial"/>
              </a:rPr>
              <a:t>✓ Current Integration Target: </a:t>
            </a:r>
            <a:r>
              <a:rPr sz="950">
                <a:solidFill>
                  <a:srgbClr val="94A3B8"/>
                </a:solidFill>
                <a:latin typeface="Arial"/>
              </a:rPr>
              <a:t>Audio file upload-based inference pipeline currently under active integration for demonstration.</a:t>
            </a:r>
          </a:p>
        </p:txBody>
      </p:sp>
      <p:sp>
        <p:nvSpPr>
          <p:cNvPr id="8" name="Rounded Rectangle 7"/>
          <p:cNvSpPr/>
          <p:nvPr/>
        </p:nvSpPr>
        <p:spPr>
          <a:xfrm>
            <a:off x="6217920" y="1463040"/>
            <a:ext cx="5230368" cy="361188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50" b="1">
                <a:solidFill>
                  <a:srgbClr val="00D2FF"/>
                </a:solidFill>
                <a:latin typeface="Arial"/>
              </a:defRPr>
            </a:pPr>
            <a:r>
              <a:t>FUTURE MOBILE STREAMING PIPELINE (ROADMAP)</a:t>
            </a:r>
          </a:p>
          <a:p>
            <a:pPr>
              <a:spcAft>
                <a:spcPts val="400"/>
              </a:spcAft>
            </a:pPr>
            <a:r>
              <a:rPr sz="950" b="1">
                <a:solidFill>
                  <a:srgbClr val="F8FAFC"/>
                </a:solidFill>
                <a:latin typeface="Arial"/>
              </a:rPr>
              <a:t>→ Microphone Audio Capture: </a:t>
            </a:r>
            <a:r>
              <a:rPr sz="950">
                <a:solidFill>
                  <a:srgbClr val="94A3B8"/>
                </a:solidFill>
                <a:latin typeface="Arial"/>
              </a:rPr>
              <a:t>Streaming PCM audio buffer capture via Android AudioRecord API.</a:t>
            </a:r>
          </a:p>
          <a:p>
            <a:pPr>
              <a:spcAft>
                <a:spcPts val="400"/>
              </a:spcAft>
            </a:pPr>
            <a:r>
              <a:rPr sz="950" b="1">
                <a:solidFill>
                  <a:srgbClr val="F8FAFC"/>
                </a:solidFill>
                <a:latin typeface="Arial"/>
              </a:rPr>
              <a:t>→ Sliding Window Chunking: </a:t>
            </a:r>
            <a:r>
              <a:rPr sz="950">
                <a:solidFill>
                  <a:srgbClr val="94A3B8"/>
                </a:solidFill>
                <a:latin typeface="Arial"/>
              </a:rPr>
              <a:t>Slicing live speech into overlapping 2 to 3-second acoustic evaluation windows.</a:t>
            </a:r>
          </a:p>
          <a:p>
            <a:pPr>
              <a:spcAft>
                <a:spcPts val="400"/>
              </a:spcAft>
            </a:pPr>
            <a:r>
              <a:rPr sz="950" b="1">
                <a:solidFill>
                  <a:srgbClr val="F8FAFC"/>
                </a:solidFill>
                <a:latin typeface="Arial"/>
              </a:rPr>
              <a:t>→ On-Device Preprocessing: </a:t>
            </a:r>
            <a:r>
              <a:rPr sz="950">
                <a:solidFill>
                  <a:srgbClr val="94A3B8"/>
                </a:solidFill>
                <a:latin typeface="Arial"/>
              </a:rPr>
              <a:t>Native lightweight FFT Log-Mel extraction on Android CPU/NPU.</a:t>
            </a:r>
          </a:p>
          <a:p>
            <a:pPr>
              <a:spcAft>
                <a:spcPts val="400"/>
              </a:spcAft>
            </a:pPr>
            <a:r>
              <a:rPr sz="950" b="1">
                <a:solidFill>
                  <a:srgbClr val="F8FAFC"/>
                </a:solidFill>
                <a:latin typeface="Arial"/>
              </a:rPr>
              <a:t>→ Low-Latency Inference: </a:t>
            </a:r>
            <a:r>
              <a:rPr sz="950">
                <a:solidFill>
                  <a:srgbClr val="94A3B8"/>
                </a:solidFill>
                <a:latin typeface="Arial"/>
              </a:rPr>
              <a:t>Executing our 97.9k parameter CNN with sub-50ms latency using ONNX Runtime NNAPI accelerator.</a:t>
            </a:r>
          </a:p>
          <a:p>
            <a:pPr>
              <a:spcAft>
                <a:spcPts val="400"/>
              </a:spcAft>
            </a:pPr>
            <a:r>
              <a:rPr sz="950" b="1">
                <a:solidFill>
                  <a:srgbClr val="F8FAFC"/>
                </a:solidFill>
                <a:latin typeface="Arial"/>
              </a:rPr>
              <a:t>→ Real-Time Visual Overlay: </a:t>
            </a:r>
            <a:r>
              <a:rPr sz="950">
                <a:solidFill>
                  <a:srgbClr val="94A3B8"/>
                </a:solidFill>
                <a:latin typeface="Arial"/>
              </a:rPr>
              <a:t>Live visual security indicator alerting user during active audio calls.</a:t>
            </a:r>
          </a:p>
        </p:txBody>
      </p:sp>
      <p:sp>
        <p:nvSpPr>
          <p:cNvPr id="9" name="Rounded Rectangle 8"/>
          <p:cNvSpPr/>
          <p:nvPr/>
        </p:nvSpPr>
        <p:spPr>
          <a:xfrm>
            <a:off x="731520" y="5212080"/>
            <a:ext cx="10728655" cy="1188720"/>
          </a:xfrm>
          <a:prstGeom prst="roundRect">
            <a:avLst/>
          </a:prstGeom>
          <a:solidFill>
            <a:srgbClr val="2D230F"/>
          </a:solidFill>
          <a:ln w="1524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28016"/>
          <a:lstStyle/>
          <a:p>
            <a:pPr algn="ctr">
              <a:spcAft>
                <a:spcPts val="300"/>
              </a:spcAft>
              <a:defRPr sz="1050" b="1">
                <a:solidFill>
                  <a:srgbClr val="F59E0B"/>
                </a:solidFill>
                <a:latin typeface="Arial"/>
              </a:defRPr>
            </a:pPr>
            <a:r>
              <a:t>EXPLICIT OPERATING SYSTEM &amp; SECURITY BOUNDARY NOTICE</a:t>
            </a:r>
          </a:p>
          <a:p>
            <a:pPr>
              <a:spcAft>
                <a:spcPts val="200"/>
              </a:spcAft>
            </a:pPr>
            <a:r>
              <a:rPr sz="950" b="1">
                <a:solidFill>
                  <a:srgbClr val="F8FAFC"/>
                </a:solidFill>
                <a:latin typeface="Arial"/>
              </a:rPr>
              <a:t>⚠ No False Claims on Cellular Interception: </a:t>
            </a:r>
            <a:r>
              <a:rPr sz="950">
                <a:solidFill>
                  <a:srgbClr val="94A3B8"/>
                </a:solidFill>
                <a:latin typeface="Arial"/>
              </a:rPr>
              <a:t>Standard third-party Android applications CANNOT arbitrarily record cellular phone calls due to Android Scoped Storage and accessibility privacy restrictions introduced in Android 10+.</a:t>
            </a:r>
          </a:p>
          <a:p>
            <a:pPr>
              <a:spcAft>
                <a:spcPts val="200"/>
              </a:spcAft>
            </a:pPr>
            <a:r>
              <a:rPr sz="950" b="1">
                <a:solidFill>
                  <a:srgbClr val="F8FAFC"/>
                </a:solidFill>
                <a:latin typeface="Arial"/>
              </a:rPr>
              <a:t>⚠ Our Realistic Target Architecture: </a:t>
            </a:r>
            <a:r>
              <a:rPr sz="950">
                <a:solidFill>
                  <a:srgbClr val="94A3B8"/>
                </a:solidFill>
                <a:latin typeface="Arial"/>
              </a:rPr>
              <a:t>SIH-Aegis targets VoIP applications, messaging voice notes, consented recording workflows, enterprise customer support integrations, and Telecom SDK partnerships.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858000" cy="274320"/>
          </a:xfrm>
          <a:prstGeom prst="rect">
            <a:avLst/>
          </a:prstGeom>
          <a:noFill/>
        </p:spPr>
        <p:txBody>
          <a:bodyPr wrap="square" lIns="0" tIns="0" rIns="0" bIns="0">
            <a:spAutoFit/>
          </a:bodyPr>
          <a:lstStyle/>
          <a:p>
            <a:pPr>
              <a:defRPr sz="950" b="1">
                <a:solidFill>
                  <a:srgbClr val="00D2FF"/>
                </a:solidFill>
                <a:latin typeface="Arial"/>
              </a:defRPr>
            </a:pPr>
            <a:r>
              <a:t>SMART INDIA HACKATHON 2026  ·  DATA STRATEGY</a:t>
            </a:r>
          </a:p>
        </p:txBody>
      </p:sp>
      <p:sp>
        <p:nvSpPr>
          <p:cNvPr id="5" name="TextBox 4"/>
          <p:cNvSpPr txBox="1"/>
          <p:nvPr/>
        </p:nvSpPr>
        <p:spPr>
          <a:xfrm>
            <a:off x="731520" y="713232"/>
            <a:ext cx="8961120" cy="640080"/>
          </a:xfrm>
          <a:prstGeom prst="rect">
            <a:avLst/>
          </a:prstGeom>
          <a:noFill/>
        </p:spPr>
        <p:txBody>
          <a:bodyPr wrap="square" lIns="0" tIns="0" rIns="0" bIns="0">
            <a:spAutoFit/>
          </a:bodyPr>
          <a:lstStyle/>
          <a:p>
            <a:pPr>
              <a:defRPr sz="2100" b="1">
                <a:solidFill>
                  <a:srgbClr val="F8FAFC"/>
                </a:solidFill>
                <a:latin typeface="Helvetica"/>
              </a:defRPr>
            </a:pPr>
            <a:r>
              <a:t>Engineering &amp; Data Strategy: Designed for the Real World</a:t>
            </a:r>
          </a:p>
        </p:txBody>
      </p:sp>
      <p:sp>
        <p:nvSpPr>
          <p:cNvPr id="6" name="Rounded Rectangle 5"/>
          <p:cNvSpPr/>
          <p:nvPr/>
        </p:nvSpPr>
        <p:spPr>
          <a:xfrm>
            <a:off x="9722815" y="438912"/>
            <a:ext cx="1737360" cy="475488"/>
          </a:xfrm>
          <a:prstGeom prst="roundRect">
            <a:avLst/>
          </a:prstGeom>
          <a:solidFill>
            <a:srgbClr val="111C33"/>
          </a:solidFill>
          <a:ln w="1270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94A3B8"/>
                </a:solidFill>
                <a:latin typeface="Arial"/>
              </a:defRPr>
            </a:pPr>
            <a:r>
              <a:t>SIH-Aegis  |  9/10</a:t>
            </a:r>
          </a:p>
        </p:txBody>
      </p:sp>
      <p:sp>
        <p:nvSpPr>
          <p:cNvPr id="7" name="TextBox 6"/>
          <p:cNvSpPr txBox="1"/>
          <p:nvPr/>
        </p:nvSpPr>
        <p:spPr>
          <a:xfrm>
            <a:off x="731520" y="1371600"/>
            <a:ext cx="10698480" cy="274320"/>
          </a:xfrm>
          <a:prstGeom prst="rect">
            <a:avLst/>
          </a:prstGeom>
          <a:noFill/>
        </p:spPr>
        <p:txBody>
          <a:bodyPr wrap="square" lIns="0" tIns="0" rIns="0" bIns="0">
            <a:spAutoFit/>
          </a:bodyPr>
          <a:lstStyle/>
          <a:p>
            <a:pPr>
              <a:defRPr sz="1050" b="1">
                <a:solidFill>
                  <a:srgbClr val="EF4444"/>
                </a:solidFill>
                <a:latin typeface="Arial"/>
              </a:defRPr>
            </a:pPr>
            <a:r>
              <a:t>FOUR REAL-WORLD GENERALIZATION CHALLENGES</a:t>
            </a:r>
          </a:p>
        </p:txBody>
      </p:sp>
      <p:sp>
        <p:nvSpPr>
          <p:cNvPr id="8" name="Rounded Rectangle 7"/>
          <p:cNvSpPr/>
          <p:nvPr/>
        </p:nvSpPr>
        <p:spPr>
          <a:xfrm>
            <a:off x="731520" y="1691640"/>
            <a:ext cx="2542032" cy="1645920"/>
          </a:xfrm>
          <a:prstGeom prst="roundRect">
            <a:avLst/>
          </a:prstGeom>
          <a:solidFill>
            <a:srgbClr val="2D141C"/>
          </a:solidFill>
          <a:ln w="15240">
            <a:solidFill>
              <a:srgbClr val="7F1D1D"/>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46304"/>
          <a:lstStyle/>
          <a:p>
            <a:pPr algn="ctr">
              <a:spcAft>
                <a:spcPts val="400"/>
              </a:spcAft>
              <a:defRPr sz="1000" b="1">
                <a:solidFill>
                  <a:srgbClr val="EF4444"/>
                </a:solidFill>
                <a:latin typeface="Arial"/>
              </a:defRPr>
            </a:pPr>
            <a:r>
              <a:t>DATASET MISMATCH</a:t>
            </a:r>
          </a:p>
          <a:p>
            <a:pPr>
              <a:defRPr sz="900">
                <a:solidFill>
                  <a:srgbClr val="94A3B8"/>
                </a:solidFill>
                <a:latin typeface="Arial"/>
              </a:defRPr>
            </a:pPr>
            <a:r>
              <a:t>Academic datasets (ASVspoof) feature mostly Western studio voices, lacking Indian accents, regional dialects, and colloquial rhythms.</a:t>
            </a:r>
          </a:p>
        </p:txBody>
      </p:sp>
      <p:sp>
        <p:nvSpPr>
          <p:cNvPr id="9" name="Rounded Rectangle 8"/>
          <p:cNvSpPr/>
          <p:nvPr/>
        </p:nvSpPr>
        <p:spPr>
          <a:xfrm>
            <a:off x="3456432" y="1691640"/>
            <a:ext cx="2542032" cy="1645920"/>
          </a:xfrm>
          <a:prstGeom prst="roundRect">
            <a:avLst/>
          </a:prstGeom>
          <a:solidFill>
            <a:srgbClr val="2D141C"/>
          </a:solidFill>
          <a:ln w="15240">
            <a:solidFill>
              <a:srgbClr val="7F1D1D"/>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46304"/>
          <a:lstStyle/>
          <a:p>
            <a:pPr algn="ctr">
              <a:spcAft>
                <a:spcPts val="400"/>
              </a:spcAft>
              <a:defRPr sz="1000" b="1">
                <a:solidFill>
                  <a:srgbClr val="EF4444"/>
                </a:solidFill>
                <a:latin typeface="Arial"/>
              </a:defRPr>
            </a:pPr>
            <a:r>
              <a:t>ACOUSTIC NOISE</a:t>
            </a:r>
          </a:p>
          <a:p>
            <a:pPr>
              <a:defRPr sz="900">
                <a:solidFill>
                  <a:srgbClr val="94A3B8"/>
                </a:solidFill>
                <a:latin typeface="Arial"/>
              </a:defRPr>
            </a:pPr>
            <a:r>
              <a:t>Real calls occur in traffic, crowded rooms, and near ceiling fans. Acoustic noise creates false spectral anomalies.</a:t>
            </a:r>
          </a:p>
        </p:txBody>
      </p:sp>
      <p:sp>
        <p:nvSpPr>
          <p:cNvPr id="10" name="Rounded Rectangle 9"/>
          <p:cNvSpPr/>
          <p:nvPr/>
        </p:nvSpPr>
        <p:spPr>
          <a:xfrm>
            <a:off x="6181344" y="1691640"/>
            <a:ext cx="2542032" cy="1645920"/>
          </a:xfrm>
          <a:prstGeom prst="roundRect">
            <a:avLst/>
          </a:prstGeom>
          <a:solidFill>
            <a:srgbClr val="2D141C"/>
          </a:solidFill>
          <a:ln w="15240">
            <a:solidFill>
              <a:srgbClr val="7F1D1D"/>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46304"/>
          <a:lstStyle/>
          <a:p>
            <a:pPr algn="ctr">
              <a:spcAft>
                <a:spcPts val="400"/>
              </a:spcAft>
              <a:defRPr sz="1000" b="1">
                <a:solidFill>
                  <a:srgbClr val="EF4444"/>
                </a:solidFill>
                <a:latin typeface="Arial"/>
              </a:defRPr>
            </a:pPr>
            <a:r>
              <a:t>DEVICE &amp; CODEC DRIFT</a:t>
            </a:r>
          </a:p>
          <a:p>
            <a:pPr>
              <a:defRPr sz="900">
                <a:solidFill>
                  <a:srgbClr val="94A3B8"/>
                </a:solidFill>
                <a:latin typeface="Arial"/>
              </a:defRPr>
            </a:pPr>
            <a:r>
              <a:t>Telecom codecs (AMR-NB, GSM, Opus) strip high frequencies, altering the acoustic signature seen by models.</a:t>
            </a:r>
          </a:p>
        </p:txBody>
      </p:sp>
      <p:sp>
        <p:nvSpPr>
          <p:cNvPr id="11" name="Rounded Rectangle 10"/>
          <p:cNvSpPr/>
          <p:nvPr/>
        </p:nvSpPr>
        <p:spPr>
          <a:xfrm>
            <a:off x="8906256" y="1691640"/>
            <a:ext cx="2542032" cy="1645920"/>
          </a:xfrm>
          <a:prstGeom prst="roundRect">
            <a:avLst/>
          </a:prstGeom>
          <a:solidFill>
            <a:srgbClr val="2D141C"/>
          </a:solidFill>
          <a:ln w="15240">
            <a:solidFill>
              <a:srgbClr val="7F1D1D"/>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46304"/>
          <a:lstStyle/>
          <a:p>
            <a:pPr algn="ctr">
              <a:spcAft>
                <a:spcPts val="400"/>
              </a:spcAft>
              <a:defRPr sz="1000" b="1">
                <a:solidFill>
                  <a:srgbClr val="EF4444"/>
                </a:solidFill>
                <a:latin typeface="Arial"/>
              </a:defRPr>
            </a:pPr>
            <a:r>
              <a:t>UNSEEN TTS ENGINES</a:t>
            </a:r>
          </a:p>
          <a:p>
            <a:pPr>
              <a:defRPr sz="900">
                <a:solidFill>
                  <a:srgbClr val="94A3B8"/>
                </a:solidFill>
                <a:latin typeface="Arial"/>
              </a:defRPr>
            </a:pPr>
            <a:r>
              <a:t>Commercial voice synthesizers evolve weekly. A model that memorizes one vocoder fails against new cloning architectures.</a:t>
            </a:r>
          </a:p>
        </p:txBody>
      </p:sp>
      <p:sp>
        <p:nvSpPr>
          <p:cNvPr id="12" name="TextBox 11"/>
          <p:cNvSpPr txBox="1"/>
          <p:nvPr/>
        </p:nvSpPr>
        <p:spPr>
          <a:xfrm>
            <a:off x="731520" y="3474720"/>
            <a:ext cx="10698480" cy="274320"/>
          </a:xfrm>
          <a:prstGeom prst="rect">
            <a:avLst/>
          </a:prstGeom>
          <a:noFill/>
        </p:spPr>
        <p:txBody>
          <a:bodyPr wrap="square" lIns="0" tIns="0" rIns="0" bIns="0">
            <a:spAutoFit/>
          </a:bodyPr>
          <a:lstStyle/>
          <a:p>
            <a:pPr>
              <a:defRPr sz="1050" b="1">
                <a:solidFill>
                  <a:srgbClr val="10B981"/>
                </a:solidFill>
                <a:latin typeface="Arial"/>
              </a:defRPr>
            </a:pPr>
            <a:r>
              <a:t>SIH-AEGIS STRATEGIC COUNTERMEASURES &amp; DATA PIPELINE</a:t>
            </a:r>
          </a:p>
        </p:txBody>
      </p:sp>
      <p:sp>
        <p:nvSpPr>
          <p:cNvPr id="13" name="Rounded Rectangle 12"/>
          <p:cNvSpPr/>
          <p:nvPr/>
        </p:nvSpPr>
        <p:spPr>
          <a:xfrm>
            <a:off x="731520" y="3794760"/>
            <a:ext cx="2542032" cy="2103120"/>
          </a:xfrm>
          <a:prstGeom prst="roundRect">
            <a:avLst/>
          </a:prstGeom>
          <a:solidFill>
            <a:srgbClr val="10261E"/>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46304"/>
          <a:lstStyle/>
          <a:p>
            <a:pPr algn="ctr">
              <a:spcAft>
                <a:spcPts val="400"/>
              </a:spcAft>
              <a:defRPr sz="1000" b="1">
                <a:solidFill>
                  <a:srgbClr val="10B981"/>
                </a:solidFill>
                <a:latin typeface="Arial"/>
              </a:defRPr>
            </a:pPr>
            <a:r>
              <a:t>REPRESENTATIVE INDIAN DATA</a:t>
            </a:r>
          </a:p>
          <a:p>
            <a:pPr>
              <a:defRPr sz="900">
                <a:solidFill>
                  <a:srgbClr val="94A3B8"/>
                </a:solidFill>
                <a:latin typeface="Arial"/>
              </a:defRPr>
            </a:pPr>
            <a:r>
              <a:t>Compiling genuine speech across Indian English, Hindi, and regional languages to eliminate geographical demographic bias.</a:t>
            </a:r>
          </a:p>
        </p:txBody>
      </p:sp>
      <p:sp>
        <p:nvSpPr>
          <p:cNvPr id="14" name="Rounded Rectangle 13"/>
          <p:cNvSpPr/>
          <p:nvPr/>
        </p:nvSpPr>
        <p:spPr>
          <a:xfrm>
            <a:off x="3456432" y="3794760"/>
            <a:ext cx="2542032" cy="2103120"/>
          </a:xfrm>
          <a:prstGeom prst="roundRect">
            <a:avLst/>
          </a:prstGeom>
          <a:solidFill>
            <a:srgbClr val="10261E"/>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46304"/>
          <a:lstStyle/>
          <a:p>
            <a:pPr algn="ctr">
              <a:spcAft>
                <a:spcPts val="400"/>
              </a:spcAft>
              <a:defRPr sz="1000" b="1">
                <a:solidFill>
                  <a:srgbClr val="10B981"/>
                </a:solidFill>
                <a:latin typeface="Arial"/>
              </a:defRPr>
            </a:pPr>
            <a:r>
              <a:t>MULTI-GENERATOR SYNTHESIS</a:t>
            </a:r>
          </a:p>
          <a:p>
            <a:pPr>
              <a:defRPr sz="900">
                <a:solidFill>
                  <a:srgbClr val="94A3B8"/>
                </a:solidFill>
                <a:latin typeface="Arial"/>
              </a:defRPr>
            </a:pPr>
            <a:r>
              <a:t>Training with synthetic speech from multiple diverse TTS families: diffusion, autoregressive, and GAN vocoders (Bark, XTTS, ElevenLabs).</a:t>
            </a:r>
          </a:p>
        </p:txBody>
      </p:sp>
      <p:sp>
        <p:nvSpPr>
          <p:cNvPr id="15" name="Rounded Rectangle 14"/>
          <p:cNvSpPr/>
          <p:nvPr/>
        </p:nvSpPr>
        <p:spPr>
          <a:xfrm>
            <a:off x="6181344" y="3794760"/>
            <a:ext cx="2542032" cy="2103120"/>
          </a:xfrm>
          <a:prstGeom prst="roundRect">
            <a:avLst/>
          </a:prstGeom>
          <a:solidFill>
            <a:srgbClr val="10261E"/>
          </a:solidFill>
          <a:ln w="15240">
            <a:solidFill>
              <a:srgbClr val="065F46"/>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46304"/>
          <a:lstStyle/>
          <a:p>
            <a:pPr algn="ctr">
              <a:spcAft>
                <a:spcPts val="400"/>
              </a:spcAft>
              <a:defRPr sz="1000" b="1">
                <a:solidFill>
                  <a:srgbClr val="10B981"/>
                </a:solidFill>
                <a:latin typeface="Arial"/>
              </a:defRPr>
            </a:pPr>
            <a:r>
              <a:t>ACOUSTIC AUGMENTATIONS</a:t>
            </a:r>
          </a:p>
          <a:p>
            <a:pPr>
              <a:defRPr sz="900">
                <a:solidFill>
                  <a:srgbClr val="94A3B8"/>
                </a:solidFill>
                <a:latin typeface="Arial"/>
              </a:defRPr>
            </a:pPr>
            <a:r>
              <a:t>Injecting room impulse responses, background environmental noise, and lossy codec simulations during training to ensure noise invariance.</a:t>
            </a:r>
          </a:p>
        </p:txBody>
      </p:sp>
      <p:sp>
        <p:nvSpPr>
          <p:cNvPr id="16" name="Rounded Rectangle 15"/>
          <p:cNvSpPr/>
          <p:nvPr/>
        </p:nvSpPr>
        <p:spPr>
          <a:xfrm>
            <a:off x="8906256" y="3794760"/>
            <a:ext cx="2542032" cy="2103120"/>
          </a:xfrm>
          <a:prstGeom prst="roundRect">
            <a:avLst/>
          </a:prstGeom>
          <a:solidFill>
            <a:srgbClr val="111C33"/>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t" wrap="square" lIns="164592" rIns="164592" tIns="146304"/>
          <a:lstStyle/>
          <a:p>
            <a:pPr algn="ctr">
              <a:spcAft>
                <a:spcPts val="400"/>
              </a:spcAft>
              <a:defRPr sz="1000" b="1">
                <a:solidFill>
                  <a:srgbClr val="00D2FF"/>
                </a:solidFill>
                <a:latin typeface="Arial"/>
              </a:defRPr>
            </a:pPr>
            <a:r>
              <a:t>ANDROID CONSENT COLLECTOR</a:t>
            </a:r>
          </a:p>
          <a:p>
            <a:pPr>
              <a:defRPr sz="900">
                <a:solidFill>
                  <a:srgbClr val="94A3B8"/>
                </a:solidFill>
                <a:latin typeface="Arial"/>
              </a:defRPr>
            </a:pPr>
            <a:r>
              <a:t>Planned opt-in Android collection tool: collects 5-10s labeled samples with strict privacy-by-design, isolated metadata, and user consent.</a:t>
            </a:r>
          </a:p>
        </p:txBody>
      </p:sp>
      <p:sp>
        <p:nvSpPr>
          <p:cNvPr id="17" name="Rounded Rectangle 16"/>
          <p:cNvSpPr/>
          <p:nvPr/>
        </p:nvSpPr>
        <p:spPr>
          <a:xfrm>
            <a:off x="731520" y="5989320"/>
            <a:ext cx="10728655" cy="50292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950" b="1">
                <a:solidFill>
                  <a:srgbClr val="F8FAFC"/>
                </a:solidFill>
                <a:latin typeface="Arial"/>
              </a:defRPr>
            </a:pPr>
            <a:r>
              <a:t>PRIVACY-BY-DESIGN: Voice is biometric data. Collected samples require explicit user opt-in, store no personally identifiable information (PII), use isolated speaker UUIDs, and feature a strict deletion policy.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0040"/>
            <a:ext cx="10728655" cy="36576"/>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6858000" cy="274320"/>
          </a:xfrm>
          <a:prstGeom prst="rect">
            <a:avLst/>
          </a:prstGeom>
          <a:noFill/>
        </p:spPr>
        <p:txBody>
          <a:bodyPr wrap="square" lIns="0" tIns="0" rIns="0" bIns="0">
            <a:spAutoFit/>
          </a:bodyPr>
          <a:lstStyle/>
          <a:p>
            <a:pPr>
              <a:defRPr sz="950" b="1">
                <a:solidFill>
                  <a:srgbClr val="00D2FF"/>
                </a:solidFill>
                <a:latin typeface="Arial"/>
              </a:defRPr>
            </a:pPr>
            <a:r>
              <a:t>SMART INDIA HACKATHON 2026  ·  IMPACT &amp; ROADMAP</a:t>
            </a:r>
          </a:p>
        </p:txBody>
      </p:sp>
      <p:sp>
        <p:nvSpPr>
          <p:cNvPr id="5" name="TextBox 4"/>
          <p:cNvSpPr txBox="1"/>
          <p:nvPr/>
        </p:nvSpPr>
        <p:spPr>
          <a:xfrm>
            <a:off x="731520" y="713232"/>
            <a:ext cx="8961120" cy="640080"/>
          </a:xfrm>
          <a:prstGeom prst="rect">
            <a:avLst/>
          </a:prstGeom>
          <a:noFill/>
        </p:spPr>
        <p:txBody>
          <a:bodyPr wrap="square" lIns="0" tIns="0" rIns="0" bIns="0">
            <a:spAutoFit/>
          </a:bodyPr>
          <a:lstStyle/>
          <a:p>
            <a:pPr>
              <a:defRPr sz="2100" b="1">
                <a:solidFill>
                  <a:srgbClr val="F8FAFC"/>
                </a:solidFill>
                <a:latin typeface="Helvetica"/>
              </a:defRPr>
            </a:pPr>
            <a:r>
              <a:t>Measurable Impact, Market Viability &amp; Technical Roadmap</a:t>
            </a:r>
          </a:p>
        </p:txBody>
      </p:sp>
      <p:sp>
        <p:nvSpPr>
          <p:cNvPr id="6" name="Rounded Rectangle 5"/>
          <p:cNvSpPr/>
          <p:nvPr/>
        </p:nvSpPr>
        <p:spPr>
          <a:xfrm>
            <a:off x="9722815" y="438912"/>
            <a:ext cx="1737360" cy="475488"/>
          </a:xfrm>
          <a:prstGeom prst="roundRect">
            <a:avLst/>
          </a:prstGeom>
          <a:solidFill>
            <a:srgbClr val="111C33"/>
          </a:solidFill>
          <a:ln w="1270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94A3B8"/>
                </a:solidFill>
                <a:latin typeface="Arial"/>
              </a:defRPr>
            </a:pPr>
            <a:r>
              <a:t>SIH-Aegis  |  10/10</a:t>
            </a:r>
          </a:p>
        </p:txBody>
      </p:sp>
      <p:sp>
        <p:nvSpPr>
          <p:cNvPr id="7" name="Rounded Rectangle 6"/>
          <p:cNvSpPr/>
          <p:nvPr/>
        </p:nvSpPr>
        <p:spPr>
          <a:xfrm>
            <a:off x="731520" y="1463040"/>
            <a:ext cx="5230368" cy="393192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50" b="1">
                <a:solidFill>
                  <a:srgbClr val="00D2FF"/>
                </a:solidFill>
                <a:latin typeface="Arial"/>
              </a:defRPr>
            </a:pPr>
            <a:r>
              <a:t>COMMERCIAL APPLICATION &amp; SECURITY VALUE</a:t>
            </a:r>
          </a:p>
          <a:p>
            <a:pPr>
              <a:spcAft>
                <a:spcPts val="500"/>
              </a:spcAft>
            </a:pPr>
            <a:r>
              <a:rPr sz="950" b="1">
                <a:solidFill>
                  <a:srgbClr val="F8FAFC"/>
                </a:solidFill>
                <a:latin typeface="Arial"/>
              </a:rPr>
              <a:t>• Banking &amp; Financial Services: </a:t>
            </a:r>
            <a:r>
              <a:rPr sz="950">
                <a:solidFill>
                  <a:srgbClr val="94A3B8"/>
                </a:solidFill>
                <a:latin typeface="Arial"/>
              </a:rPr>
              <a:t>Real-time verification of high-value verbal transaction authorizations, wire-transfer verifications, and voice-assisted banking bots.</a:t>
            </a:r>
          </a:p>
          <a:p>
            <a:pPr>
              <a:spcAft>
                <a:spcPts val="500"/>
              </a:spcAft>
            </a:pPr>
            <a:r>
              <a:rPr sz="950" b="1">
                <a:solidFill>
                  <a:srgbClr val="F8FAFC"/>
                </a:solidFill>
                <a:latin typeface="Arial"/>
              </a:rPr>
              <a:t>• Remote KYC &amp; Identity Verification: </a:t>
            </a:r>
            <a:r>
              <a:rPr sz="950">
                <a:solidFill>
                  <a:srgbClr val="94A3B8"/>
                </a:solidFill>
                <a:latin typeface="Arial"/>
              </a:rPr>
              <a:t>Anti-injection shield for government and commercial video-KYC queues, ensuring the applicant is speaking live.</a:t>
            </a:r>
          </a:p>
          <a:p>
            <a:pPr>
              <a:spcAft>
                <a:spcPts val="500"/>
              </a:spcAft>
            </a:pPr>
            <a:r>
              <a:rPr sz="950" b="1">
                <a:solidFill>
                  <a:srgbClr val="F8FAFC"/>
                </a:solidFill>
                <a:latin typeface="Arial"/>
              </a:rPr>
              <a:t>• Enterprise Call Centers &amp; BPOs: </a:t>
            </a:r>
            <a:r>
              <a:rPr sz="950">
                <a:solidFill>
                  <a:srgbClr val="94A3B8"/>
                </a:solidFill>
                <a:latin typeface="Arial"/>
              </a:rPr>
              <a:t>Inbound call protection preventing social-engineering attacks against customer service agents and IT helpdesks.</a:t>
            </a:r>
          </a:p>
          <a:p>
            <a:pPr>
              <a:spcAft>
                <a:spcPts val="500"/>
              </a:spcAft>
            </a:pPr>
            <a:r>
              <a:rPr sz="950" b="1">
                <a:solidFill>
                  <a:srgbClr val="F8FAFC"/>
                </a:solidFill>
                <a:latin typeface="Arial"/>
              </a:rPr>
              <a:t>• Citizen Defense &amp; Public Safety: </a:t>
            </a:r>
            <a:r>
              <a:rPr sz="950">
                <a:solidFill>
                  <a:srgbClr val="94A3B8"/>
                </a:solidFill>
                <a:latin typeface="Arial"/>
              </a:rPr>
              <a:t>Empowering telecom users and families with instant threat alerts against urgent extortion, fake kidnapping, and synthetic distress calls.</a:t>
            </a:r>
          </a:p>
        </p:txBody>
      </p:sp>
      <p:sp>
        <p:nvSpPr>
          <p:cNvPr id="8" name="Rounded Rectangle 7"/>
          <p:cNvSpPr/>
          <p:nvPr/>
        </p:nvSpPr>
        <p:spPr>
          <a:xfrm>
            <a:off x="6217920" y="1463040"/>
            <a:ext cx="5230368" cy="3931920"/>
          </a:xfrm>
          <a:prstGeom prst="roundRect">
            <a:avLst/>
          </a:prstGeom>
          <a:solidFill>
            <a:srgbClr val="111C33"/>
          </a:solidFill>
          <a:ln w="15240">
            <a:solidFill>
              <a:srgbClr val="1E2E4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150" b="1">
                <a:solidFill>
                  <a:srgbClr val="10B981"/>
                </a:solidFill>
                <a:latin typeface="Arial"/>
              </a:defRPr>
            </a:pPr>
            <a:r>
              <a:t>PHASED DEVELOPMENT &amp; DEPLOYMENT ROADMAP</a:t>
            </a:r>
          </a:p>
          <a:p>
            <a:pPr>
              <a:spcAft>
                <a:spcPts val="500"/>
              </a:spcAft>
            </a:pPr>
            <a:r>
              <a:rPr sz="950" b="1">
                <a:solidFill>
                  <a:srgbClr val="10B981"/>
                </a:solidFill>
                <a:latin typeface="Arial"/>
              </a:rPr>
              <a:t>✓ PHASE 1 (COMPLETED): </a:t>
            </a:r>
            <a:r>
              <a:rPr sz="950">
                <a:solidFill>
                  <a:srgbClr val="94A3B8"/>
                </a:solidFill>
                <a:latin typeface="Arial"/>
              </a:rPr>
              <a:t>Python modular prototype, AASIST ONNX export, 3.8e-06 parity verification, 97.9k CNN GPU forward pass, Streamlit UI, Android base.</a:t>
            </a:r>
          </a:p>
          <a:p>
            <a:pPr>
              <a:spcAft>
                <a:spcPts val="500"/>
              </a:spcAft>
            </a:pPr>
            <a:r>
              <a:rPr sz="950" b="1">
                <a:solidFill>
                  <a:srgbClr val="F59E0B"/>
                </a:solidFill>
                <a:latin typeface="Arial"/>
              </a:rPr>
              <a:t>→ PHASE 2 (IN PROGRESS): </a:t>
            </a:r>
            <a:r>
              <a:rPr sz="950">
                <a:solidFill>
                  <a:srgbClr val="94A3B8"/>
                </a:solidFill>
                <a:latin typeface="Arial"/>
              </a:rPr>
              <a:t>Indian accent + multi-generator dataset compilation, CNN model training and validation, Android upload-based inference path.</a:t>
            </a:r>
          </a:p>
          <a:p>
            <a:pPr>
              <a:spcAft>
                <a:spcPts val="500"/>
              </a:spcAft>
            </a:pPr>
            <a:r>
              <a:rPr sz="950" b="1">
                <a:solidFill>
                  <a:srgbClr val="00D2FF"/>
                </a:solidFill>
                <a:latin typeface="Arial"/>
              </a:rPr>
              <a:t>→ PHASE 3 (NEXT MILESTONE): </a:t>
            </a:r>
            <a:r>
              <a:rPr sz="950">
                <a:solidFill>
                  <a:srgbClr val="94A3B8"/>
                </a:solidFill>
                <a:latin typeface="Arial"/>
              </a:rPr>
              <a:t>Android microphone streaming chunker, on-device mobile inference, false-positive reduction under telephony compression.</a:t>
            </a:r>
          </a:p>
          <a:p>
            <a:pPr>
              <a:spcAft>
                <a:spcPts val="500"/>
              </a:spcAft>
            </a:pPr>
            <a:r>
              <a:rPr sz="950" b="1">
                <a:solidFill>
                  <a:srgbClr val="00D2FF"/>
                </a:solidFill>
                <a:latin typeface="Arial"/>
              </a:rPr>
              <a:t>→ PHASE 4 (PRODUCTION SCALE): </a:t>
            </a:r>
            <a:r>
              <a:rPr sz="950">
                <a:solidFill>
                  <a:srgbClr val="94A3B8"/>
                </a:solidFill>
                <a:latin typeface="Arial"/>
              </a:rPr>
              <a:t>Multi-model ensemble (AASIST + CNN), enterprise SIP trunk integration, SDK packaging, and banking API gateways.</a:t>
            </a:r>
          </a:p>
        </p:txBody>
      </p:sp>
      <p:sp>
        <p:nvSpPr>
          <p:cNvPr id="9" name="Rounded Rectangle 8"/>
          <p:cNvSpPr/>
          <p:nvPr/>
        </p:nvSpPr>
        <p:spPr>
          <a:xfrm>
            <a:off x="731520" y="5532120"/>
            <a:ext cx="10728655" cy="868680"/>
          </a:xfrm>
          <a:prstGeom prst="roundRect">
            <a:avLst/>
          </a:prstGeom>
          <a:solidFill>
            <a:srgbClr val="111C33"/>
          </a:solidFill>
          <a:ln w="1524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lIns="274320"/>
          <a:lstStyle/>
          <a:p>
            <a:pPr algn="ctr">
              <a:spcAft>
                <a:spcPts val="200"/>
              </a:spcAft>
              <a:defRPr sz="950" b="1">
                <a:solidFill>
                  <a:srgbClr val="00D2FF"/>
                </a:solidFill>
                <a:latin typeface="Arial"/>
              </a:defRPr>
            </a:pPr>
            <a:r>
              <a:t>THE SIH-AEGIS PROMISE</a:t>
            </a:r>
          </a:p>
          <a:p>
            <a:pPr>
              <a:defRPr sz="1600" b="1">
                <a:solidFill>
                  <a:srgbClr val="F8FAFC"/>
                </a:solidFill>
                <a:latin typeface="Helvetica"/>
              </a:defRPr>
            </a:pPr>
            <a:r>
              <a:t>"SIH-Aegis turns voice authenticity from a trust assumption into a measurable security signal."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
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3" name="Shape 1"/>
          <p:cNvSpPr/>
          <p:nvPr/>
        </p:nvSpPr>
        <p:spPr>
          <a:xfrm>
            <a:off x="8138160" y="4663440"/>
            <a:ext cx="146304" cy="457200"/>
          </a:xfrm>
          <a:prstGeom prst="roundRect">
            <a:avLst>
              <a:gd name="adj" fmla="val 50000"/>
            </a:avLst>
          </a:prstGeom>
          <a:solidFill>
            <a:srgbClr val="00D4C8"/>
          </a:solidFill>
          <a:ln/>
        </p:spPr>
      </p:sp>
      <p:sp>
        <p:nvSpPr>
          <p:cNvPr id="4" name="Shape 2"/>
          <p:cNvSpPr/>
          <p:nvPr/>
        </p:nvSpPr>
        <p:spPr>
          <a:xfrm>
            <a:off x="8430768" y="4206240"/>
            <a:ext cx="146304" cy="914400"/>
          </a:xfrm>
          <a:prstGeom prst="roundRect">
            <a:avLst>
              <a:gd name="adj" fmla="val 50000"/>
            </a:avLst>
          </a:prstGeom>
          <a:solidFill>
            <a:srgbClr val="1E4478"/>
          </a:solidFill>
          <a:ln/>
        </p:spPr>
      </p:sp>
      <p:sp>
        <p:nvSpPr>
          <p:cNvPr id="5" name="Shape 3"/>
          <p:cNvSpPr/>
          <p:nvPr/>
        </p:nvSpPr>
        <p:spPr>
          <a:xfrm>
            <a:off x="8723376" y="4572000"/>
            <a:ext cx="146304" cy="548640"/>
          </a:xfrm>
          <a:prstGeom prst="roundRect">
            <a:avLst>
              <a:gd name="adj" fmla="val 50000"/>
            </a:avLst>
          </a:prstGeom>
          <a:solidFill>
            <a:srgbClr val="1E4478"/>
          </a:solidFill>
          <a:ln/>
        </p:spPr>
      </p:sp>
      <p:sp>
        <p:nvSpPr>
          <p:cNvPr id="6" name="Shape 4"/>
          <p:cNvSpPr/>
          <p:nvPr/>
        </p:nvSpPr>
        <p:spPr>
          <a:xfrm>
            <a:off x="9015984" y="3657600"/>
            <a:ext cx="146304" cy="1463040"/>
          </a:xfrm>
          <a:prstGeom prst="roundRect">
            <a:avLst>
              <a:gd name="adj" fmla="val 50000"/>
            </a:avLst>
          </a:prstGeom>
          <a:solidFill>
            <a:srgbClr val="00D4C8"/>
          </a:solidFill>
          <a:ln/>
        </p:spPr>
      </p:sp>
      <p:sp>
        <p:nvSpPr>
          <p:cNvPr id="7" name="Shape 5"/>
          <p:cNvSpPr/>
          <p:nvPr/>
        </p:nvSpPr>
        <p:spPr>
          <a:xfrm>
            <a:off x="9308592" y="4297680"/>
            <a:ext cx="146304" cy="822960"/>
          </a:xfrm>
          <a:prstGeom prst="roundRect">
            <a:avLst>
              <a:gd name="adj" fmla="val 50000"/>
            </a:avLst>
          </a:prstGeom>
          <a:solidFill>
            <a:srgbClr val="1E4478"/>
          </a:solidFill>
          <a:ln/>
        </p:spPr>
      </p:sp>
      <p:sp>
        <p:nvSpPr>
          <p:cNvPr id="8" name="Shape 6"/>
          <p:cNvSpPr/>
          <p:nvPr/>
        </p:nvSpPr>
        <p:spPr>
          <a:xfrm>
            <a:off x="9601200" y="3200400"/>
            <a:ext cx="146304" cy="1920240"/>
          </a:xfrm>
          <a:prstGeom prst="roundRect">
            <a:avLst>
              <a:gd name="adj" fmla="val 50000"/>
            </a:avLst>
          </a:prstGeom>
          <a:solidFill>
            <a:srgbClr val="1E4478"/>
          </a:solidFill>
          <a:ln/>
        </p:spPr>
      </p:sp>
      <p:sp>
        <p:nvSpPr>
          <p:cNvPr id="9" name="Shape 7"/>
          <p:cNvSpPr/>
          <p:nvPr/>
        </p:nvSpPr>
        <p:spPr>
          <a:xfrm>
            <a:off x="9893808" y="4114800"/>
            <a:ext cx="146304" cy="1005840"/>
          </a:xfrm>
          <a:prstGeom prst="roundRect">
            <a:avLst>
              <a:gd name="adj" fmla="val 50000"/>
            </a:avLst>
          </a:prstGeom>
          <a:solidFill>
            <a:srgbClr val="00D4C8"/>
          </a:solidFill>
          <a:ln/>
        </p:spPr>
      </p:sp>
      <p:sp>
        <p:nvSpPr>
          <p:cNvPr id="10" name="Shape 8"/>
          <p:cNvSpPr/>
          <p:nvPr/>
        </p:nvSpPr>
        <p:spPr>
          <a:xfrm>
            <a:off x="10186416" y="4480560"/>
            <a:ext cx="146304" cy="640080"/>
          </a:xfrm>
          <a:prstGeom prst="roundRect">
            <a:avLst>
              <a:gd name="adj" fmla="val 50000"/>
            </a:avLst>
          </a:prstGeom>
          <a:solidFill>
            <a:srgbClr val="1E4478"/>
          </a:solidFill>
          <a:ln/>
        </p:spPr>
      </p:sp>
      <p:sp>
        <p:nvSpPr>
          <p:cNvPr id="11" name="Shape 9"/>
          <p:cNvSpPr/>
          <p:nvPr/>
        </p:nvSpPr>
        <p:spPr>
          <a:xfrm>
            <a:off x="10479024" y="3383280"/>
            <a:ext cx="146304" cy="1737360"/>
          </a:xfrm>
          <a:prstGeom prst="roundRect">
            <a:avLst>
              <a:gd name="adj" fmla="val 50000"/>
            </a:avLst>
          </a:prstGeom>
          <a:solidFill>
            <a:srgbClr val="1E4478"/>
          </a:solidFill>
          <a:ln/>
        </p:spPr>
      </p:sp>
      <p:sp>
        <p:nvSpPr>
          <p:cNvPr id="12" name="Shape 10"/>
          <p:cNvSpPr/>
          <p:nvPr/>
        </p:nvSpPr>
        <p:spPr>
          <a:xfrm>
            <a:off x="10771632" y="4663440"/>
            <a:ext cx="146304" cy="457200"/>
          </a:xfrm>
          <a:prstGeom prst="roundRect">
            <a:avLst>
              <a:gd name="adj" fmla="val 50000"/>
            </a:avLst>
          </a:prstGeom>
          <a:solidFill>
            <a:srgbClr val="00D4C8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64240" y="3931920"/>
            <a:ext cx="146304" cy="1188720"/>
          </a:xfrm>
          <a:prstGeom prst="roundRect">
            <a:avLst>
              <a:gd name="adj" fmla="val 50000"/>
            </a:avLst>
          </a:prstGeom>
          <a:solidFill>
            <a:srgbClr val="1E4478"/>
          </a:solidFill>
          <a:ln/>
        </p:spPr>
      </p:sp>
      <p:sp>
        <p:nvSpPr>
          <p:cNvPr id="14" name="Shape 12"/>
          <p:cNvSpPr/>
          <p:nvPr/>
        </p:nvSpPr>
        <p:spPr>
          <a:xfrm>
            <a:off x="11356848" y="4389120"/>
            <a:ext cx="146304" cy="731520"/>
          </a:xfrm>
          <a:prstGeom prst="roundRect">
            <a:avLst>
              <a:gd name="adj" fmla="val 50000"/>
            </a:avLst>
          </a:prstGeom>
          <a:solidFill>
            <a:srgbClr val="1E447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0292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2026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228600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SIH-AEGIS</a:t>
            </a:r>
            <a:endParaRPr lang="en-US" sz="64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342900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Real-Time Detection and Prevention of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Cloning Impersonation Attacks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02920" y="4343400"/>
            <a:ext cx="2194560" cy="0"/>
          </a:xfrm>
          <a:prstGeom prst="line">
            <a:avLst/>
          </a:prstGeom>
          <a:noFill/>
          <a:ln w="31750">
            <a:solidFill>
              <a:srgbClr val="00D4C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02920" y="470916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ID: 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709160" y="470916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Title: 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02920" y="509320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Theme: 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709160" y="509320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Category: 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/ Hardware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547725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ID: 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709160" y="547725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Name: 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(Registered on portal)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274320" y="65105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SIH-AEGIS  |  Smart India Hackathon 2026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460175" y="651052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49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SIH-Aegis?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1556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security system that tells genuine human speech apart from AI-generated or cloned speech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649224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38100" dir="5400000">
              <a:srgbClr val="1E2A44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58952" y="2039112"/>
            <a:ext cx="82296" cy="82296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1965960"/>
            <a:ext cx="5715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SIH-Aegis analyzes a voice recording and determines whether it is genuine (human) or synthetic (AI-generated / cloned).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58952" y="2907792"/>
            <a:ext cx="82296" cy="82296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05840" y="2834640"/>
            <a:ext cx="5715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purpose is to protect people and organizations from voice-based impersonation attacks.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58952" y="3566160"/>
            <a:ext cx="82296" cy="82296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05840" y="3493008"/>
            <a:ext cx="5715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scenario: an attacker clones a manager's voice and instructs an employee, “I am your manager, transfer the money immediately.” The clone can sound completely genuine to a human ear.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58952" y="4645152"/>
            <a:ext cx="82296" cy="82296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05840" y="4572000"/>
            <a:ext cx="5715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SIH-Aegis adds a computed authenticity check where human judgement alone can no longer be trusted.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269480" y="1737360"/>
            <a:ext cx="4434840" cy="4160520"/>
          </a:xfrm>
          <a:prstGeom prst="roundRect">
            <a:avLst>
              <a:gd name="adj" fmla="val 2198"/>
            </a:avLst>
          </a:prstGeom>
          <a:solidFill>
            <a:srgbClr val="0B1E3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543800" y="19659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543800" y="233172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→ Genuine</a:t>
            </a:r>
            <a:endParaRPr lang="en-US" sz="2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AI-generated → Suspicious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543800" y="3246120"/>
            <a:ext cx="3474720" cy="0"/>
          </a:xfrm>
          <a:prstGeom prst="line">
            <a:avLst/>
          </a:prstGeom>
          <a:noFill/>
          <a:ln w="19050">
            <a:solidFill>
              <a:srgbClr val="1E447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43800" y="342900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“Hearing a familiar voice is no longer enough to prove that the person is genuine.”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543800" y="50749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core problem SIH-Aegis is built to solve.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74320" y="65105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SIH-AEGIS  |  Smart India Hackathon 2026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460175" y="651052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49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 Cloning Is Becoming Easier And More Realistic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1556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ways a cloned voice can be misused against people and institutions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2121408" cy="3977640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1E2A44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67512" y="2057400"/>
            <a:ext cx="457200" cy="457200"/>
          </a:xfrm>
          <a:prstGeom prst="ellipse">
            <a:avLst/>
          </a:prstGeom>
          <a:solidFill>
            <a:srgbClr val="0B1E3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67512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9224" y="26517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Fraud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9224" y="333756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attacker imitates a customer, employee, or manager to authorize a fraudulent transaction.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88920" y="1828800"/>
            <a:ext cx="2121408" cy="3977640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1E2A44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953512" y="2057400"/>
            <a:ext cx="457200" cy="457200"/>
          </a:xfrm>
          <a:prstGeom prst="ellipse">
            <a:avLst/>
          </a:prstGeom>
          <a:solidFill>
            <a:srgbClr val="0B1E3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953512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2935224" y="26517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Engineering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935224" y="333756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criminal uses a familiar-sounding voice to gain a victim's trust and manipulate their actions.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74920" y="1828800"/>
            <a:ext cx="2121408" cy="3977640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1E2A44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239512" y="2057400"/>
            <a:ext cx="457200" cy="457200"/>
          </a:xfrm>
          <a:prstGeom prst="ellipse">
            <a:avLst/>
          </a:prstGeom>
          <a:solidFill>
            <a:srgbClr val="0B1E3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239512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221224" y="26517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 Theft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221224" y="333756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Someone's voice can be copied and used without their permission or knowledge.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60920" y="1828800"/>
            <a:ext cx="2121408" cy="3977640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1E2A44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525512" y="2057400"/>
            <a:ext cx="457200" cy="457200"/>
          </a:xfrm>
          <a:prstGeom prst="ellipse">
            <a:avLst/>
          </a:prstGeom>
          <a:solidFill>
            <a:srgbClr val="0B1E3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525512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507224" y="26517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Fake Emergency Calls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507224" y="333756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cloned voice can imitate a family member or trusted person in a fabricated crisis.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646920" y="1828800"/>
            <a:ext cx="2121408" cy="3977640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1E2A44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811512" y="2057400"/>
            <a:ext cx="457200" cy="457200"/>
          </a:xfrm>
          <a:prstGeom prst="ellipse">
            <a:avLst/>
          </a:prstGeom>
          <a:solidFill>
            <a:srgbClr val="0B1E3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811512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9793224" y="26517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 Authentication Attacks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9793224" y="333756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synthetic voice may be used to fool systems that rely on voice as an identity signal.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274320" y="65105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SIH-AEGIS  |  Smart India Hackathon 2026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460175" y="651052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3" name="Shape 1"/>
          <p:cNvSpPr/>
          <p:nvPr/>
        </p:nvSpPr>
        <p:spPr>
          <a:xfrm>
            <a:off x="9189720" y="6035040"/>
            <a:ext cx="182880" cy="320040"/>
          </a:xfrm>
          <a:prstGeom prst="roundRect">
            <a:avLst>
              <a:gd name="adj" fmla="val 25000"/>
            </a:avLst>
          </a:prstGeom>
          <a:solidFill>
            <a:srgbClr val="00D4C8"/>
          </a:solidFill>
          <a:ln/>
        </p:spPr>
      </p:sp>
      <p:sp>
        <p:nvSpPr>
          <p:cNvPr id="4" name="Shape 2"/>
          <p:cNvSpPr/>
          <p:nvPr/>
        </p:nvSpPr>
        <p:spPr>
          <a:xfrm>
            <a:off x="9518904" y="5888736"/>
            <a:ext cx="182880" cy="466344"/>
          </a:xfrm>
          <a:prstGeom prst="roundRect">
            <a:avLst>
              <a:gd name="adj" fmla="val 25000"/>
            </a:avLst>
          </a:prstGeom>
          <a:solidFill>
            <a:srgbClr val="1E4478"/>
          </a:solidFill>
          <a:ln/>
        </p:spPr>
      </p:sp>
      <p:sp>
        <p:nvSpPr>
          <p:cNvPr id="5" name="Shape 3"/>
          <p:cNvSpPr/>
          <p:nvPr/>
        </p:nvSpPr>
        <p:spPr>
          <a:xfrm>
            <a:off x="9848088" y="5742432"/>
            <a:ext cx="182880" cy="612648"/>
          </a:xfrm>
          <a:prstGeom prst="roundRect">
            <a:avLst>
              <a:gd name="adj" fmla="val 25000"/>
            </a:avLst>
          </a:prstGeom>
          <a:solidFill>
            <a:srgbClr val="1E4478"/>
          </a:solidFill>
          <a:ln/>
        </p:spPr>
      </p:sp>
      <p:sp>
        <p:nvSpPr>
          <p:cNvPr id="6" name="Shape 4"/>
          <p:cNvSpPr/>
          <p:nvPr/>
        </p:nvSpPr>
        <p:spPr>
          <a:xfrm>
            <a:off x="10177272" y="5596128"/>
            <a:ext cx="182880" cy="758952"/>
          </a:xfrm>
          <a:prstGeom prst="roundRect">
            <a:avLst>
              <a:gd name="adj" fmla="val 25000"/>
            </a:avLst>
          </a:prstGeom>
          <a:solidFill>
            <a:srgbClr val="1E4478"/>
          </a:solidFill>
          <a:ln/>
        </p:spPr>
      </p:sp>
      <p:sp>
        <p:nvSpPr>
          <p:cNvPr id="7" name="Shape 5"/>
          <p:cNvSpPr/>
          <p:nvPr/>
        </p:nvSpPr>
        <p:spPr>
          <a:xfrm>
            <a:off x="10506456" y="6035040"/>
            <a:ext cx="182880" cy="320040"/>
          </a:xfrm>
          <a:prstGeom prst="roundRect">
            <a:avLst>
              <a:gd name="adj" fmla="val 25000"/>
            </a:avLst>
          </a:prstGeom>
          <a:solidFill>
            <a:srgbClr val="00D4C8"/>
          </a:solidFill>
          <a:ln/>
        </p:spPr>
      </p:sp>
      <p:sp>
        <p:nvSpPr>
          <p:cNvPr id="8" name="Shape 6"/>
          <p:cNvSpPr/>
          <p:nvPr/>
        </p:nvSpPr>
        <p:spPr>
          <a:xfrm>
            <a:off x="10835640" y="5888736"/>
            <a:ext cx="182880" cy="466344"/>
          </a:xfrm>
          <a:prstGeom prst="roundRect">
            <a:avLst>
              <a:gd name="adj" fmla="val 25000"/>
            </a:avLst>
          </a:prstGeom>
          <a:solidFill>
            <a:srgbClr val="1E4478"/>
          </a:solidFill>
          <a:ln/>
        </p:spPr>
      </p:sp>
      <p:sp>
        <p:nvSpPr>
          <p:cNvPr id="9" name="Shape 7"/>
          <p:cNvSpPr/>
          <p:nvPr/>
        </p:nvSpPr>
        <p:spPr>
          <a:xfrm>
            <a:off x="11164824" y="5742432"/>
            <a:ext cx="182880" cy="612648"/>
          </a:xfrm>
          <a:prstGeom prst="roundRect">
            <a:avLst>
              <a:gd name="adj" fmla="val 25000"/>
            </a:avLst>
          </a:prstGeom>
          <a:solidFill>
            <a:srgbClr val="1E4478"/>
          </a:solidFill>
          <a:ln/>
        </p:spPr>
      </p:sp>
      <p:sp>
        <p:nvSpPr>
          <p:cNvPr id="10" name="Shape 8"/>
          <p:cNvSpPr/>
          <p:nvPr/>
        </p:nvSpPr>
        <p:spPr>
          <a:xfrm>
            <a:off x="11494008" y="5596128"/>
            <a:ext cx="182880" cy="758952"/>
          </a:xfrm>
          <a:prstGeom prst="roundRect">
            <a:avLst>
              <a:gd name="adj" fmla="val 25000"/>
            </a:avLst>
          </a:prstGeom>
          <a:solidFill>
            <a:srgbClr val="1E447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02920" y="1188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164592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“Hearing a familiar voice is no longer</a:t>
            </a:r>
            <a:endParaRPr lang="en-US" sz="3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enough to prove that the person is genuine.”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502920" y="3749040"/>
            <a:ext cx="2194560" cy="0"/>
          </a:xfrm>
          <a:prstGeom prst="line">
            <a:avLst/>
          </a:prstGeom>
          <a:noFill/>
          <a:ln w="31750">
            <a:solidFill>
              <a:srgbClr val="00D4C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" y="4023360"/>
            <a:ext cx="8686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Convincing synthetic speech has moved authenticity verification from a human instinct to a measurable, computable problem — which is exactly the gap SIH-Aegis is designed to close.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74320" y="65105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SIH-AEGIS  |  Smart India Hackathon 2026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460175" y="651052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49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SIH-Aegis Solves It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1556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speech sample is validated, converted into a visual representation, and scored by an AI model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2286000"/>
            <a:ext cx="1757629" cy="1371600"/>
          </a:xfrm>
          <a:prstGeom prst="roundRect">
            <a:avLst>
              <a:gd name="adj" fmla="val 5333"/>
            </a:avLst>
          </a:prstGeom>
          <a:solidFill>
            <a:srgbClr val="15325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76072" y="2286000"/>
            <a:ext cx="161132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 rot="5400000">
            <a:off x="2242261" y="2889504"/>
            <a:ext cx="164592" cy="164592"/>
          </a:xfrm>
          <a:prstGeom prst="triangle">
            <a:avLst/>
          </a:prstGeom>
          <a:solidFill>
            <a:srgbClr val="049990"/>
          </a:solidFill>
          <a:ln/>
        </p:spPr>
      </p:sp>
      <p:sp>
        <p:nvSpPr>
          <p:cNvPr id="8" name="Shape 6"/>
          <p:cNvSpPr/>
          <p:nvPr/>
        </p:nvSpPr>
        <p:spPr>
          <a:xfrm>
            <a:off x="2388565" y="2286000"/>
            <a:ext cx="1757629" cy="1371600"/>
          </a:xfrm>
          <a:prstGeom prst="roundRect">
            <a:avLst>
              <a:gd name="adj" fmla="val 5333"/>
            </a:avLst>
          </a:prstGeom>
          <a:solidFill>
            <a:srgbClr val="1E447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461717" y="2286000"/>
            <a:ext cx="161132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 rot="5400000">
            <a:off x="4127906" y="2889504"/>
            <a:ext cx="164592" cy="164592"/>
          </a:xfrm>
          <a:prstGeom prst="triangle">
            <a:avLst/>
          </a:prstGeom>
          <a:solidFill>
            <a:srgbClr val="049990"/>
          </a:solidFill>
          <a:ln/>
        </p:spPr>
      </p:sp>
      <p:sp>
        <p:nvSpPr>
          <p:cNvPr id="11" name="Shape 9"/>
          <p:cNvSpPr/>
          <p:nvPr/>
        </p:nvSpPr>
        <p:spPr>
          <a:xfrm>
            <a:off x="4274210" y="2286000"/>
            <a:ext cx="1757629" cy="1371600"/>
          </a:xfrm>
          <a:prstGeom prst="roundRect">
            <a:avLst>
              <a:gd name="adj" fmla="val 5333"/>
            </a:avLst>
          </a:prstGeom>
          <a:solidFill>
            <a:srgbClr val="15325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347362" y="2286000"/>
            <a:ext cx="161132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To Visual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 rot="5400000">
            <a:off x="6013552" y="2889504"/>
            <a:ext cx="164592" cy="164592"/>
          </a:xfrm>
          <a:prstGeom prst="triangle">
            <a:avLst/>
          </a:prstGeom>
          <a:solidFill>
            <a:srgbClr val="049990"/>
          </a:solidFill>
          <a:ln/>
        </p:spPr>
      </p:sp>
      <p:sp>
        <p:nvSpPr>
          <p:cNvPr id="14" name="Shape 12"/>
          <p:cNvSpPr/>
          <p:nvPr/>
        </p:nvSpPr>
        <p:spPr>
          <a:xfrm>
            <a:off x="6159856" y="2286000"/>
            <a:ext cx="1757629" cy="1371600"/>
          </a:xfrm>
          <a:prstGeom prst="roundRect">
            <a:avLst>
              <a:gd name="adj" fmla="val 5333"/>
            </a:avLst>
          </a:prstGeom>
          <a:solidFill>
            <a:srgbClr val="1E447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33008" y="2286000"/>
            <a:ext cx="161132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It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 rot="5400000">
            <a:off x="7899197" y="2889504"/>
            <a:ext cx="164592" cy="164592"/>
          </a:xfrm>
          <a:prstGeom prst="triangle">
            <a:avLst/>
          </a:prstGeom>
          <a:solidFill>
            <a:srgbClr val="049990"/>
          </a:solidFill>
          <a:ln/>
        </p:spPr>
      </p:sp>
      <p:sp>
        <p:nvSpPr>
          <p:cNvPr id="17" name="Shape 15"/>
          <p:cNvSpPr/>
          <p:nvPr/>
        </p:nvSpPr>
        <p:spPr>
          <a:xfrm>
            <a:off x="8045501" y="2286000"/>
            <a:ext cx="1757629" cy="1371600"/>
          </a:xfrm>
          <a:prstGeom prst="roundRect">
            <a:avLst>
              <a:gd name="adj" fmla="val 5333"/>
            </a:avLst>
          </a:prstGeom>
          <a:solidFill>
            <a:srgbClr val="15325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118653" y="2286000"/>
            <a:ext cx="161132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 rot="5400000">
            <a:off x="9784842" y="2889504"/>
            <a:ext cx="164592" cy="164592"/>
          </a:xfrm>
          <a:prstGeom prst="triangle">
            <a:avLst/>
          </a:prstGeom>
          <a:solidFill>
            <a:srgbClr val="049990"/>
          </a:solidFill>
          <a:ln/>
        </p:spPr>
      </p:sp>
      <p:sp>
        <p:nvSpPr>
          <p:cNvPr id="20" name="Shape 18"/>
          <p:cNvSpPr/>
          <p:nvPr/>
        </p:nvSpPr>
        <p:spPr>
          <a:xfrm>
            <a:off x="9931146" y="2286000"/>
            <a:ext cx="1757629" cy="1371600"/>
          </a:xfrm>
          <a:prstGeom prst="roundRect">
            <a:avLst>
              <a:gd name="adj" fmla="val 5333"/>
            </a:avLst>
          </a:prstGeom>
          <a:solidFill>
            <a:srgbClr val="0B1E3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004298" y="2286000"/>
            <a:ext cx="161132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/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Spoof Result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02920" y="4114800"/>
            <a:ext cx="11185855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1E2A44">
                <a:alpha val="1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822960" y="4315968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takes a voice recording and analyzes characteristics that distinguish genuine human speech from AI-generated speech, producing a clear, reviewable verdict instead of relying on a listener's assumption.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50749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voice</a:t>
            </a:r>
            <a:pPr indent="0" marL="0">
              <a:buNone/>
            </a:pPr>
            <a:r>
              <a:rPr lang="en-US" sz="15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pPr indent="0" marL="0">
              <a:buNone/>
            </a:pPr>
            <a:r>
              <a:rPr lang="en-US" sz="1500" b="1" dirty="0">
                <a:solidFill>
                  <a:srgbClr val="049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217920" y="50749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voice</a:t>
            </a:r>
            <a:pPr indent="0" marL="0">
              <a:buNone/>
            </a:pPr>
            <a:r>
              <a:rPr lang="en-US" sz="15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pPr indent="0" marL="0">
              <a:buNone/>
            </a:pPr>
            <a:r>
              <a:rPr lang="en-US" sz="1500" b="1" dirty="0">
                <a:solidFill>
                  <a:srgbClr val="C9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274320" y="65105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SIH-AEGIS  |  Smart India Hackathon 2026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460175" y="651052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49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REPRESENTATION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Convert Voice Into An Image?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1556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spectrogram gives the model a structured way to analyze speech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603504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1E2A44">
                <a:alpha val="1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201168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voice is normally represented as a sound wave. Instead of asking the AI to directly interpret raw sound, we convert the voice into a spectrogram.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880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spectrogram shows: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3374136"/>
            <a:ext cx="82296" cy="82296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69848" y="331012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frequencies change over time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831336"/>
            <a:ext cx="82296" cy="82296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69848" y="376732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speech energy occurs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4288536"/>
            <a:ext cx="82296" cy="82296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69848" y="422452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in different parts of speech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7240" y="4846320"/>
            <a:ext cx="5486400" cy="0"/>
          </a:xfrm>
          <a:prstGeom prst="line">
            <a:avLst/>
          </a:prstGeom>
          <a:noFill/>
          <a:ln w="12700">
            <a:solidFill>
              <a:srgbClr val="DCE4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502920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gives our deep-learning model a structured, image-like way to analyze speech rather than raw waveform samples.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315200" y="1783080"/>
            <a:ext cx="4389120" cy="4114800"/>
          </a:xfrm>
          <a:prstGeom prst="roundRect">
            <a:avLst>
              <a:gd name="adj" fmla="val 2222"/>
            </a:avLst>
          </a:prstGeom>
          <a:solidFill>
            <a:srgbClr val="0B1E3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589520" y="20116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FLOW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589520" y="2468880"/>
            <a:ext cx="3840480" cy="777240"/>
          </a:xfrm>
          <a:prstGeom prst="roundRect">
            <a:avLst>
              <a:gd name="adj" fmla="val 8235"/>
            </a:avLst>
          </a:prstGeom>
          <a:solidFill>
            <a:srgbClr val="15325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726680" y="246888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Signal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 rot="10800000">
            <a:off x="9427464" y="3300984"/>
            <a:ext cx="164592" cy="164592"/>
          </a:xfrm>
          <a:prstGeom prst="triangle">
            <a:avLst/>
          </a:prstGeom>
          <a:solidFill>
            <a:srgbClr val="00D4C8"/>
          </a:solidFill>
          <a:ln/>
        </p:spPr>
      </p:sp>
      <p:sp>
        <p:nvSpPr>
          <p:cNvPr id="21" name="Shape 19"/>
          <p:cNvSpPr/>
          <p:nvPr/>
        </p:nvSpPr>
        <p:spPr>
          <a:xfrm>
            <a:off x="7589520" y="3520440"/>
            <a:ext cx="3840480" cy="777240"/>
          </a:xfrm>
          <a:prstGeom prst="roundRect">
            <a:avLst>
              <a:gd name="adj" fmla="val 8235"/>
            </a:avLst>
          </a:prstGeom>
          <a:solidFill>
            <a:srgbClr val="15325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26680" y="35204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Spectrogram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(128 mels, n_fft 512)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 rot="10800000">
            <a:off x="9427464" y="4352544"/>
            <a:ext cx="164592" cy="164592"/>
          </a:xfrm>
          <a:prstGeom prst="triangle">
            <a:avLst/>
          </a:prstGeom>
          <a:solidFill>
            <a:srgbClr val="00D4C8"/>
          </a:solidFill>
          <a:ln/>
        </p:spPr>
      </p:sp>
      <p:sp>
        <p:nvSpPr>
          <p:cNvPr id="24" name="Shape 22"/>
          <p:cNvSpPr/>
          <p:nvPr/>
        </p:nvSpPr>
        <p:spPr>
          <a:xfrm>
            <a:off x="7589520" y="4572000"/>
            <a:ext cx="3840480" cy="777240"/>
          </a:xfrm>
          <a:prstGeom prst="roundRect">
            <a:avLst>
              <a:gd name="adj" fmla="val 8235"/>
            </a:avLst>
          </a:prstGeom>
          <a:solidFill>
            <a:srgbClr val="15325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726680" y="457200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Analyzes The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274320" y="65105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SIH-AEGIS  |  Smart India Hackathon 2026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460175" y="651052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49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APPROACH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Main AI Approach: A Lightweight CNN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1556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spectrogram is scored by a compact convolutional neural network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2127443" cy="1234440"/>
          </a:xfrm>
          <a:prstGeom prst="roundRect">
            <a:avLst>
              <a:gd name="adj" fmla="val 5926"/>
            </a:avLst>
          </a:prstGeom>
          <a:solidFill>
            <a:srgbClr val="15325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57784" y="1874520"/>
            <a:ext cx="201771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Spectrogram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 rot="5400000">
            <a:off x="2616647" y="2409444"/>
            <a:ext cx="164592" cy="164592"/>
          </a:xfrm>
          <a:prstGeom prst="triangle">
            <a:avLst/>
          </a:prstGeom>
          <a:solidFill>
            <a:srgbClr val="049990"/>
          </a:solidFill>
          <a:ln/>
        </p:spPr>
      </p:sp>
      <p:sp>
        <p:nvSpPr>
          <p:cNvPr id="8" name="Shape 6"/>
          <p:cNvSpPr/>
          <p:nvPr/>
        </p:nvSpPr>
        <p:spPr>
          <a:xfrm>
            <a:off x="2767523" y="1874520"/>
            <a:ext cx="2127443" cy="1234440"/>
          </a:xfrm>
          <a:prstGeom prst="roundRect">
            <a:avLst>
              <a:gd name="adj" fmla="val 5926"/>
            </a:avLst>
          </a:prstGeom>
          <a:solidFill>
            <a:srgbClr val="15325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822387" y="1874520"/>
            <a:ext cx="201771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 rot="5400000">
            <a:off x="4881250" y="2409444"/>
            <a:ext cx="164592" cy="164592"/>
          </a:xfrm>
          <a:prstGeom prst="triangle">
            <a:avLst/>
          </a:prstGeom>
          <a:solidFill>
            <a:srgbClr val="049990"/>
          </a:solidFill>
          <a:ln/>
        </p:spPr>
      </p:sp>
      <p:sp>
        <p:nvSpPr>
          <p:cNvPr id="11" name="Shape 9"/>
          <p:cNvSpPr/>
          <p:nvPr/>
        </p:nvSpPr>
        <p:spPr>
          <a:xfrm>
            <a:off x="5032126" y="1874520"/>
            <a:ext cx="2127443" cy="1234440"/>
          </a:xfrm>
          <a:prstGeom prst="roundRect">
            <a:avLst>
              <a:gd name="adj" fmla="val 5926"/>
            </a:avLst>
          </a:prstGeom>
          <a:solidFill>
            <a:srgbClr val="15325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086990" y="1874520"/>
            <a:ext cx="201771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Speech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 rot="5400000">
            <a:off x="7145853" y="2409444"/>
            <a:ext cx="164592" cy="164592"/>
          </a:xfrm>
          <a:prstGeom prst="triangle">
            <a:avLst/>
          </a:prstGeom>
          <a:solidFill>
            <a:srgbClr val="049990"/>
          </a:solidFill>
          <a:ln/>
        </p:spPr>
      </p:sp>
      <p:sp>
        <p:nvSpPr>
          <p:cNvPr id="14" name="Shape 12"/>
          <p:cNvSpPr/>
          <p:nvPr/>
        </p:nvSpPr>
        <p:spPr>
          <a:xfrm>
            <a:off x="7296729" y="1874520"/>
            <a:ext cx="2127443" cy="1234440"/>
          </a:xfrm>
          <a:prstGeom prst="roundRect">
            <a:avLst>
              <a:gd name="adj" fmla="val 5926"/>
            </a:avLst>
          </a:prstGeom>
          <a:solidFill>
            <a:srgbClr val="15325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51593" y="1874520"/>
            <a:ext cx="201771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With Learned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/ Spoof Patterns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 rot="5400000">
            <a:off x="9410456" y="2409444"/>
            <a:ext cx="164592" cy="164592"/>
          </a:xfrm>
          <a:prstGeom prst="triangle">
            <a:avLst/>
          </a:prstGeom>
          <a:solidFill>
            <a:srgbClr val="049990"/>
          </a:solidFill>
          <a:ln/>
        </p:spPr>
      </p:sp>
      <p:sp>
        <p:nvSpPr>
          <p:cNvPr id="17" name="Shape 15"/>
          <p:cNvSpPr/>
          <p:nvPr/>
        </p:nvSpPr>
        <p:spPr>
          <a:xfrm>
            <a:off x="9561332" y="1874520"/>
            <a:ext cx="2127443" cy="1234440"/>
          </a:xfrm>
          <a:prstGeom prst="roundRect">
            <a:avLst>
              <a:gd name="adj" fmla="val 5926"/>
            </a:avLst>
          </a:prstGeom>
          <a:solidFill>
            <a:srgbClr val="0B1E3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616196" y="1874520"/>
            <a:ext cx="201771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3429000"/>
            <a:ext cx="3591458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1E2A44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3639312"/>
            <a:ext cx="146304" cy="146304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05840" y="3566160"/>
            <a:ext cx="28599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CNN does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4251960"/>
            <a:ext cx="313425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CNN looks at the spectrogram image and learns patterns that help distinguish genuine speech from synthetic speech.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249826" y="3429000"/>
            <a:ext cx="3591458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1E2A44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478426" y="3639312"/>
            <a:ext cx="146304" cy="146304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752746" y="3566160"/>
            <a:ext cx="28599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intent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4478426" y="4251960"/>
            <a:ext cx="313425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intentionally lightweight so it can eventually support fast inference and mobile deployment.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996733" y="3429000"/>
            <a:ext cx="3591458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1E2A44">
                <a:alpha val="1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225333" y="3639312"/>
            <a:ext cx="146304" cy="146304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499653" y="3566160"/>
            <a:ext cx="28599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footprint</a:t>
            </a:r>
            <a:endParaRPr lang="en-US" sz="1450" dirty="0"/>
          </a:p>
        </p:txBody>
      </p:sp>
      <p:sp>
        <p:nvSpPr>
          <p:cNvPr id="30" name="Text 28"/>
          <p:cNvSpPr txBox="1"/>
          <p:nvPr/>
        </p:nvSpPr>
        <p:spPr>
          <a:xfrm>
            <a:off x="8225333" y="4251960"/>
            <a:ext cx="313425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97,890 parameters — a compact 4-block CNN with a forward pass verified on an NVIDIA RTX 4050 Laptop GPU (CUDA).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274320" y="65105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SIH-AEGIS  |  Smart India Hackathon 2026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460175" y="651052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49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RATIONALE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Chose A Lightweight Model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1556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deployment mattered as much as accuracy from the start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2084832" cy="1417320"/>
          </a:xfrm>
          <a:prstGeom prst="roundRect">
            <a:avLst>
              <a:gd name="adj" fmla="val 5806"/>
            </a:avLst>
          </a:prstGeom>
          <a:solidFill>
            <a:srgbClr val="15325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30936" y="1828800"/>
            <a:ext cx="182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processing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15768" y="1828800"/>
            <a:ext cx="2084832" cy="1417320"/>
          </a:xfrm>
          <a:prstGeom prst="roundRect">
            <a:avLst>
              <a:gd name="adj" fmla="val 5806"/>
            </a:avLst>
          </a:prstGeom>
          <a:solidFill>
            <a:srgbClr val="15325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843784" y="1828800"/>
            <a:ext cx="182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memory usage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928616" y="1828800"/>
            <a:ext cx="2084832" cy="1417320"/>
          </a:xfrm>
          <a:prstGeom prst="roundRect">
            <a:avLst>
              <a:gd name="adj" fmla="val 5806"/>
            </a:avLst>
          </a:prstGeom>
          <a:solidFill>
            <a:srgbClr val="15325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056632" y="1828800"/>
            <a:ext cx="182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retraining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141464" y="1828800"/>
            <a:ext cx="2084832" cy="1417320"/>
          </a:xfrm>
          <a:prstGeom prst="roundRect">
            <a:avLst>
              <a:gd name="adj" fmla="val 5806"/>
            </a:avLst>
          </a:prstGeom>
          <a:solidFill>
            <a:srgbClr val="15325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269480" y="1828800"/>
            <a:ext cx="182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deployment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354312" y="1828800"/>
            <a:ext cx="2084832" cy="1417320"/>
          </a:xfrm>
          <a:prstGeom prst="roundRect">
            <a:avLst>
              <a:gd name="adj" fmla="val 5806"/>
            </a:avLst>
          </a:prstGeom>
          <a:solidFill>
            <a:srgbClr val="15325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82328" y="1828800"/>
            <a:ext cx="182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potential for mobile devices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3520440"/>
            <a:ext cx="11185855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1E2A44">
                <a:alpha val="1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22960" y="3749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49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02336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want SIH-Aegis to eventually work in practical environments rather than requiring extremely expensive hardware.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766560" y="3749040"/>
            <a:ext cx="0" cy="1874520"/>
          </a:xfrm>
          <a:prstGeom prst="line">
            <a:avLst/>
          </a:prstGeom>
          <a:noFill/>
          <a:ln w="12700">
            <a:solidFill>
              <a:srgbClr val="DCE4E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086600" y="37490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49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HARDWARE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086600" y="4023360"/>
            <a:ext cx="4206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development hardware includes an NVIDIA RTX 4050 Laptop GPU, which allows us to train and experiment with deep-learning models locally.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274320" y="65105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SIH-AEGIS  |  Smart India Hackathon 2026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460175" y="651052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49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When A User Gives Us A Voice?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1556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stages from raw recording to a security result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2105497" cy="3749040"/>
          </a:xfrm>
          <a:prstGeom prst="roundRect">
            <a:avLst>
              <a:gd name="adj" fmla="val 3909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1E2A44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99637" y="2148840"/>
            <a:ext cx="512064" cy="512064"/>
          </a:xfrm>
          <a:prstGeom prst="ellipse">
            <a:avLst/>
          </a:prstGeom>
          <a:solidFill>
            <a:srgbClr val="0B1E3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299637" y="21488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12648" y="2834640"/>
            <a:ext cx="188604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Audio Collection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30936" y="3566160"/>
            <a:ext cx="184946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provides a voice recording or records directly.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 rot="5400000">
            <a:off x="2608417" y="2157984"/>
            <a:ext cx="164592" cy="164592"/>
          </a:xfrm>
          <a:prstGeom prst="triangle">
            <a:avLst/>
          </a:prstGeom>
          <a:solidFill>
            <a:srgbClr val="049990"/>
          </a:solidFill>
          <a:ln/>
        </p:spPr>
      </p:sp>
      <p:sp>
        <p:nvSpPr>
          <p:cNvPr id="11" name="Shape 9"/>
          <p:cNvSpPr/>
          <p:nvPr/>
        </p:nvSpPr>
        <p:spPr>
          <a:xfrm>
            <a:off x="2773009" y="1920240"/>
            <a:ext cx="2105497" cy="3749040"/>
          </a:xfrm>
          <a:prstGeom prst="roundRect">
            <a:avLst>
              <a:gd name="adj" fmla="val 3909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1E2A44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69726" y="2148840"/>
            <a:ext cx="512064" cy="512064"/>
          </a:xfrm>
          <a:prstGeom prst="ellipse">
            <a:avLst/>
          </a:prstGeom>
          <a:solidFill>
            <a:srgbClr val="0B1E3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569726" y="21488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882737" y="2834640"/>
            <a:ext cx="188604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Audio Preparation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901025" y="3566160"/>
            <a:ext cx="184946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standardizes the audio so different recordings can be analyzed consistently.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 rot="5400000">
            <a:off x="4878507" y="2157984"/>
            <a:ext cx="164592" cy="164592"/>
          </a:xfrm>
          <a:prstGeom prst="triangle">
            <a:avLst/>
          </a:prstGeom>
          <a:solidFill>
            <a:srgbClr val="049990"/>
          </a:solidFill>
          <a:ln/>
        </p:spPr>
      </p:sp>
      <p:sp>
        <p:nvSpPr>
          <p:cNvPr id="17" name="Shape 15"/>
          <p:cNvSpPr/>
          <p:nvPr/>
        </p:nvSpPr>
        <p:spPr>
          <a:xfrm>
            <a:off x="5043099" y="1920240"/>
            <a:ext cx="2105497" cy="3749040"/>
          </a:xfrm>
          <a:prstGeom prst="roundRect">
            <a:avLst>
              <a:gd name="adj" fmla="val 3909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1E2A44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839816" y="2148840"/>
            <a:ext cx="512064" cy="512064"/>
          </a:xfrm>
          <a:prstGeom prst="ellipse">
            <a:avLst/>
          </a:prstGeom>
          <a:solidFill>
            <a:srgbClr val="0B1E3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839816" y="21488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152827" y="2834640"/>
            <a:ext cx="188604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Representation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171115" y="3566160"/>
            <a:ext cx="184946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voice is converted into a Log-Mel spectrogram.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 rot="5400000">
            <a:off x="7148596" y="2157984"/>
            <a:ext cx="164592" cy="164592"/>
          </a:xfrm>
          <a:prstGeom prst="triangle">
            <a:avLst/>
          </a:prstGeom>
          <a:solidFill>
            <a:srgbClr val="049990"/>
          </a:solidFill>
          <a:ln/>
        </p:spPr>
      </p:sp>
      <p:sp>
        <p:nvSpPr>
          <p:cNvPr id="23" name="Shape 21"/>
          <p:cNvSpPr/>
          <p:nvPr/>
        </p:nvSpPr>
        <p:spPr>
          <a:xfrm>
            <a:off x="7313188" y="1920240"/>
            <a:ext cx="2105497" cy="3749040"/>
          </a:xfrm>
          <a:prstGeom prst="roundRect">
            <a:avLst>
              <a:gd name="adj" fmla="val 3909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1E2A44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109905" y="2148840"/>
            <a:ext cx="512064" cy="512064"/>
          </a:xfrm>
          <a:prstGeom prst="ellipse">
            <a:avLst/>
          </a:prstGeom>
          <a:solidFill>
            <a:srgbClr val="0B1E3D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109905" y="21488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S4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422916" y="2834640"/>
            <a:ext cx="188604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Analysis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441204" y="3566160"/>
            <a:ext cx="184946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CNN examines the spectrogram.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 rot="5400000">
            <a:off x="9418686" y="2157984"/>
            <a:ext cx="164592" cy="164592"/>
          </a:xfrm>
          <a:prstGeom prst="triangle">
            <a:avLst/>
          </a:prstGeom>
          <a:solidFill>
            <a:srgbClr val="049990"/>
          </a:solidFill>
          <a:ln/>
        </p:spPr>
      </p:sp>
      <p:sp>
        <p:nvSpPr>
          <p:cNvPr id="29" name="Shape 27"/>
          <p:cNvSpPr/>
          <p:nvPr/>
        </p:nvSpPr>
        <p:spPr>
          <a:xfrm>
            <a:off x="9583278" y="1920240"/>
            <a:ext cx="2105497" cy="3749040"/>
          </a:xfrm>
          <a:prstGeom prst="roundRect">
            <a:avLst>
              <a:gd name="adj" fmla="val 3909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1E2A44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379994" y="2148840"/>
            <a:ext cx="512064" cy="512064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379994" y="21488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S5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9693006" y="2834640"/>
            <a:ext cx="188604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9711294" y="3566160"/>
            <a:ext cx="184946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BONAFIDE / REAL or SPOOF / SYNTHETIC, along with a probability score.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274320" y="65105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SIH-AEGIS  |  Smart India Hackathon 2026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460175" y="651052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49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PHILOSOPHY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Is Our Approach Different?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1556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tested an existing model before trusting it — and the test taught us something important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640080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1E2A44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176272"/>
            <a:ext cx="82296" cy="82296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103120"/>
            <a:ext cx="5623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not simply taking an existing AI model and assuming it will work everywhere.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2862072"/>
            <a:ext cx="82296" cy="82296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05840" y="2788920"/>
            <a:ext cx="5623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first tested an existing anti-spoofing model (AASIST) as a baseline.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3547872"/>
            <a:ext cx="82296" cy="82296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05840" y="3474720"/>
            <a:ext cx="5623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showed it could identify our generated clone samples, but it also produced false alarms on some genuine microphone and call recordings.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4572000"/>
            <a:ext cx="5852160" cy="0"/>
          </a:xfrm>
          <a:prstGeom prst="line">
            <a:avLst/>
          </a:prstGeom>
          <a:noFill/>
          <a:ln w="12700">
            <a:solidFill>
              <a:srgbClr val="DCE4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475488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our project is moving toward a model trained on data that better represents the people and environments we actually want to protect.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543800" y="1828800"/>
            <a:ext cx="4160520" cy="4023360"/>
          </a:xfrm>
          <a:prstGeom prst="roundRect">
            <a:avLst>
              <a:gd name="adj" fmla="val 2273"/>
            </a:avLst>
          </a:prstGeom>
          <a:solidFill>
            <a:srgbClr val="0B1E3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818120" y="2057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818120" y="2423160"/>
            <a:ext cx="3611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model trained on one type of speech data may not perform reliably in every real-world environment.”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818120" y="4297680"/>
            <a:ext cx="3291840" cy="0"/>
          </a:xfrm>
          <a:prstGeom prst="line">
            <a:avLst/>
          </a:prstGeom>
          <a:noFill/>
          <a:ln w="19050">
            <a:solidFill>
              <a:srgbClr val="1E447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18120" y="4480560"/>
            <a:ext cx="3611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baseline-first discipline — measure before trusting — is what shaped our custom, domain-aware detector.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274320" y="65105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SIH-AEGIS  |  Smart India Hackathon 2026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460175" y="651052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49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— Detection Model, Layer By Layer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1556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97,890 parameters · deterministic evaluation mode · GPU forward pass verified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1169721" cy="1234440"/>
          </a:xfrm>
          <a:prstGeom prst="roundRect">
            <a:avLst>
              <a:gd name="adj" fmla="val 5472"/>
            </a:avLst>
          </a:prstGeom>
          <a:solidFill>
            <a:srgbClr val="1E447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39496" y="1874520"/>
            <a:ext cx="109656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1×128×128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 rot="5400000">
            <a:off x="1649781" y="2427732"/>
            <a:ext cx="128016" cy="128016"/>
          </a:xfrm>
          <a:prstGeom prst="triangle">
            <a:avLst/>
          </a:prstGeom>
          <a:solidFill>
            <a:srgbClr val="049990"/>
          </a:solidFill>
          <a:ln/>
        </p:spPr>
      </p:sp>
      <p:sp>
        <p:nvSpPr>
          <p:cNvPr id="8" name="Shape 6"/>
          <p:cNvSpPr/>
          <p:nvPr/>
        </p:nvSpPr>
        <p:spPr>
          <a:xfrm>
            <a:off x="1754937" y="1874520"/>
            <a:ext cx="1169721" cy="1234440"/>
          </a:xfrm>
          <a:prstGeom prst="roundRect">
            <a:avLst>
              <a:gd name="adj" fmla="val 5472"/>
            </a:avLst>
          </a:prstGeom>
          <a:solidFill>
            <a:srgbClr val="15325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791513" y="1874520"/>
            <a:ext cx="109656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 1→16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BN·ReLU·MaxPool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 rot="5400000">
            <a:off x="2901798" y="2427732"/>
            <a:ext cx="128016" cy="128016"/>
          </a:xfrm>
          <a:prstGeom prst="triangle">
            <a:avLst/>
          </a:prstGeom>
          <a:solidFill>
            <a:srgbClr val="049990"/>
          </a:solidFill>
          <a:ln/>
        </p:spPr>
      </p:sp>
      <p:sp>
        <p:nvSpPr>
          <p:cNvPr id="11" name="Shape 9"/>
          <p:cNvSpPr/>
          <p:nvPr/>
        </p:nvSpPr>
        <p:spPr>
          <a:xfrm>
            <a:off x="3006954" y="1874520"/>
            <a:ext cx="1169721" cy="1234440"/>
          </a:xfrm>
          <a:prstGeom prst="roundRect">
            <a:avLst>
              <a:gd name="adj" fmla="val 5472"/>
            </a:avLst>
          </a:prstGeom>
          <a:solidFill>
            <a:srgbClr val="15325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043530" y="1874520"/>
            <a:ext cx="109656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 16→32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BN·ReLU·MaxPool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 rot="5400000">
            <a:off x="4153814" y="2427732"/>
            <a:ext cx="128016" cy="128016"/>
          </a:xfrm>
          <a:prstGeom prst="triangle">
            <a:avLst/>
          </a:prstGeom>
          <a:solidFill>
            <a:srgbClr val="049990"/>
          </a:solidFill>
          <a:ln/>
        </p:spPr>
      </p:sp>
      <p:sp>
        <p:nvSpPr>
          <p:cNvPr id="14" name="Shape 12"/>
          <p:cNvSpPr/>
          <p:nvPr/>
        </p:nvSpPr>
        <p:spPr>
          <a:xfrm>
            <a:off x="4258970" y="1874520"/>
            <a:ext cx="1169721" cy="1234440"/>
          </a:xfrm>
          <a:prstGeom prst="roundRect">
            <a:avLst>
              <a:gd name="adj" fmla="val 5472"/>
            </a:avLst>
          </a:prstGeom>
          <a:solidFill>
            <a:srgbClr val="15325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295546" y="1874520"/>
            <a:ext cx="109656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 32→64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BN·ReLU·MaxPool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 rot="5400000">
            <a:off x="5405831" y="2427732"/>
            <a:ext cx="128016" cy="128016"/>
          </a:xfrm>
          <a:prstGeom prst="triangle">
            <a:avLst/>
          </a:prstGeom>
          <a:solidFill>
            <a:srgbClr val="049990"/>
          </a:solidFill>
          <a:ln/>
        </p:spPr>
      </p:sp>
      <p:sp>
        <p:nvSpPr>
          <p:cNvPr id="17" name="Shape 15"/>
          <p:cNvSpPr/>
          <p:nvPr/>
        </p:nvSpPr>
        <p:spPr>
          <a:xfrm>
            <a:off x="5510987" y="1874520"/>
            <a:ext cx="1169721" cy="1234440"/>
          </a:xfrm>
          <a:prstGeom prst="roundRect">
            <a:avLst>
              <a:gd name="adj" fmla="val 5472"/>
            </a:avLst>
          </a:prstGeom>
          <a:solidFill>
            <a:srgbClr val="15325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547563" y="1874520"/>
            <a:ext cx="109656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 64→128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BN·ReLU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 rot="5400000">
            <a:off x="6657848" y="2427732"/>
            <a:ext cx="128016" cy="128016"/>
          </a:xfrm>
          <a:prstGeom prst="triangle">
            <a:avLst/>
          </a:prstGeom>
          <a:solidFill>
            <a:srgbClr val="049990"/>
          </a:solidFill>
          <a:ln/>
        </p:spPr>
      </p:sp>
      <p:sp>
        <p:nvSpPr>
          <p:cNvPr id="20" name="Shape 18"/>
          <p:cNvSpPr/>
          <p:nvPr/>
        </p:nvSpPr>
        <p:spPr>
          <a:xfrm>
            <a:off x="6763004" y="1874520"/>
            <a:ext cx="1169721" cy="1234440"/>
          </a:xfrm>
          <a:prstGeom prst="roundRect">
            <a:avLst>
              <a:gd name="adj" fmla="val 5472"/>
            </a:avLst>
          </a:prstGeom>
          <a:solidFill>
            <a:srgbClr val="15325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799580" y="1874520"/>
            <a:ext cx="109656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Pool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 rot="5400000">
            <a:off x="7909865" y="2427732"/>
            <a:ext cx="128016" cy="128016"/>
          </a:xfrm>
          <a:prstGeom prst="triangle">
            <a:avLst/>
          </a:prstGeom>
          <a:solidFill>
            <a:srgbClr val="049990"/>
          </a:solidFill>
          <a:ln/>
        </p:spPr>
      </p:sp>
      <p:sp>
        <p:nvSpPr>
          <p:cNvPr id="23" name="Shape 21"/>
          <p:cNvSpPr/>
          <p:nvPr/>
        </p:nvSpPr>
        <p:spPr>
          <a:xfrm>
            <a:off x="8015021" y="1874520"/>
            <a:ext cx="1169721" cy="1234440"/>
          </a:xfrm>
          <a:prstGeom prst="roundRect">
            <a:avLst>
              <a:gd name="adj" fmla="val 5472"/>
            </a:avLst>
          </a:prstGeom>
          <a:solidFill>
            <a:srgbClr val="15325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051597" y="1874520"/>
            <a:ext cx="109656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0.3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 rot="5400000">
            <a:off x="9161882" y="2427732"/>
            <a:ext cx="128016" cy="128016"/>
          </a:xfrm>
          <a:prstGeom prst="triangle">
            <a:avLst/>
          </a:prstGeom>
          <a:solidFill>
            <a:srgbClr val="049990"/>
          </a:solidFill>
          <a:ln/>
        </p:spPr>
      </p:sp>
      <p:sp>
        <p:nvSpPr>
          <p:cNvPr id="26" name="Shape 24"/>
          <p:cNvSpPr/>
          <p:nvPr/>
        </p:nvSpPr>
        <p:spPr>
          <a:xfrm>
            <a:off x="9267038" y="1874520"/>
            <a:ext cx="1169721" cy="1234440"/>
          </a:xfrm>
          <a:prstGeom prst="roundRect">
            <a:avLst>
              <a:gd name="adj" fmla="val 5472"/>
            </a:avLst>
          </a:prstGeom>
          <a:solidFill>
            <a:srgbClr val="15325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303614" y="1874520"/>
            <a:ext cx="109656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128→2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 rot="5400000">
            <a:off x="10413898" y="2427732"/>
            <a:ext cx="128016" cy="128016"/>
          </a:xfrm>
          <a:prstGeom prst="triangle">
            <a:avLst/>
          </a:prstGeom>
          <a:solidFill>
            <a:srgbClr val="049990"/>
          </a:solidFill>
          <a:ln/>
        </p:spPr>
      </p:sp>
      <p:sp>
        <p:nvSpPr>
          <p:cNvPr id="29" name="Shape 27"/>
          <p:cNvSpPr/>
          <p:nvPr/>
        </p:nvSpPr>
        <p:spPr>
          <a:xfrm>
            <a:off x="10519054" y="1874520"/>
            <a:ext cx="1169721" cy="1234440"/>
          </a:xfrm>
          <a:prstGeom prst="roundRect">
            <a:avLst>
              <a:gd name="adj" fmla="val 5472"/>
            </a:avLst>
          </a:prstGeom>
          <a:solidFill>
            <a:srgbClr val="0B1E3D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0555630" y="1874520"/>
            <a:ext cx="109656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BONAFIDE/SPOOF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02920" y="3429000"/>
            <a:ext cx="11185855" cy="548640"/>
          </a:xfrm>
          <a:prstGeom prst="roundRect">
            <a:avLst>
              <a:gd name="adj" fmla="val 10000"/>
            </a:avLst>
          </a:prstGeom>
          <a:solidFill>
            <a:srgbClr val="E7F7F6"/>
          </a:solidFill>
          <a:ln w="9525">
            <a:solidFill>
              <a:srgbClr val="04999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85800" y="342900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049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97,890 parameters  ·  deterministic evaluation mode  ·  forward pass verified on NVIDIA RTX 4050 Laptop GPU (CUDA): batch×1×128×128 → batch×2 — PASS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02920" y="4206240"/>
            <a:ext cx="11185855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1E2A44">
                <a:alpha val="15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777240" y="44074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9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CONFIGURATION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777240" y="4700016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16,000 Hz mono  ·  128 Mel bins  ·  n_fft 512  ·  hop 160  ·  128×128 target  ·  per-sample standardisation  ·  float32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777240" y="5257800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secondary AASIST (pretrained) baseline is retained for benchmarking, not used as the primary detector.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274320" y="65105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SIH-AEGIS  |  Smart India Hackathon 2026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460175" y="651052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49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1556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tools and libraries behind SIH-Aegis, grouped by role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2651760" cy="306324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1E2A44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2029968"/>
            <a:ext cx="146304" cy="146304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41832" y="1975104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242316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 w="9525">
            <a:solidFill>
              <a:srgbClr val="DCE4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4231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85800" y="2862072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 w="9525">
            <a:solidFill>
              <a:srgbClr val="DCE4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86207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5800" y="3300984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 w="9525">
            <a:solidFill>
              <a:srgbClr val="DCE4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30098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85800" y="3739896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 w="9525">
            <a:solidFill>
              <a:srgbClr val="DCE4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373989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5800" y="4178808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 w="9525">
            <a:solidFill>
              <a:srgbClr val="DCE4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17880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337560" y="1828800"/>
            <a:ext cx="2651760" cy="306324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1E2A44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520440" y="2029968"/>
            <a:ext cx="146304" cy="146304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776472" y="1975104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&amp; FEATURES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520440" y="242316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 w="9525">
            <a:solidFill>
              <a:srgbClr val="DCE4E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611880" y="24231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librosa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520440" y="2862072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 w="9525">
            <a:solidFill>
              <a:srgbClr val="DCE4E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611880" y="286207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SoundFile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520440" y="3300984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 w="9525">
            <a:solidFill>
              <a:srgbClr val="DCE4E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611880" y="330098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Log-Mel spectrogram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172200" y="1828800"/>
            <a:ext cx="2651760" cy="306324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1E2A44">
                <a:alpha val="1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355080" y="2029968"/>
            <a:ext cx="146304" cy="146304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1975104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355080" y="242316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 w="9525">
            <a:solidFill>
              <a:srgbClr val="DCE4E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46520" y="24231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Spectrogram CNN (primary)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355080" y="2862072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 w="9525">
            <a:solidFill>
              <a:srgbClr val="DCE4E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46520" y="286207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AASIST (baseline)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355080" y="3300984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 w="9525">
            <a:solidFill>
              <a:srgbClr val="DCE4E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46520" y="330098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006840" y="1828800"/>
            <a:ext cx="2651760" cy="306324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1E2A44">
                <a:alpha val="1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9189720" y="2029968"/>
            <a:ext cx="146304" cy="146304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9445752" y="1975104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&amp; TOOLING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9189720" y="242316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 w="9525">
            <a:solidFill>
              <a:srgbClr val="DCE4EE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281160" y="24231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9189720" y="2862072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 w="9525">
            <a:solidFill>
              <a:srgbClr val="DCE4EE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281160" y="286207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9189720" y="3300984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 w="9525">
            <a:solidFill>
              <a:srgbClr val="DCE4EE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281160" y="330098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02920" y="5120640"/>
            <a:ext cx="11185855" cy="1051560"/>
          </a:xfrm>
          <a:prstGeom prst="roundRect">
            <a:avLst>
              <a:gd name="adj" fmla="val 7826"/>
            </a:avLst>
          </a:prstGeom>
          <a:solidFill>
            <a:srgbClr val="0B1E3D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777240" y="5257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777240" y="5513832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RTX 4050 Laptop GPU · 6 GB class — used for local training and CUDA-verified inference of the Spectrogram CNN and AASIST baseline.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274320" y="65105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SIH-AEGIS  |  Smart India Hackathon 2026</a:t>
            </a:r>
            <a:endParaRPr lang="en-US" sz="900" dirty="0"/>
          </a:p>
        </p:txBody>
      </p:sp>
      <p:sp>
        <p:nvSpPr>
          <p:cNvPr id="50" name="Text 48"/>
          <p:cNvSpPr txBox="1"/>
          <p:nvPr/>
        </p:nvSpPr>
        <p:spPr>
          <a:xfrm>
            <a:off x="11460175" y="651052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49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1556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separation of concerns — the audio and UI layers stay unchanged as models are upgraded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1920240" cy="603504"/>
          </a:xfrm>
          <a:prstGeom prst="roundRect">
            <a:avLst>
              <a:gd name="adj" fmla="val 10606"/>
            </a:avLst>
          </a:prstGeom>
          <a:solidFill>
            <a:srgbClr val="0B1E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1828800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0" y="1828800"/>
            <a:ext cx="9128455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88920" y="1828800"/>
            <a:ext cx="86712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 — Streamlit upload / record and result display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 rot="10800000">
            <a:off x="1399032" y="2414016"/>
            <a:ext cx="128016" cy="128016"/>
          </a:xfrm>
          <a:prstGeom prst="triangle">
            <a:avLst/>
          </a:prstGeom>
          <a:solidFill>
            <a:srgbClr val="049990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2523744"/>
            <a:ext cx="1920240" cy="603504"/>
          </a:xfrm>
          <a:prstGeom prst="roundRect">
            <a:avLst>
              <a:gd name="adj" fmla="val 10606"/>
            </a:avLst>
          </a:prstGeom>
          <a:solidFill>
            <a:srgbClr val="0B1E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02920" y="2523744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560320" y="2523744"/>
            <a:ext cx="9128455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788920" y="2523744"/>
            <a:ext cx="86712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src/pipeline — detector_pipeline.py · result.py (orchestration, decision layer)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 rot="10800000">
            <a:off x="1399032" y="3108960"/>
            <a:ext cx="128016" cy="128016"/>
          </a:xfrm>
          <a:prstGeom prst="triangle">
            <a:avLst/>
          </a:prstGeom>
          <a:solidFill>
            <a:srgbClr val="049990"/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" y="3218688"/>
            <a:ext cx="1920240" cy="603504"/>
          </a:xfrm>
          <a:prstGeom prst="roundRect">
            <a:avLst>
              <a:gd name="adj" fmla="val 10606"/>
            </a:avLst>
          </a:prstGeom>
          <a:solidFill>
            <a:srgbClr val="0B1E3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02920" y="3218688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60320" y="3218688"/>
            <a:ext cx="9128455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788920" y="3218688"/>
            <a:ext cx="86712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src/audio — audio_loader.py · preprocessing.py · recorder.py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 rot="10800000">
            <a:off x="1399032" y="3803904"/>
            <a:ext cx="128016" cy="128016"/>
          </a:xfrm>
          <a:prstGeom prst="triangle">
            <a:avLst/>
          </a:prstGeom>
          <a:solidFill>
            <a:srgbClr val="049990"/>
          </a:solidFill>
          <a:ln/>
        </p:spPr>
      </p:sp>
      <p:sp>
        <p:nvSpPr>
          <p:cNvPr id="20" name="Shape 18"/>
          <p:cNvSpPr/>
          <p:nvPr/>
        </p:nvSpPr>
        <p:spPr>
          <a:xfrm>
            <a:off x="502920" y="3913632"/>
            <a:ext cx="1920240" cy="603504"/>
          </a:xfrm>
          <a:prstGeom prst="roundRect">
            <a:avLst>
              <a:gd name="adj" fmla="val 10606"/>
            </a:avLst>
          </a:prstGeom>
          <a:solidFill>
            <a:srgbClr val="0B1E3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02920" y="3913632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560320" y="3913632"/>
            <a:ext cx="9128455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788920" y="3913632"/>
            <a:ext cx="86712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src/features — spectrogram.py (log-Mel, 128×128)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 rot="10800000">
            <a:off x="1399032" y="4498848"/>
            <a:ext cx="128016" cy="128016"/>
          </a:xfrm>
          <a:prstGeom prst="triangle">
            <a:avLst/>
          </a:prstGeom>
          <a:solidFill>
            <a:srgbClr val="049990"/>
          </a:solidFill>
          <a:ln/>
        </p:spPr>
      </p:sp>
      <p:sp>
        <p:nvSpPr>
          <p:cNvPr id="25" name="Shape 23"/>
          <p:cNvSpPr/>
          <p:nvPr/>
        </p:nvSpPr>
        <p:spPr>
          <a:xfrm>
            <a:off x="502920" y="4608576"/>
            <a:ext cx="1920240" cy="603504"/>
          </a:xfrm>
          <a:prstGeom prst="roundRect">
            <a:avLst>
              <a:gd name="adj" fmla="val 10606"/>
            </a:avLst>
          </a:prstGeom>
          <a:solidFill>
            <a:srgbClr val="0B1E3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02920" y="4608576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560320" y="4608576"/>
            <a:ext cx="9128455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788920" y="4608576"/>
            <a:ext cx="86712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src/models — cnn/spectrogram_cnn.py (primary) · aasist_detector.py · ensemble.py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 rot="10800000">
            <a:off x="1399032" y="5193792"/>
            <a:ext cx="128016" cy="128016"/>
          </a:xfrm>
          <a:prstGeom prst="triangle">
            <a:avLst/>
          </a:prstGeom>
          <a:solidFill>
            <a:srgbClr val="049990"/>
          </a:solidFill>
          <a:ln/>
        </p:spPr>
      </p:sp>
      <p:sp>
        <p:nvSpPr>
          <p:cNvPr id="30" name="Shape 28"/>
          <p:cNvSpPr/>
          <p:nvPr/>
        </p:nvSpPr>
        <p:spPr>
          <a:xfrm>
            <a:off x="502920" y="5303520"/>
            <a:ext cx="1920240" cy="603504"/>
          </a:xfrm>
          <a:prstGeom prst="roundRect">
            <a:avLst>
              <a:gd name="adj" fmla="val 10606"/>
            </a:avLst>
          </a:prstGeom>
          <a:solidFill>
            <a:srgbClr val="0B1E3D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02920" y="5303520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&amp; Tests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2560320" y="5303520"/>
            <a:ext cx="9128455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788920" y="5303520"/>
            <a:ext cx="86712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src/training · tests/audio · tests/models · tests/pipeline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274320" y="65105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SIH-AEGIS  |  Smart India Hackathon 2026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460175" y="651052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49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STRATEGY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Designing For The Indian Context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1556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diversity of speech shapes how the training data must be built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5120640" cy="4160520"/>
          </a:xfrm>
          <a:prstGeom prst="roundRect">
            <a:avLst>
              <a:gd name="adj" fmla="val 2198"/>
            </a:avLst>
          </a:prstGeom>
          <a:solidFill>
            <a:srgbClr val="0B1E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DIVERSITY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7240" y="2423160"/>
            <a:ext cx="2148840" cy="548640"/>
          </a:xfrm>
          <a:prstGeom prst="roundRect">
            <a:avLst>
              <a:gd name="adj" fmla="val 50000"/>
            </a:avLst>
          </a:prstGeom>
          <a:solidFill>
            <a:srgbClr val="15325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4231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08960" y="2423160"/>
            <a:ext cx="2148840" cy="548640"/>
          </a:xfrm>
          <a:prstGeom prst="roundRect">
            <a:avLst>
              <a:gd name="adj" fmla="val 50000"/>
            </a:avLst>
          </a:prstGeom>
          <a:solidFill>
            <a:srgbClr val="15325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108960" y="24231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3108960"/>
            <a:ext cx="2148840" cy="548640"/>
          </a:xfrm>
          <a:prstGeom prst="roundRect">
            <a:avLst>
              <a:gd name="adj" fmla="val 50000"/>
            </a:avLst>
          </a:prstGeom>
          <a:solidFill>
            <a:srgbClr val="15325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31089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108960" y="3108960"/>
            <a:ext cx="2148840" cy="548640"/>
          </a:xfrm>
          <a:prstGeom prst="roundRect">
            <a:avLst>
              <a:gd name="adj" fmla="val 50000"/>
            </a:avLst>
          </a:prstGeom>
          <a:solidFill>
            <a:srgbClr val="15325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108960" y="31089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" y="3794760"/>
            <a:ext cx="2148840" cy="548640"/>
          </a:xfrm>
          <a:prstGeom prst="roundRect">
            <a:avLst>
              <a:gd name="adj" fmla="val 50000"/>
            </a:avLst>
          </a:prstGeom>
          <a:solidFill>
            <a:srgbClr val="15325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37947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108960" y="3794760"/>
            <a:ext cx="2148840" cy="548640"/>
          </a:xfrm>
          <a:prstGeom prst="roundRect">
            <a:avLst>
              <a:gd name="adj" fmla="val 50000"/>
            </a:avLst>
          </a:prstGeom>
          <a:solidFill>
            <a:srgbClr val="15325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108960" y="37947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conditions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709160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trained only on a narrow speech population may not perform equally well for Indian users.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63640" y="1783080"/>
            <a:ext cx="544068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1E2A44">
                <a:alpha val="1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537960" y="20116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49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LONG-TERM DATA STRATEGY INCLUDES: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583680" y="2505456"/>
            <a:ext cx="82296" cy="82296"/>
          </a:xfrm>
          <a:prstGeom prst="ellipse">
            <a:avLst/>
          </a:prstGeom>
          <a:solidFill>
            <a:srgbClr val="04999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12280" y="2450592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speakers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583680" y="2889504"/>
            <a:ext cx="82296" cy="82296"/>
          </a:xfrm>
          <a:prstGeom prst="ellipse">
            <a:avLst/>
          </a:prstGeom>
          <a:solidFill>
            <a:srgbClr val="04999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812280" y="2834640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English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583680" y="3273552"/>
            <a:ext cx="82296" cy="82296"/>
          </a:xfrm>
          <a:prstGeom prst="ellipse">
            <a:avLst/>
          </a:prstGeom>
          <a:solidFill>
            <a:srgbClr val="04999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812280" y="3218688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Indian regional languages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583680" y="3657600"/>
            <a:ext cx="82296" cy="82296"/>
          </a:xfrm>
          <a:prstGeom prst="ellipse">
            <a:avLst/>
          </a:prstGeom>
          <a:solidFill>
            <a:srgbClr val="049990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812280" y="3602736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recording devices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583680" y="4041648"/>
            <a:ext cx="82296" cy="82296"/>
          </a:xfrm>
          <a:prstGeom prst="ellipse">
            <a:avLst/>
          </a:prstGeom>
          <a:solidFill>
            <a:srgbClr val="049990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812280" y="3986784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environments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583680" y="4425696"/>
            <a:ext cx="82296" cy="82296"/>
          </a:xfrm>
          <a:prstGeom prst="ellipse">
            <a:avLst/>
          </a:prstGeom>
          <a:solidFill>
            <a:srgbClr val="049990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812280" y="4370832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conditions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583680" y="4809744"/>
            <a:ext cx="82296" cy="82296"/>
          </a:xfrm>
          <a:prstGeom prst="ellipse">
            <a:avLst/>
          </a:prstGeom>
          <a:solidFill>
            <a:srgbClr val="049990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812280" y="4754880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synthetic voice-generation methods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6537960" y="52578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intended to make the system more suitable for the Indian context.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274320" y="65105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SIH-AEGIS  |  Smart India Hackathon 2026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460175" y="651052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49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APPLICATION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Android Application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1556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end-user app for recording, analysis, and a simple security interface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1750009" cy="1051560"/>
          </a:xfrm>
          <a:prstGeom prst="roundRect">
            <a:avLst>
              <a:gd name="adj" fmla="val 6957"/>
            </a:avLst>
          </a:prstGeom>
          <a:solidFill>
            <a:srgbClr val="15325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828800"/>
            <a:ext cx="165856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 rot="5400000">
            <a:off x="2248357" y="2281428"/>
            <a:ext cx="146304" cy="146304"/>
          </a:xfrm>
          <a:prstGeom prst="triangle">
            <a:avLst/>
          </a:prstGeom>
          <a:solidFill>
            <a:srgbClr val="049990"/>
          </a:solidFill>
          <a:ln/>
        </p:spPr>
      </p:sp>
      <p:sp>
        <p:nvSpPr>
          <p:cNvPr id="8" name="Shape 6"/>
          <p:cNvSpPr/>
          <p:nvPr/>
        </p:nvSpPr>
        <p:spPr>
          <a:xfrm>
            <a:off x="2390089" y="1828800"/>
            <a:ext cx="1750009" cy="1051560"/>
          </a:xfrm>
          <a:prstGeom prst="roundRect">
            <a:avLst>
              <a:gd name="adj" fmla="val 6957"/>
            </a:avLst>
          </a:prstGeom>
          <a:solidFill>
            <a:srgbClr val="15325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435809" y="1828800"/>
            <a:ext cx="165856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Microphone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 rot="5400000">
            <a:off x="4135526" y="2281428"/>
            <a:ext cx="146304" cy="146304"/>
          </a:xfrm>
          <a:prstGeom prst="triangle">
            <a:avLst/>
          </a:prstGeom>
          <a:solidFill>
            <a:srgbClr val="049990"/>
          </a:solidFill>
          <a:ln/>
        </p:spPr>
      </p:sp>
      <p:sp>
        <p:nvSpPr>
          <p:cNvPr id="11" name="Shape 9"/>
          <p:cNvSpPr/>
          <p:nvPr/>
        </p:nvSpPr>
        <p:spPr>
          <a:xfrm>
            <a:off x="4277258" y="1828800"/>
            <a:ext cx="1750009" cy="1051560"/>
          </a:xfrm>
          <a:prstGeom prst="roundRect">
            <a:avLst>
              <a:gd name="adj" fmla="val 6957"/>
            </a:avLst>
          </a:prstGeom>
          <a:solidFill>
            <a:srgbClr val="15325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322978" y="1828800"/>
            <a:ext cx="165856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 rot="5400000">
            <a:off x="6022696" y="2281428"/>
            <a:ext cx="146304" cy="146304"/>
          </a:xfrm>
          <a:prstGeom prst="triangle">
            <a:avLst/>
          </a:prstGeom>
          <a:solidFill>
            <a:srgbClr val="049990"/>
          </a:solidFill>
          <a:ln/>
        </p:spPr>
      </p:sp>
      <p:sp>
        <p:nvSpPr>
          <p:cNvPr id="14" name="Shape 12"/>
          <p:cNvSpPr/>
          <p:nvPr/>
        </p:nvSpPr>
        <p:spPr>
          <a:xfrm>
            <a:off x="6164428" y="1828800"/>
            <a:ext cx="1750009" cy="1051560"/>
          </a:xfrm>
          <a:prstGeom prst="roundRect">
            <a:avLst>
              <a:gd name="adj" fmla="val 6957"/>
            </a:avLst>
          </a:prstGeom>
          <a:solidFill>
            <a:srgbClr val="15325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10148" y="1828800"/>
            <a:ext cx="165856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 rot="5400000">
            <a:off x="7909865" y="2281428"/>
            <a:ext cx="146304" cy="146304"/>
          </a:xfrm>
          <a:prstGeom prst="triangle">
            <a:avLst/>
          </a:prstGeom>
          <a:solidFill>
            <a:srgbClr val="049990"/>
          </a:solidFill>
          <a:ln/>
        </p:spPr>
      </p:sp>
      <p:sp>
        <p:nvSpPr>
          <p:cNvPr id="17" name="Shape 15"/>
          <p:cNvSpPr/>
          <p:nvPr/>
        </p:nvSpPr>
        <p:spPr>
          <a:xfrm>
            <a:off x="8051597" y="1828800"/>
            <a:ext cx="1750009" cy="1051560"/>
          </a:xfrm>
          <a:prstGeom prst="roundRect">
            <a:avLst>
              <a:gd name="adj" fmla="val 6957"/>
            </a:avLst>
          </a:prstGeom>
          <a:solidFill>
            <a:srgbClr val="15325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097317" y="1828800"/>
            <a:ext cx="165856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 rot="5400000">
            <a:off x="9797034" y="2281428"/>
            <a:ext cx="146304" cy="146304"/>
          </a:xfrm>
          <a:prstGeom prst="triangle">
            <a:avLst/>
          </a:prstGeom>
          <a:solidFill>
            <a:srgbClr val="049990"/>
          </a:solidFill>
          <a:ln/>
        </p:spPr>
      </p:sp>
      <p:sp>
        <p:nvSpPr>
          <p:cNvPr id="20" name="Shape 18"/>
          <p:cNvSpPr/>
          <p:nvPr/>
        </p:nvSpPr>
        <p:spPr>
          <a:xfrm>
            <a:off x="9938766" y="1828800"/>
            <a:ext cx="1750009" cy="1051560"/>
          </a:xfrm>
          <a:prstGeom prst="roundRect">
            <a:avLst>
              <a:gd name="adj" fmla="val 6957"/>
            </a:avLst>
          </a:prstGeom>
          <a:solidFill>
            <a:srgbClr val="0B1E3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984486" y="1828800"/>
            <a:ext cx="165856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3246120"/>
            <a:ext cx="534924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1E2A44">
                <a:alpha val="1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777240" y="34564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9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CAPABILITIES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22960" y="3858768"/>
            <a:ext cx="82296" cy="82296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51560" y="37947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Collecting voice samples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22960" y="4361688"/>
            <a:ext cx="82296" cy="82296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051560" y="42976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Analyzing suspicious speech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22960" y="4864608"/>
            <a:ext cx="82296" cy="82296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051560" y="48006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Providing a simple security interface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623560" y="3246120"/>
            <a:ext cx="6080760" cy="2743200"/>
          </a:xfrm>
          <a:prstGeom prst="roundRect">
            <a:avLst>
              <a:gd name="adj" fmla="val 3333"/>
            </a:avLst>
          </a:prstGeom>
          <a:solidFill>
            <a:srgbClr val="0B1E3D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897880" y="34564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DATA-COLLECTION MODE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897880" y="3794760"/>
            <a:ext cx="5532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mode is planned that helps us collect consent-based, genuine Indian voice recordings for model development.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274320" y="65105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SIH-AEGIS  |  Smart India Hackathon 2026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460175" y="651052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49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APPLICATION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Android Data Collection Idea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1556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recording sessions instead of manually created audio files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1750009" cy="1143000"/>
          </a:xfrm>
          <a:prstGeom prst="roundRect">
            <a:avLst>
              <a:gd name="adj" fmla="val 6400"/>
            </a:avLst>
          </a:prstGeom>
          <a:solidFill>
            <a:srgbClr val="15325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920240"/>
            <a:ext cx="1658569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 rot="5400000">
            <a:off x="2248357" y="2418588"/>
            <a:ext cx="146304" cy="146304"/>
          </a:xfrm>
          <a:prstGeom prst="triangle">
            <a:avLst/>
          </a:prstGeom>
          <a:solidFill>
            <a:srgbClr val="049990"/>
          </a:solidFill>
          <a:ln/>
        </p:spPr>
      </p:sp>
      <p:sp>
        <p:nvSpPr>
          <p:cNvPr id="8" name="Shape 6"/>
          <p:cNvSpPr/>
          <p:nvPr/>
        </p:nvSpPr>
        <p:spPr>
          <a:xfrm>
            <a:off x="2390089" y="1920240"/>
            <a:ext cx="1750009" cy="1143000"/>
          </a:xfrm>
          <a:prstGeom prst="roundRect">
            <a:avLst>
              <a:gd name="adj" fmla="val 6400"/>
            </a:avLst>
          </a:prstGeom>
          <a:solidFill>
            <a:srgbClr val="15325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435809" y="1920240"/>
            <a:ext cx="1658569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 rot="5400000">
            <a:off x="4135526" y="2418588"/>
            <a:ext cx="146304" cy="146304"/>
          </a:xfrm>
          <a:prstGeom prst="triangle">
            <a:avLst/>
          </a:prstGeom>
          <a:solidFill>
            <a:srgbClr val="049990"/>
          </a:solidFill>
          <a:ln/>
        </p:spPr>
      </p:sp>
      <p:sp>
        <p:nvSpPr>
          <p:cNvPr id="11" name="Shape 9"/>
          <p:cNvSpPr/>
          <p:nvPr/>
        </p:nvSpPr>
        <p:spPr>
          <a:xfrm>
            <a:off x="4277258" y="1920240"/>
            <a:ext cx="1750009" cy="1143000"/>
          </a:xfrm>
          <a:prstGeom prst="roundRect">
            <a:avLst>
              <a:gd name="adj" fmla="val 6400"/>
            </a:avLst>
          </a:prstGeom>
          <a:solidFill>
            <a:srgbClr val="15325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322978" y="1920240"/>
            <a:ext cx="1658569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 rot="5400000">
            <a:off x="6022696" y="2418588"/>
            <a:ext cx="146304" cy="146304"/>
          </a:xfrm>
          <a:prstGeom prst="triangle">
            <a:avLst/>
          </a:prstGeom>
          <a:solidFill>
            <a:srgbClr val="049990"/>
          </a:solidFill>
          <a:ln/>
        </p:spPr>
      </p:sp>
      <p:sp>
        <p:nvSpPr>
          <p:cNvPr id="14" name="Shape 12"/>
          <p:cNvSpPr/>
          <p:nvPr/>
        </p:nvSpPr>
        <p:spPr>
          <a:xfrm>
            <a:off x="6164428" y="1920240"/>
            <a:ext cx="1750009" cy="1143000"/>
          </a:xfrm>
          <a:prstGeom prst="roundRect">
            <a:avLst>
              <a:gd name="adj" fmla="val 6400"/>
            </a:avLst>
          </a:prstGeom>
          <a:solidFill>
            <a:srgbClr val="15325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10148" y="1920240"/>
            <a:ext cx="1658569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 rot="5400000">
            <a:off x="7909865" y="2418588"/>
            <a:ext cx="146304" cy="146304"/>
          </a:xfrm>
          <a:prstGeom prst="triangle">
            <a:avLst/>
          </a:prstGeom>
          <a:solidFill>
            <a:srgbClr val="049990"/>
          </a:solidFill>
          <a:ln/>
        </p:spPr>
      </p:sp>
      <p:sp>
        <p:nvSpPr>
          <p:cNvPr id="17" name="Shape 15"/>
          <p:cNvSpPr/>
          <p:nvPr/>
        </p:nvSpPr>
        <p:spPr>
          <a:xfrm>
            <a:off x="8051597" y="1920240"/>
            <a:ext cx="1750009" cy="1143000"/>
          </a:xfrm>
          <a:prstGeom prst="roundRect">
            <a:avLst>
              <a:gd name="adj" fmla="val 6400"/>
            </a:avLst>
          </a:prstGeom>
          <a:solidFill>
            <a:srgbClr val="15325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097317" y="1920240"/>
            <a:ext cx="1658569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 rot="5400000">
            <a:off x="9797034" y="2418588"/>
            <a:ext cx="146304" cy="146304"/>
          </a:xfrm>
          <a:prstGeom prst="triangle">
            <a:avLst/>
          </a:prstGeom>
          <a:solidFill>
            <a:srgbClr val="049990"/>
          </a:solidFill>
          <a:ln/>
        </p:spPr>
      </p:sp>
      <p:sp>
        <p:nvSpPr>
          <p:cNvPr id="20" name="Shape 18"/>
          <p:cNvSpPr/>
          <p:nvPr/>
        </p:nvSpPr>
        <p:spPr>
          <a:xfrm>
            <a:off x="9938766" y="1920240"/>
            <a:ext cx="1750009" cy="1143000"/>
          </a:xfrm>
          <a:prstGeom prst="roundRect">
            <a:avLst>
              <a:gd name="adj" fmla="val 6400"/>
            </a:avLst>
          </a:prstGeom>
          <a:solidFill>
            <a:srgbClr val="15325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984486" y="1920240"/>
            <a:ext cx="1658569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338328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back to the next sentence, building a diverse genuine-voice dataset one guided session at a time.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02920" y="3977640"/>
            <a:ext cx="11185855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1E2A44">
                <a:alpha val="1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822960" y="4187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9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4498848"/>
            <a:ext cx="105457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allows us to build a diverse genuine-voice dataset.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Later, synthetic versions of suitable recordings can be generated using multiple voice-generation methods for controlled spoof data.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274320" y="65105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SIH-AEGIS  |  Smart India Hackathon 2026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460175" y="651052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49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SECURITY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 And Security By Design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1556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is sensitive biometric information — protecting it is a core design principle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11185855" cy="777240"/>
          </a:xfrm>
          <a:prstGeom prst="roundRect">
            <a:avLst>
              <a:gd name="adj" fmla="val 10588"/>
            </a:avLst>
          </a:prstGeom>
          <a:solidFill>
            <a:srgbClr val="0B1E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78308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want the system to protect users without creating another privacy problem.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2834640"/>
            <a:ext cx="347472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1E2A44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04088" y="3035808"/>
            <a:ext cx="384048" cy="384048"/>
          </a:xfrm>
          <a:prstGeom prst="ellipse">
            <a:avLst/>
          </a:prstGeom>
          <a:solidFill>
            <a:srgbClr val="0B1E3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04088" y="3035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97180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data only with consent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60520" y="2834640"/>
            <a:ext cx="347472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1E2A44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61688" y="3035808"/>
            <a:ext cx="384048" cy="384048"/>
          </a:xfrm>
          <a:prstGeom prst="ellipse">
            <a:avLst/>
          </a:prstGeom>
          <a:solidFill>
            <a:srgbClr val="0B1E3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361688" y="3035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297180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only necessary information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818120" y="2834640"/>
            <a:ext cx="347472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1E2A44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19288" y="3035808"/>
            <a:ext cx="384048" cy="384048"/>
          </a:xfrm>
          <a:prstGeom prst="ellipse">
            <a:avLst/>
          </a:prstGeom>
          <a:solidFill>
            <a:srgbClr val="0B1E3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019288" y="3035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503920" y="297180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stored recordings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4297680"/>
            <a:ext cx="347472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1E2A44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04088" y="4498848"/>
            <a:ext cx="384048" cy="384048"/>
          </a:xfrm>
          <a:prstGeom prst="ellipse">
            <a:avLst/>
          </a:prstGeom>
          <a:solidFill>
            <a:srgbClr val="0B1E3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04088" y="4498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443484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access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160520" y="4297680"/>
            <a:ext cx="347472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1E2A44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361688" y="4498848"/>
            <a:ext cx="384048" cy="384048"/>
          </a:xfrm>
          <a:prstGeom prst="ellipse">
            <a:avLst/>
          </a:prstGeom>
          <a:solidFill>
            <a:srgbClr val="0B1E3D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361688" y="4498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846320" y="443484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identities from model data where possible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818120" y="4297680"/>
            <a:ext cx="347472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1E2A44">
                <a:alpha val="1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019288" y="4498848"/>
            <a:ext cx="384048" cy="384048"/>
          </a:xfrm>
          <a:prstGeom prst="ellipse">
            <a:avLst/>
          </a:prstGeom>
          <a:solidFill>
            <a:srgbClr val="0B1E3D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019288" y="4498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8503920" y="443484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deletion policy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274320" y="65105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SIH-AEGIS  |  Smart India Hackathon 2026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460175" y="651052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49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Can This Be Used?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1556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settings where a computed authenticity signal adds protection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35661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1E2A44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58952" y="2066544"/>
            <a:ext cx="146304" cy="146304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14984" y="1993392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Banking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6032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suspicious synthetic voices before voice-authorized transactions.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51960" y="1828800"/>
            <a:ext cx="35661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1E2A44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07992" y="2066544"/>
            <a:ext cx="146304" cy="146304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64024" y="1993392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KYC &amp; Voice Authentication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56032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authenticity check before trusting a voice identity.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01000" y="1828800"/>
            <a:ext cx="35661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1E2A44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57032" y="2066544"/>
            <a:ext cx="146304" cy="146304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513064" y="1993392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 Centers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256032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potential synthetic callers attempting account takeover.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3886200"/>
            <a:ext cx="35661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1E2A44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58952" y="4123944"/>
            <a:ext cx="146304" cy="146304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14984" y="4050792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 Protection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461772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users recognize suspicious cloned voices.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251960" y="3886200"/>
            <a:ext cx="35661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1E2A44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07992" y="4123944"/>
            <a:ext cx="146304" cy="146304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764024" y="4050792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Scam Prevention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526280" y="461772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investigation and screening of reported voice scams.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001000" y="3886200"/>
            <a:ext cx="35661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1E2A44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257032" y="4123944"/>
            <a:ext cx="146304" cy="146304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513064" y="4050792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Identity Protection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275320" y="461772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another security signal when someone's voice has been cloned.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274320" y="65105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SIH-AEGIS  |  Smart India Hackathon 2026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460175" y="651052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49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Status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1556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already built and verified, and what is still in progress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1E2A44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828800"/>
            <a:ext cx="5349240" cy="502920"/>
          </a:xfrm>
          <a:prstGeom prst="rect">
            <a:avLst/>
          </a:prstGeom>
          <a:solidFill>
            <a:srgbClr val="04999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82880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COMPLETED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2660904"/>
            <a:ext cx="91440" cy="91440"/>
          </a:xfrm>
          <a:prstGeom prst="ellipse">
            <a:avLst/>
          </a:prstGeom>
          <a:solidFill>
            <a:srgbClr val="04999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05840" y="2606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voice-recording system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3063240"/>
            <a:ext cx="91440" cy="91440"/>
          </a:xfrm>
          <a:prstGeom prst="ellipse">
            <a:avLst/>
          </a:prstGeom>
          <a:solidFill>
            <a:srgbClr val="04999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05840" y="300837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preprocessing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3465576"/>
            <a:ext cx="91440" cy="91440"/>
          </a:xfrm>
          <a:prstGeom prst="ellipse">
            <a:avLst/>
          </a:prstGeom>
          <a:solidFill>
            <a:srgbClr val="0499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05840" y="34107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anti-spoofing baseline (AASIST)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" y="3867912"/>
            <a:ext cx="91440" cy="91440"/>
          </a:xfrm>
          <a:prstGeom prst="ellipse">
            <a:avLst/>
          </a:prstGeom>
          <a:solidFill>
            <a:srgbClr val="04999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05840" y="38130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Streamlit prototype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4270248"/>
            <a:ext cx="91440" cy="91440"/>
          </a:xfrm>
          <a:prstGeom prst="ellipse">
            <a:avLst/>
          </a:prstGeom>
          <a:solidFill>
            <a:srgbClr val="04999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05840" y="421538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Spectrogram generation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7240" y="4672584"/>
            <a:ext cx="91440" cy="91440"/>
          </a:xfrm>
          <a:prstGeom prst="ellipse">
            <a:avLst/>
          </a:prstGeom>
          <a:solidFill>
            <a:srgbClr val="04999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05840" y="4617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CNN architecture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" y="5074920"/>
            <a:ext cx="91440" cy="91440"/>
          </a:xfrm>
          <a:prstGeom prst="ellipse">
            <a:avLst/>
          </a:prstGeom>
          <a:solidFill>
            <a:srgbClr val="04999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05840" y="502005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setup and testing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77240" y="5477256"/>
            <a:ext cx="91440" cy="91440"/>
          </a:xfrm>
          <a:prstGeom prst="ellipse">
            <a:avLst/>
          </a:prstGeom>
          <a:solidFill>
            <a:srgbClr val="04999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05840" y="54223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project structure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26480" y="182880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1E2A44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1828800"/>
            <a:ext cx="5349240" cy="502920"/>
          </a:xfrm>
          <a:prstGeom prst="rect">
            <a:avLst/>
          </a:prstGeom>
          <a:solidFill>
            <a:srgbClr val="C9862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00800" y="182880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WORKING ON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00800" y="2660904"/>
            <a:ext cx="91440" cy="91440"/>
          </a:xfrm>
          <a:prstGeom prst="ellipse">
            <a:avLst/>
          </a:prstGeom>
          <a:solidFill>
            <a:srgbClr val="C9862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629400" y="2606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the training dataset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0" y="3063240"/>
            <a:ext cx="91440" cy="91440"/>
          </a:xfrm>
          <a:prstGeom prst="ellipse">
            <a:avLst/>
          </a:prstGeom>
          <a:solidFill>
            <a:srgbClr val="C9862B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629400" y="300837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the CNN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00800" y="3465576"/>
            <a:ext cx="91440" cy="91440"/>
          </a:xfrm>
          <a:prstGeom prst="ellipse">
            <a:avLst/>
          </a:prstGeom>
          <a:solidFill>
            <a:srgbClr val="C9862B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629400" y="34107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the CNN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400800" y="3867912"/>
            <a:ext cx="91440" cy="91440"/>
          </a:xfrm>
          <a:prstGeom prst="ellipse">
            <a:avLst/>
          </a:prstGeom>
          <a:solidFill>
            <a:srgbClr val="C9862B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629400" y="38130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the trained CNN to the application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400800" y="4270248"/>
            <a:ext cx="91440" cy="91440"/>
          </a:xfrm>
          <a:prstGeom prst="ellipse">
            <a:avLst/>
          </a:prstGeom>
          <a:solidFill>
            <a:srgbClr val="C9862B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629400" y="421538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data-collection application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274320" y="65105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SIH-AEGIS  |  Smart India Hackathon 2026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460175" y="651052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49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&amp; VIABILITY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Potential Challenges And Risks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1556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go wrong on the path from prototype to a reliable detector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35661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1E2A44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993392"/>
            <a:ext cx="384048" cy="384048"/>
          </a:xfrm>
          <a:prstGeom prst="ellipse">
            <a:avLst/>
          </a:prstGeom>
          <a:solidFill>
            <a:srgbClr val="C9862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9659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/ Dataset Mismatch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51460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detector trained on one corpus mis-scores audio from different devices, codecs and languages.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51960" y="1828800"/>
            <a:ext cx="35661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1E2A44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34840" y="1993392"/>
            <a:ext cx="384048" cy="384048"/>
          </a:xfrm>
          <a:prstGeom prst="ellipse">
            <a:avLst/>
          </a:prstGeom>
          <a:solidFill>
            <a:srgbClr val="C9862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434840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19659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False Positives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526280" y="251460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showed pretrained AASIST correctly flagged our generated clones, but also predicted spoof for several genuine microphone and call recordings.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01000" y="1828800"/>
            <a:ext cx="35661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1E2A44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83880" y="1993392"/>
            <a:ext cx="384048" cy="384048"/>
          </a:xfrm>
          <a:prstGeom prst="ellipse">
            <a:avLst/>
          </a:prstGeom>
          <a:solidFill>
            <a:srgbClr val="C9862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183880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0" y="19659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Unseen Cloning Systems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275320" y="251460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TTS and voice-conversion models appear faster than public spoof datasets are refreshed.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3886200"/>
            <a:ext cx="35661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1E2A44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" y="4050792"/>
            <a:ext cx="384048" cy="384048"/>
          </a:xfrm>
          <a:prstGeom prst="ellipse">
            <a:avLst/>
          </a:prstGeom>
          <a:solidFill>
            <a:srgbClr val="C9862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85800" y="4050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40233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Indian Speech Coverage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777240" y="457200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ASVspoof2019 LA is a useful benchmark but does not represent Indian accents, languages or recording conditions.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251960" y="3886200"/>
            <a:ext cx="35661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1E2A44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434840" y="4050792"/>
            <a:ext cx="384048" cy="384048"/>
          </a:xfrm>
          <a:prstGeom prst="ellipse">
            <a:avLst/>
          </a:prstGeom>
          <a:solidFill>
            <a:srgbClr val="C9862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434840" y="4050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937760" y="40233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Latency Budget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4526280" y="457200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inference must stay well inside conversational delay to be usable in a live call.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001000" y="3886200"/>
            <a:ext cx="35661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1E2A44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183880" y="4050792"/>
            <a:ext cx="384048" cy="384048"/>
          </a:xfrm>
          <a:prstGeom prst="ellipse">
            <a:avLst/>
          </a:prstGeom>
          <a:solidFill>
            <a:srgbClr val="C9862B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183880" y="4050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686800" y="40233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Single-GPU Development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8275320" y="457200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work currently runs on one 6 GB-class laptop GPU, which caps model and batch size.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274320" y="65105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SIH-AEGIS  |  Smart India Hackathon 2026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1460175" y="651052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49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&amp; VIABILITY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Strategies For Overcoming Them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1556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mitigation paired with each risk identified on the previous slide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35661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1E2A44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993392"/>
            <a:ext cx="384048" cy="384048"/>
          </a:xfrm>
          <a:prstGeom prst="ellipse">
            <a:avLst/>
          </a:prstGeom>
          <a:solidFill>
            <a:srgbClr val="04999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9659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On Representative Audio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51460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training set targets Indian speakers, Indian English and regional languages alongside real microphone and call recordings.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51960" y="1828800"/>
            <a:ext cx="35661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1E2A44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34840" y="1993392"/>
            <a:ext cx="384048" cy="384048"/>
          </a:xfrm>
          <a:prstGeom prst="ellipse">
            <a:avLst/>
          </a:prstGeom>
          <a:solidFill>
            <a:srgbClr val="04999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434840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19659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Benchmark, Don't Defer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526280" y="251460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AASIST stays as a measured reference point; the custom CNN is evaluated against it rather than assumed better.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01000" y="1828800"/>
            <a:ext cx="35661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1E2A44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83880" y="1993392"/>
            <a:ext cx="384048" cy="384048"/>
          </a:xfrm>
          <a:prstGeom prst="ellipse">
            <a:avLst/>
          </a:prstGeom>
          <a:solidFill>
            <a:srgbClr val="04999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183880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0" y="19659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Augment For The Real World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275320" y="251460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Codec, noise, device and environment variation added during training so the model sees distribution shift before deployment does.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3886200"/>
            <a:ext cx="35661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1E2A44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" y="4050792"/>
            <a:ext cx="384048" cy="384048"/>
          </a:xfrm>
          <a:prstGeom prst="ellipse">
            <a:avLst/>
          </a:prstGeom>
          <a:solidFill>
            <a:srgbClr val="04999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85800" y="4050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40233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The Model Small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777240" y="457200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≈ 97.9K-parameter network is cheap to retrain, so new attack families can be absorbed quickly.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251960" y="3886200"/>
            <a:ext cx="35661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1E2A44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434840" y="4050792"/>
            <a:ext cx="384048" cy="384048"/>
          </a:xfrm>
          <a:prstGeom prst="ellipse">
            <a:avLst/>
          </a:prstGeom>
          <a:solidFill>
            <a:srgbClr val="04999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434840" y="4050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937760" y="40233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Front End, Swappable Model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4526280" y="457200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log-Mel pipeline feeds every detector, so a new model drops in behind the same interface.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001000" y="3886200"/>
            <a:ext cx="35661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1E2A44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183880" y="4050792"/>
            <a:ext cx="384048" cy="384048"/>
          </a:xfrm>
          <a:prstGeom prst="ellipse">
            <a:avLst/>
          </a:prstGeom>
          <a:solidFill>
            <a:srgbClr val="049990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183880" y="4050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686800" y="40233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Each Stage Independently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8275320" y="457200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tests/audio, tests/models and tests/pipeline isolate failures instead of debugging the whole system at once.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274320" y="65105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SIH-AEGIS  |  Smart India Hackathon 2026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1460175" y="651052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49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AND BENEFITS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— From Prototype To Deployable Control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1556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position: Stage 1. No production readiness, deployment, or accuracy claim is made.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2103120"/>
            <a:ext cx="1772869" cy="1051560"/>
          </a:xfrm>
          <a:prstGeom prst="roundRect">
            <a:avLst>
              <a:gd name="adj" fmla="val 6957"/>
            </a:avLst>
          </a:prstGeom>
          <a:solidFill>
            <a:srgbClr val="0499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194560"/>
            <a:ext cx="16814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468880"/>
            <a:ext cx="168142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 rot="5400000">
            <a:off x="2266645" y="2564892"/>
            <a:ext cx="128016" cy="128016"/>
          </a:xfrm>
          <a:prstGeom prst="triangle">
            <a:avLst/>
          </a:prstGeom>
          <a:solidFill>
            <a:srgbClr val="049990"/>
          </a:solidFill>
          <a:ln/>
        </p:spPr>
      </p:sp>
      <p:sp>
        <p:nvSpPr>
          <p:cNvPr id="9" name="Shape 7"/>
          <p:cNvSpPr/>
          <p:nvPr/>
        </p:nvSpPr>
        <p:spPr>
          <a:xfrm>
            <a:off x="2385517" y="2103120"/>
            <a:ext cx="1772869" cy="1051560"/>
          </a:xfrm>
          <a:prstGeom prst="roundRect">
            <a:avLst>
              <a:gd name="adj" fmla="val 6957"/>
            </a:avLst>
          </a:prstGeom>
          <a:solidFill>
            <a:srgbClr val="15325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431237" y="2194560"/>
            <a:ext cx="16814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2431237" y="2468880"/>
            <a:ext cx="168142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Training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Evaluation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 rot="5400000">
            <a:off x="4149242" y="2564892"/>
            <a:ext cx="128016" cy="128016"/>
          </a:xfrm>
          <a:prstGeom prst="triangle">
            <a:avLst/>
          </a:prstGeom>
          <a:solidFill>
            <a:srgbClr val="049990"/>
          </a:solidFill>
          <a:ln/>
        </p:spPr>
      </p:sp>
      <p:sp>
        <p:nvSpPr>
          <p:cNvPr id="13" name="Shape 11"/>
          <p:cNvSpPr/>
          <p:nvPr/>
        </p:nvSpPr>
        <p:spPr>
          <a:xfrm>
            <a:off x="4268114" y="2103120"/>
            <a:ext cx="1772869" cy="1051560"/>
          </a:xfrm>
          <a:prstGeom prst="roundRect">
            <a:avLst>
              <a:gd name="adj" fmla="val 6957"/>
            </a:avLst>
          </a:prstGeom>
          <a:solidFill>
            <a:srgbClr val="15325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313834" y="2194560"/>
            <a:ext cx="16814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4313834" y="2468880"/>
            <a:ext cx="168142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 Inference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 rot="5400000">
            <a:off x="6031840" y="2564892"/>
            <a:ext cx="128016" cy="128016"/>
          </a:xfrm>
          <a:prstGeom prst="triangle">
            <a:avLst/>
          </a:prstGeom>
          <a:solidFill>
            <a:srgbClr val="049990"/>
          </a:solidFill>
          <a:ln/>
        </p:spPr>
      </p:sp>
      <p:sp>
        <p:nvSpPr>
          <p:cNvPr id="17" name="Shape 15"/>
          <p:cNvSpPr/>
          <p:nvPr/>
        </p:nvSpPr>
        <p:spPr>
          <a:xfrm>
            <a:off x="6150712" y="2103120"/>
            <a:ext cx="1772869" cy="1051560"/>
          </a:xfrm>
          <a:prstGeom prst="roundRect">
            <a:avLst>
              <a:gd name="adj" fmla="val 6957"/>
            </a:avLst>
          </a:prstGeom>
          <a:solidFill>
            <a:srgbClr val="15325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196432" y="2194560"/>
            <a:ext cx="16814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196432" y="2468880"/>
            <a:ext cx="168142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Robustness: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Codecs, Noise, Devices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 rot="5400000">
            <a:off x="7914437" y="2564892"/>
            <a:ext cx="128016" cy="128016"/>
          </a:xfrm>
          <a:prstGeom prst="triangle">
            <a:avLst/>
          </a:prstGeom>
          <a:solidFill>
            <a:srgbClr val="049990"/>
          </a:solidFill>
          <a:ln/>
        </p:spPr>
      </p:sp>
      <p:sp>
        <p:nvSpPr>
          <p:cNvPr id="21" name="Shape 19"/>
          <p:cNvSpPr/>
          <p:nvPr/>
        </p:nvSpPr>
        <p:spPr>
          <a:xfrm>
            <a:off x="8033309" y="2103120"/>
            <a:ext cx="1772869" cy="1051560"/>
          </a:xfrm>
          <a:prstGeom prst="roundRect">
            <a:avLst>
              <a:gd name="adj" fmla="val 6957"/>
            </a:avLst>
          </a:prstGeom>
          <a:solidFill>
            <a:srgbClr val="15325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079029" y="2194560"/>
            <a:ext cx="16814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8079029" y="2468880"/>
            <a:ext cx="168142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 rot="5400000">
            <a:off x="9797034" y="2564892"/>
            <a:ext cx="128016" cy="128016"/>
          </a:xfrm>
          <a:prstGeom prst="triangle">
            <a:avLst/>
          </a:prstGeom>
          <a:solidFill>
            <a:srgbClr val="049990"/>
          </a:solidFill>
          <a:ln/>
        </p:spPr>
      </p:sp>
      <p:sp>
        <p:nvSpPr>
          <p:cNvPr id="25" name="Shape 23"/>
          <p:cNvSpPr/>
          <p:nvPr/>
        </p:nvSpPr>
        <p:spPr>
          <a:xfrm>
            <a:off x="9915906" y="2103120"/>
            <a:ext cx="1772869" cy="1051560"/>
          </a:xfrm>
          <a:prstGeom prst="roundRect">
            <a:avLst>
              <a:gd name="adj" fmla="val 6957"/>
            </a:avLst>
          </a:prstGeom>
          <a:solidFill>
            <a:srgbClr val="15325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961626" y="2194560"/>
            <a:ext cx="16814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6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9961626" y="2468880"/>
            <a:ext cx="168142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3429000"/>
            <a:ext cx="11185855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1E2A44">
                <a:alpha val="15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777240" y="3611880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49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IMPACT ON THE TARGET AUDIENCE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77240" y="3986784"/>
            <a:ext cx="82296" cy="82296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05840" y="3931920"/>
            <a:ext cx="509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&amp; fraud prevention — screens voice-authorised instructions before money moves.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370168" y="3986784"/>
            <a:ext cx="82296" cy="82296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598768" y="3931920"/>
            <a:ext cx="509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authentication / KYC — adds a liveness-and-authenticity check to voice-based identity flows.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77240" y="4581144"/>
            <a:ext cx="82296" cy="82296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1005840" y="4526280"/>
            <a:ext cx="509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Call-centre security — flags synthetic callers attempting agent-assisted account takeover.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370168" y="4581144"/>
            <a:ext cx="82296" cy="82296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598768" y="4526280"/>
            <a:ext cx="509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Social-engineering defence — catches the “familiar voice in distress” pretext used against staff and families.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77240" y="5175504"/>
            <a:ext cx="82296" cy="82296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1005840" y="5120640"/>
            <a:ext cx="509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identity protection — gives individuals a way to contest a cloned recording of themselves.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370168" y="5175504"/>
            <a:ext cx="82296" cy="82296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598768" y="5120640"/>
            <a:ext cx="509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scam detection — supports investigation and triage of reported voice-based scams.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274320" y="65105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SIH-AEGIS  |  Smart India Hackathon 2026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11460175" y="651052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49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AND BENEFITS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 Of The Solution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1556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ways SIH-Aegis turns voice authenticity from an assumption into a measurable signal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2286000" cy="841248"/>
          </a:xfrm>
          <a:prstGeom prst="roundRect">
            <a:avLst>
              <a:gd name="adj" fmla="val 8696"/>
            </a:avLst>
          </a:prstGeom>
          <a:solidFill>
            <a:srgbClr val="0B1E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1828800"/>
            <a:ext cx="2286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D4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971800" y="1828800"/>
            <a:ext cx="8716975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00400" y="1828800"/>
            <a:ext cx="82597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citizens — especially elderly and non-technical users — from impersonation attacks that exploit a familiar voice.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816352"/>
            <a:ext cx="2286000" cy="841248"/>
          </a:xfrm>
          <a:prstGeom prst="roundRect">
            <a:avLst>
              <a:gd name="adj" fmla="val 8696"/>
            </a:avLst>
          </a:prstGeom>
          <a:solidFill>
            <a:srgbClr val="0B1E3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02920" y="2816352"/>
            <a:ext cx="2286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D4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ECONOMIC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971800" y="2816352"/>
            <a:ext cx="8716975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00400" y="2816352"/>
            <a:ext cx="82597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losses from voice-authorised fraud and lowers the manual verification burden on institutions.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803904"/>
            <a:ext cx="2286000" cy="841248"/>
          </a:xfrm>
          <a:prstGeom prst="roundRect">
            <a:avLst>
              <a:gd name="adj" fmla="val 8696"/>
            </a:avLst>
          </a:prstGeom>
          <a:solidFill>
            <a:srgbClr val="0B1E3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02920" y="3803904"/>
            <a:ext cx="2286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D4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INSTITUTIONAL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971800" y="3803904"/>
            <a:ext cx="8716975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200400" y="3803904"/>
            <a:ext cx="82597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a subjective human judgement with an auditable authenticity signal that can be logged and reviewed.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4791456"/>
            <a:ext cx="2286000" cy="841248"/>
          </a:xfrm>
          <a:prstGeom prst="roundRect">
            <a:avLst>
              <a:gd name="adj" fmla="val 8696"/>
            </a:avLst>
          </a:prstGeom>
          <a:solidFill>
            <a:srgbClr val="0B1E3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02920" y="4791456"/>
            <a:ext cx="2286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D4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971800" y="4791456"/>
            <a:ext cx="8716975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200400" y="4791456"/>
            <a:ext cx="82597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compact model on commodity GPU hardware keeps the cost of adoption low for banks, telecoms and smaller enterprises.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02920" y="5806440"/>
            <a:ext cx="11185855" cy="566928"/>
          </a:xfrm>
          <a:prstGeom prst="roundRect">
            <a:avLst>
              <a:gd name="adj" fmla="val 12903"/>
            </a:avLst>
          </a:prstGeom>
          <a:solidFill>
            <a:srgbClr val="04999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02920" y="5806440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SIH-Aegis turns voice authenticity from a trust assumption into a measurable security signal.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274320" y="65105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SIH-AEGIS  |  Smart India Hackathon 2026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460175" y="651052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49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REFERENCES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 Behind The Architecture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1556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every citation and paste the final URL into each entry before submitting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719072"/>
            <a:ext cx="539496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63500" dist="25400" dir="5400000">
              <a:srgbClr val="1E2A44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67512" y="1837944"/>
            <a:ext cx="1828800" cy="256032"/>
          </a:xfrm>
          <a:prstGeom prst="roundRect">
            <a:avLst>
              <a:gd name="adj" fmla="val 50000"/>
            </a:avLst>
          </a:prstGeom>
          <a:solidFill>
            <a:srgbClr val="E7F7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67512" y="18379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49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ANTI-SPOOFING MODEL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667512" y="2139696"/>
            <a:ext cx="5065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AASIST: Audio Anti-Spoofing Using Integrated Spectro-Temporal Graph Attention Networks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67512" y="2514600"/>
            <a:ext cx="5065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Jung et al., ICASSP 2022 — the pretrained baseline we integrated and then benchmarked against real-world recordings.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025896" y="1719072"/>
            <a:ext cx="539496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63500" dist="25400" dir="5400000">
              <a:srgbClr val="1E2A44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190488" y="1837944"/>
            <a:ext cx="1828800" cy="256032"/>
          </a:xfrm>
          <a:prstGeom prst="roundRect">
            <a:avLst>
              <a:gd name="adj" fmla="val 50000"/>
            </a:avLst>
          </a:prstGeom>
          <a:solidFill>
            <a:srgbClr val="E7F7F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190488" y="18379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49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DATASET</a:t>
            </a:r>
            <a:endParaRPr lang="en-US" sz="750" dirty="0"/>
          </a:p>
        </p:txBody>
      </p:sp>
      <p:sp>
        <p:nvSpPr>
          <p:cNvPr id="13" name="Text 11"/>
          <p:cNvSpPr txBox="1"/>
          <p:nvPr/>
        </p:nvSpPr>
        <p:spPr>
          <a:xfrm>
            <a:off x="6190488" y="2139696"/>
            <a:ext cx="5065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ASVspoof 2019 Logical Access Database And Evaluation Plan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190488" y="2514600"/>
            <a:ext cx="5065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corpus for anti-spoofing research; used as a benchmark, noted as not representative of all Indian speech conditions.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2920" y="3054096"/>
            <a:ext cx="539496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63500" dist="25400" dir="5400000">
              <a:srgbClr val="1E2A44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67512" y="3172968"/>
            <a:ext cx="1828800" cy="256032"/>
          </a:xfrm>
          <a:prstGeom prst="roundRect">
            <a:avLst>
              <a:gd name="adj" fmla="val 50000"/>
            </a:avLst>
          </a:prstGeom>
          <a:solidFill>
            <a:srgbClr val="E7F7F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67512" y="31729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49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SERIES</a:t>
            </a:r>
            <a:endParaRPr lang="en-US" sz="750" dirty="0"/>
          </a:p>
        </p:txBody>
      </p:sp>
      <p:sp>
        <p:nvSpPr>
          <p:cNvPr id="18" name="Text 16"/>
          <p:cNvSpPr txBox="1"/>
          <p:nvPr/>
        </p:nvSpPr>
        <p:spPr>
          <a:xfrm>
            <a:off x="667512" y="3474720"/>
            <a:ext cx="5065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ASVspoof Challenge Series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67512" y="3849624"/>
            <a:ext cx="5065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the spoofing attack taxonomy and evaluation methodology our detector is designed against.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025896" y="3054096"/>
            <a:ext cx="539496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63500" dist="25400" dir="5400000">
              <a:srgbClr val="1E2A44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90488" y="3172968"/>
            <a:ext cx="1828800" cy="256032"/>
          </a:xfrm>
          <a:prstGeom prst="roundRect">
            <a:avLst>
              <a:gd name="adj" fmla="val 50000"/>
            </a:avLst>
          </a:prstGeom>
          <a:solidFill>
            <a:srgbClr val="E7F7F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190488" y="31729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49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750" dirty="0"/>
          </a:p>
        </p:txBody>
      </p:sp>
      <p:sp>
        <p:nvSpPr>
          <p:cNvPr id="23" name="Text 21"/>
          <p:cNvSpPr txBox="1"/>
          <p:nvPr/>
        </p:nvSpPr>
        <p:spPr>
          <a:xfrm>
            <a:off x="6190488" y="3474720"/>
            <a:ext cx="5065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PyTorch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190488" y="3849624"/>
            <a:ext cx="5065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definition, GPU acceleration and deterministic evaluation mode for the Spectrogram CNN and AASIST baseline.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02920" y="4389120"/>
            <a:ext cx="539496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63500" dist="25400" dir="5400000">
              <a:srgbClr val="1E2A44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67512" y="4507992"/>
            <a:ext cx="1828800" cy="256032"/>
          </a:xfrm>
          <a:prstGeom prst="roundRect">
            <a:avLst>
              <a:gd name="adj" fmla="val 50000"/>
            </a:avLst>
          </a:prstGeom>
          <a:solidFill>
            <a:srgbClr val="E7F7F6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67512" y="45079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49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PROCESSING</a:t>
            </a:r>
            <a:endParaRPr lang="en-US" sz="750" dirty="0"/>
          </a:p>
        </p:txBody>
      </p:sp>
      <p:sp>
        <p:nvSpPr>
          <p:cNvPr id="28" name="Text 26"/>
          <p:cNvSpPr txBox="1"/>
          <p:nvPr/>
        </p:nvSpPr>
        <p:spPr>
          <a:xfrm>
            <a:off x="667512" y="4809744"/>
            <a:ext cx="5065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librosa · SoundFile · SciPy · NumPy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67512" y="5184648"/>
            <a:ext cx="5065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I/O, resampling to 16 kHz mono and log-Mel spectrogram extraction in the shared feature pipeline.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25896" y="4389120"/>
            <a:ext cx="539496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63500" dist="25400" dir="5400000">
              <a:srgbClr val="1E2A44">
                <a:alpha val="13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90488" y="4507992"/>
            <a:ext cx="1828800" cy="256032"/>
          </a:xfrm>
          <a:prstGeom prst="roundRect">
            <a:avLst>
              <a:gd name="adj" fmla="val 50000"/>
            </a:avLst>
          </a:prstGeom>
          <a:solidFill>
            <a:srgbClr val="E7F7F6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190488" y="45079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49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750" dirty="0"/>
          </a:p>
        </p:txBody>
      </p:sp>
      <p:sp>
        <p:nvSpPr>
          <p:cNvPr id="33" name="Text 31"/>
          <p:cNvSpPr txBox="1"/>
          <p:nvPr/>
        </p:nvSpPr>
        <p:spPr>
          <a:xfrm>
            <a:off x="6190488" y="4809744"/>
            <a:ext cx="5065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190488" y="5184648"/>
            <a:ext cx="5065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interface for upload, inference and display of the BONAFIDE / SPOOF result.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02920" y="5742432"/>
            <a:ext cx="11185855" cy="621792"/>
          </a:xfrm>
          <a:prstGeom prst="roundRect">
            <a:avLst>
              <a:gd name="adj" fmla="val 11765"/>
            </a:avLst>
          </a:prstGeom>
          <a:solidFill>
            <a:srgbClr val="0B1E3D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77240" y="5742432"/>
            <a:ext cx="1063721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REPOSITORY:  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github.com/&lt;team&gt;/voice-clone-detector — modular src/ layout (audio · features · models · pipeline · training) with a matching tests/ tree. Stage 1 prototype; CNN training in progress.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274320" y="65105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SIH-AEGIS  |  Smart India Hackathon 2026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460175" y="651052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2026-09-11T00:31:59Z</dcterms:created>
  <dcterms:modified xsi:type="dcterms:W3CDTF">2026-09-11T00:31:59Z</dcterms:modified>
</cp:coreProperties>
</file>
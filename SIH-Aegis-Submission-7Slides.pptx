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92" r:id="rId8"/>
    <p:sldId id="293" r:id="rId7"/>
    <p:sldId id="294" r:id="rId6"/>
    <p:sldId id="295" r:id="rId5"/>
    <p:sldId id="296" r:id="rId4"/>
    <p:sldId id="297" r:id="rId3"/>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Here is our feasibility, viability, and impact summary. We are technically transparent: our AASIST baseline, ONNX export, and 97.9k CNN forward pass are completed and verified on our RTX 4050 GPU, while our CNN training is in progress. We identified six specific risks—such as dataset mismatch, unseen cloning models, and latency budgets—and paired each with a concrete engineering mitigation, including acoustic augmentation, lightweight parameter efficiency, and swappable modular pipelines. Our impact spans banking authorizations, KYC protection, and family extortion scam defense across a phased 6-stage roadmap. SIH-Aegis turns voice authenticity from a trust assumption into a measurable security signal. Thank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Here is the SIH-Aegis solution architecture. When an audio sample arrives, our shared AudioLoader validates and resamples it to 16 kHz mono. It computes a log-Mel spectrogram with 128 Mel bins, standardizing it to a 128 by 128 float32 tensor. Our primary detector is a lightweight 4-block CNN with roughly 97,900 parameters that classifies speech as Bonafide or Spoof. Crucially, we retain the pretrained AASIST model as a measured baseline benchmark. This replaces subjective human belief with an objective, mathematical authenticity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This slide breaks down our model and system architecture. The Spectrogram CNN uses 4 Conv2D blocks scaling from 1 to 128 channels, with Batch Normalization, ReLU, and MaxPool, followed by Adaptive Average Pooling and Dropout. It totals 97,890 parameters. We have verified the full forward pass on our NVIDIA RTX 4050 GPU with PyTorch and CUDA. The codebase has clean modular separation of concerns across UI, pipeline orchestration, audio I/O, feature extraction, and models with matching unit tests.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Slide 4 captures a key engineering achievement and insight. We exported our AASIST baseline to ONNX and validated numerical parity: the maximum divergence between PyTorch and ONNX Runtime is approximately 3.8e-06 with identical class predictions. More importantly, testing real-world microphone and phone recordings revealed false-positive spoof alerts on genuine voices. This domain shift proved that academic benchmark accuracy does not translate directly to deployment robustness, directly motivating our custom lightweight domain-aware detector.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Our mobile layer demonstrates practical edge security. We built a native Android app using Kotlin and Jetpack Compose, integrated ONNX Runtime Mobile, and successfully bundled our AASIST model into Android assets. We are completely transparent: third-party Android apps cannot intercept cellular calls due to Android security sandboxing. Our focus is on-device upload screening, voice notes, and microphone chunking, running 100% locally with zero cloud exposure.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Real-world generalization in India requires acoustic and linguistic domain awareness. Standard datasets ignore Indian accents and regional phonetics. Our data strategy combines consent-based Indian speech collection with heavy codec and noise augmentation—including simulated telephony compression like AMR and G.711. By pairing genuine speech with synthetic clones from multiple vocoders, we ensure our model generalizes rather than memorizing.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Respected judges, we represent Team SIH-Aegis working on Problem Statement SIH26104 from AICTE under Blockchain &amp; Cybersecurity. Our project addresses the urgent crisis of voice cloning impersonation attacks. With modern neural vocoders, attackers can clone any target's voice from just seconds of audio. Our solution, SIH-Aegis, transforms voice authenticity from an unverified human assumption into a measurable, real-time security signal. Today, we demonstrate our working prototype, share our empirical baseline findings, and outline our custom lightweight neural detector.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spcAft>
                <a:spcPts val="400"/>
              </a:spcAft>
              <a:defRPr sz="1300" b="1">
                <a:solidFill>
                  <a:srgbClr val="141414"/>
                </a:solidFill>
                <a:latin typeface="Arial"/>
              </a:defRPr>
            </a:pPr>
            <a:r>
              <a:t>• Problem Statement ID – SIH26104 (104)</a:t>
            </a:r>
            <a:endParaRPr lang="en-US" dirty="0"/>
          </a:p>
          <a:p>
            <a:pPr marL="285750" indent="-285750" algn="just">
              <a:lnSpc>
                <a:spcPct val="200000"/>
              </a:lnSpc>
              <a:buFont typeface="Arial" panose="020B0604020202020204" pitchFamily="34" charset="0"/>
              <a:buChar char="•"/>
            </a:pPr>
          </a:p>
          <a:p>
            <a:pPr marL="285750" indent="-285750" algn="just">
              <a:lnSpc>
                <a:spcPct val="200000"/>
              </a:lnSpc>
              <a:buFont typeface="Arial" panose="020B0604020202020204" pitchFamily="34" charset="0"/>
              <a:buChar char="•"/>
            </a:pPr>
          </a:p>
          <a:p>
            <a:pPr marL="285750" indent="-285750" algn="just">
              <a:lnSpc>
                <a:spcPct val="200000"/>
              </a:lnSpc>
              <a:buFont typeface="Arial" panose="020B0604020202020204" pitchFamily="34" charset="0"/>
              <a:buChar char="•"/>
            </a:pPr>
          </a:p>
          <a:p>
            <a:pPr marL="285750" indent="-285750" algn="just">
              <a:lnSpc>
                <a:spcPct val="200000"/>
              </a:lnSpc>
              <a:buFont typeface="Arial" panose="020B0604020202020204" pitchFamily="34" charset="0"/>
              <a:buChar char="•"/>
            </a:pPr>
          </a:p>
          <a:p>
            <a:pPr marL="285750" indent="-285750" algn="just">
              <a:lnSpc>
                <a:spcPct val="200000"/>
              </a:lnSpc>
              <a:buFont typeface="Arial" panose="020B0604020202020204" pitchFamily="34" charset="0"/>
              <a:buChar char="•"/>
            </a:pPr>
          </a:p>
          <a:p>
            <a:pPr marL="285750" indent="-285750" algn="just">
              <a:lnSpc>
                <a:spcPct val="200000"/>
              </a:lnSpc>
              <a:buFont typeface="Arial" panose="020B0604020202020204" pitchFamily="34" charset="0"/>
              <a:buChar char="•"/>
            </a:pPr>
            <a:endParaRPr lang="en-IN" sz="2400" b="1" dirty="0">
              <a:latin typeface="Arial" panose="020B0604020202020204" pitchFamily="34" charset="0"/>
              <a:cs typeface="Arial" panose="020B0604020202020204" pitchFamily="34" charset="0"/>
            </a:endParaRPr>
          </a:p>
          <a:p>
            <a:pPr>
              <a:spcAft>
                <a:spcPts val="400"/>
              </a:spcAft>
            </a:pPr>
            <a:r>
              <a:rPr sz="1200" b="1">
                <a:solidFill>
                  <a:srgbClr val="141414"/>
                </a:solidFill>
                <a:latin typeface="Arial"/>
              </a:rPr>
              <a:t>• Organization – </a:t>
            </a:r>
            <a:r>
              <a:rPr sz="1200" b="0">
                <a:solidFill>
                  <a:srgbClr val="282828"/>
                </a:solidFill>
                <a:latin typeface="Arial"/>
              </a:rPr>
              <a:t>All India Council for Technical Education (AICTE)</a:t>
            </a:r>
          </a:p>
          <a:p>
            <a:pPr>
              <a:spcAft>
                <a:spcPts val="400"/>
              </a:spcAft>
            </a:pPr>
            <a:r>
              <a:rPr sz="1200" b="1">
                <a:solidFill>
                  <a:srgbClr val="141414"/>
                </a:solidFill>
                <a:latin typeface="Arial"/>
              </a:rPr>
              <a:t>• Problem Statement Title – </a:t>
            </a:r>
            <a:r>
              <a:rPr sz="1200" b="0">
                <a:solidFill>
                  <a:srgbClr val="282828"/>
                </a:solidFill>
                <a:latin typeface="Arial"/>
              </a:rPr>
              <a:t>AI-Powered Real-Time Detection and Prevention of Voice Cloning Impersonation Attacks</a:t>
            </a:r>
          </a:p>
          <a:p>
            <a:pPr>
              <a:spcAft>
                <a:spcPts val="400"/>
              </a:spcAft>
            </a:pPr>
            <a:r>
              <a:rPr sz="1200" b="1">
                <a:solidFill>
                  <a:srgbClr val="141414"/>
                </a:solidFill>
                <a:latin typeface="Arial"/>
              </a:rPr>
              <a:t>• Theme – </a:t>
            </a:r>
            <a:r>
              <a:rPr sz="1200" b="0">
                <a:solidFill>
                  <a:srgbClr val="0070C0"/>
                </a:solidFill>
                <a:latin typeface="Arial"/>
              </a:rPr>
              <a:t>Blockchain &amp; Cybersecurity</a:t>
            </a:r>
          </a:p>
          <a:p>
            <a:pPr>
              <a:spcAft>
                <a:spcPts val="400"/>
              </a:spcAft>
            </a:pPr>
            <a:r>
              <a:rPr sz="1200" b="1">
                <a:solidFill>
                  <a:srgbClr val="141414"/>
                </a:solidFill>
                <a:latin typeface="Arial"/>
              </a:rPr>
              <a:t>• PS Category – </a:t>
            </a:r>
            <a:r>
              <a:rPr sz="1200" b="0">
                <a:solidFill>
                  <a:srgbClr val="282828"/>
                </a:solidFill>
                <a:latin typeface="Arial"/>
              </a:rPr>
              <a:t>Software</a:t>
            </a:r>
          </a:p>
          <a:p>
            <a:pPr>
              <a:spcAft>
                <a:spcPts val="400"/>
              </a:spcAft>
            </a:pPr>
            <a:r>
              <a:rPr sz="1200" b="1">
                <a:solidFill>
                  <a:srgbClr val="141414"/>
                </a:solidFill>
                <a:latin typeface="Arial"/>
              </a:rPr>
              <a:t>• Team ID – </a:t>
            </a:r>
            <a:r>
              <a:rPr sz="1200" b="0">
                <a:solidFill>
                  <a:srgbClr val="282828"/>
                </a:solidFill>
                <a:latin typeface="Arial"/>
              </a:rPr>
              <a:t>0</a:t>
            </a:r>
          </a:p>
          <a:p>
            <a:pPr>
              <a:spcAft>
                <a:spcPts val="400"/>
              </a:spcAft>
            </a:pPr>
            <a:r>
              <a:rPr sz="1200" b="1">
                <a:solidFill>
                  <a:srgbClr val="141414"/>
                </a:solidFill>
                <a:latin typeface="Arial"/>
              </a:rPr>
              <a:t>• Team Name (Registered on portal) – </a:t>
            </a:r>
            <a:r>
              <a:rPr sz="1200" b="0">
                <a:solidFill>
                  <a:srgbClr val="0070C0"/>
                </a:solidFill>
                <a:latin typeface="Arial"/>
              </a:rPr>
              <a:t>SIH-Aegis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31286" y="5200000"/>
            <a:ext cx="5600000" cy="1250000"/>
          </a:xfrm>
          <a:prstGeom prst="roundRect">
            <a:avLst/>
          </a:prstGeom>
          <a:solidFill>
            <a:srgbClr val="0B2545"/>
          </a:solid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spcAft>
                <a:spcPts val="200"/>
              </a:spcAft>
              <a:defRPr sz="2000" b="1">
                <a:solidFill>
                  <a:srgbClr val="FFFFFF"/>
                </a:solidFill>
                <a:latin typeface="Times New Roman"/>
              </a:defRPr>
            </a:pPr>
            <a:r>
              <a:t>SIH-AEGIS</a:t>
            </a:r>
          </a:p>
          <a:p>
            <a:pPr>
              <a:defRPr sz="1100">
                <a:solidFill>
                  <a:srgbClr val="C8E1FF"/>
                </a:solidFill>
                <a:latin typeface="Arial"/>
              </a:defRPr>
            </a:pPr>
            <a:r>
              <a:t>AI-Powered Real-Time Detection and Prevention of</a:t>
            </a:r>
            <a:br/>
            <a:r>
              <a:t>Voice Cloning Impersonation Attacks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773" y="252246"/>
            <a:ext cx="1251857" cy="807334"/>
          </a:xfrm>
          <a:prstGeom prst="ellipse">
            <a:avLst/>
          </a:prstGeom>
          <a:noFill/>
          <a:ln w="1905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1E1E"/>
                </a:solidFill>
                <a:latin typeface="Times New Roman"/>
              </a:defRPr>
            </a:pPr>
            <a:r>
              <a:t>SIH-Aegis</a:t>
            </a:r>
          </a:p>
        </p:txBody>
      </p:sp>
      <p:pic>
        <p:nvPicPr>
          <p:cNvPr id="3" name="Picture 2" descr="image.png"/>
          <p:cNvPicPr>
            <a:picLocks noChangeAspect="1"/>
          </p:cNvPicPr>
          <p:nvPr/>
        </p:nvPicPr>
        <p:blipFill>
          <a:blip r:embed="rId2"/>
          <a:stretch>
            <a:fillRect/>
          </a:stretch>
        </p:blipFill>
        <p:spPr>
          <a:xfrm>
            <a:off x="9780086" y="1500"/>
            <a:ext cx="2249850" cy="1062337"/>
          </a:xfrm>
          <a:prstGeom prst="rect">
            <a:avLst/>
          </a:prstGeom>
        </p:spPr>
      </p:pic>
      <p:sp>
        <p:nvSpPr>
          <p:cNvPr id="4" name="Rectangle 3"/>
          <p:cNvSpPr/>
          <p:nvPr/>
        </p:nvSpPr>
        <p:spPr>
          <a:xfrm>
            <a:off x="0" y="6354762"/>
            <a:ext cx="12192000" cy="50323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0" y="6380000"/>
            <a:ext cx="5000000" cy="400000"/>
          </a:xfrm>
          <a:prstGeom prst="rect">
            <a:avLst/>
          </a:prstGeom>
          <a:noFill/>
        </p:spPr>
        <p:txBody>
          <a:bodyPr wrap="none" anchor="ctr">
            <a:spAutoFit/>
          </a:bodyPr>
          <a:lstStyle/>
          <a:p>
            <a:pPr algn="ctr">
              <a:defRPr sz="1200">
                <a:solidFill>
                  <a:srgbClr val="FFFFFF"/>
                </a:solidFill>
                <a:latin typeface="Arial"/>
              </a:defRPr>
            </a:pPr>
            <a:r>
              <a:t>@SIH Idea submission- Template</a:t>
            </a:r>
          </a:p>
        </p:txBody>
      </p:sp>
      <p:sp>
        <p:nvSpPr>
          <p:cNvPr id="6" name="TextBox 5"/>
          <p:cNvSpPr txBox="1"/>
          <p:nvPr/>
        </p:nvSpPr>
        <p:spPr>
          <a:xfrm>
            <a:off x="10800000" y="6380000"/>
            <a:ext cx="1100000" cy="400000"/>
          </a:xfrm>
          <a:prstGeom prst="rect">
            <a:avLst/>
          </a:prstGeom>
          <a:noFill/>
        </p:spPr>
        <p:txBody>
          <a:bodyPr wrap="none" anchor="ctr">
            <a:spAutoFit/>
          </a:bodyPr>
          <a:lstStyle/>
          <a:p>
            <a:pPr algn="r">
              <a:defRPr sz="1200" b="1">
                <a:solidFill>
                  <a:srgbClr val="FFFFFF"/>
                </a:solidFill>
                <a:latin typeface="Arial"/>
              </a:defRPr>
            </a:pPr>
            <a:r>
              <a:t>2</a:t>
            </a:r>
          </a:p>
        </p:txBody>
      </p:sp>
      <p:sp>
        <p:nvSpPr>
          <p:cNvPr id="7" name="TextBox 6"/>
          <p:cNvSpPr txBox="1"/>
          <p:nvPr/>
        </p:nvSpPr>
        <p:spPr>
          <a:xfrm>
            <a:off x="1650000" y="90000"/>
            <a:ext cx="8000000" cy="560000"/>
          </a:xfrm>
          <a:prstGeom prst="rect">
            <a:avLst/>
          </a:prstGeom>
          <a:noFill/>
        </p:spPr>
        <p:txBody>
          <a:bodyPr wrap="square" anchor="ctr">
            <a:spAutoFit/>
          </a:bodyPr>
          <a:lstStyle/>
          <a:p>
            <a:pPr algn="ctr">
              <a:defRPr sz="2600" b="1">
                <a:solidFill>
                  <a:srgbClr val="141414"/>
                </a:solidFill>
                <a:latin typeface="Times New Roman"/>
              </a:defRPr>
            </a:pPr>
            <a:r>
              <a:t>IDEA TITLE</a:t>
            </a:r>
          </a:p>
        </p:txBody>
      </p:sp>
      <p:sp>
        <p:nvSpPr>
          <p:cNvPr id="8" name="TextBox 7"/>
          <p:cNvSpPr txBox="1"/>
          <p:nvPr/>
        </p:nvSpPr>
        <p:spPr>
          <a:xfrm>
            <a:off x="1650000" y="660000"/>
            <a:ext cx="8000000" cy="420000"/>
          </a:xfrm>
          <a:prstGeom prst="rect">
            <a:avLst/>
          </a:prstGeom>
          <a:noFill/>
        </p:spPr>
        <p:txBody>
          <a:bodyPr wrap="square" anchor="ctr">
            <a:spAutoFit/>
          </a:bodyPr>
          <a:lstStyle/>
          <a:p>
            <a:pPr algn="ctr">
              <a:defRPr sz="1300" b="1">
                <a:solidFill>
                  <a:srgbClr val="0070C0"/>
                </a:solidFill>
                <a:latin typeface="Arial"/>
              </a:defRPr>
            </a:pPr>
            <a:r>
              <a:t>Proposed Solution (Describe your Idea/Solution/Prototype)</a:t>
            </a:r>
          </a:p>
        </p:txBody>
      </p:sp>
      <p:sp>
        <p:nvSpPr>
          <p:cNvPr id="9" name="TextBox 8"/>
          <p:cNvSpPr txBox="1"/>
          <p:nvPr/>
        </p:nvSpPr>
        <p:spPr>
          <a:xfrm>
            <a:off x="450000" y="1120000"/>
            <a:ext cx="11300000" cy="480000"/>
          </a:xfrm>
          <a:prstGeom prst="rect">
            <a:avLst/>
          </a:prstGeom>
          <a:noFill/>
        </p:spPr>
        <p:txBody>
          <a:bodyPr wrap="square">
            <a:spAutoFit/>
          </a:bodyPr>
          <a:lstStyle/>
          <a:p>
            <a:pPr>
              <a:defRPr sz="1300" b="1">
                <a:solidFill>
                  <a:srgbClr val="0B2545"/>
                </a:solidFill>
                <a:latin typeface="Arial"/>
              </a:defRPr>
            </a:pPr>
            <a:r>
              <a:t>PROPOSED SOLUTION — SIH-Aegis voice authenticity engine</a:t>
            </a:r>
          </a:p>
          <a:p>
            <a:pPr>
              <a:defRPr sz="1000">
                <a:solidFill>
                  <a:srgbClr val="5A646E"/>
                </a:solidFill>
                <a:latin typeface="Arial"/>
              </a:defRPr>
            </a:pPr>
            <a:r>
              <a:t>A speech sample is validated, converted to a log-Mel spectrogram and scored by a lightweight CNN, returning a spoof probability and a BONAFIDE / SPOOF verdict.</a:t>
            </a:r>
          </a:p>
        </p:txBody>
      </p:sp>
      <p:sp>
        <p:nvSpPr>
          <p:cNvPr id="10" name="Rounded Rectangle 9"/>
          <p:cNvSpPr/>
          <p:nvPr/>
        </p:nvSpPr>
        <p:spPr>
          <a:xfrm>
            <a:off x="45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Audio Input</a:t>
            </a:r>
          </a:p>
          <a:p>
            <a:pPr algn="ctr">
              <a:defRPr sz="850">
                <a:solidFill>
                  <a:srgbClr val="5A646E"/>
                </a:solidFill>
                <a:latin typeface="Arial"/>
              </a:defRPr>
            </a:pPr>
            <a:r>
              <a:t>microphone / upload</a:t>
            </a:r>
          </a:p>
        </p:txBody>
      </p:sp>
      <p:sp>
        <p:nvSpPr>
          <p:cNvPr id="11" name="Right Arrow 10"/>
          <p:cNvSpPr/>
          <p:nvPr/>
        </p:nvSpPr>
        <p:spPr>
          <a:xfrm>
            <a:off x="209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7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Validation +</a:t>
            </a:r>
            <a:br/>
            <a:r>
              <a:t>Preprocessing</a:t>
            </a:r>
          </a:p>
          <a:p>
            <a:pPr algn="ctr">
              <a:defRPr sz="850">
                <a:solidFill>
                  <a:srgbClr val="5A646E"/>
                </a:solidFill>
                <a:latin typeface="Arial"/>
              </a:defRPr>
            </a:pPr>
            <a:r>
              <a:t>16 kHz mono</a:t>
            </a:r>
          </a:p>
        </p:txBody>
      </p:sp>
      <p:sp>
        <p:nvSpPr>
          <p:cNvPr id="13" name="Right Arrow 12"/>
          <p:cNvSpPr/>
          <p:nvPr/>
        </p:nvSpPr>
        <p:spPr>
          <a:xfrm>
            <a:off x="401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Log-Mel</a:t>
            </a:r>
            <a:br/>
            <a:r>
              <a:t>Spectrogram</a:t>
            </a:r>
          </a:p>
          <a:p>
            <a:pPr algn="ctr">
              <a:defRPr sz="850">
                <a:solidFill>
                  <a:srgbClr val="5A646E"/>
                </a:solidFill>
                <a:latin typeface="Arial"/>
              </a:defRPr>
            </a:pPr>
            <a:r>
              <a:t>128 mels · n_fft 512</a:t>
            </a:r>
          </a:p>
        </p:txBody>
      </p:sp>
      <p:sp>
        <p:nvSpPr>
          <p:cNvPr id="15" name="Right Arrow 14"/>
          <p:cNvSpPr/>
          <p:nvPr/>
        </p:nvSpPr>
        <p:spPr>
          <a:xfrm>
            <a:off x="593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128 × 128</a:t>
            </a:r>
            <a:br/>
            <a:r>
              <a:t>Representation</a:t>
            </a:r>
          </a:p>
          <a:p>
            <a:pPr algn="ctr">
              <a:defRPr sz="850">
                <a:solidFill>
                  <a:srgbClr val="5A646E"/>
                </a:solidFill>
                <a:latin typeface="Arial"/>
              </a:defRPr>
            </a:pPr>
            <a:r>
              <a:t>standardised float32</a:t>
            </a:r>
          </a:p>
        </p:txBody>
      </p:sp>
      <p:sp>
        <p:nvSpPr>
          <p:cNvPr id="17" name="Right Arrow 16"/>
          <p:cNvSpPr/>
          <p:nvPr/>
        </p:nvSpPr>
        <p:spPr>
          <a:xfrm>
            <a:off x="785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0000" y="1680000"/>
            <a:ext cx="1600000" cy="950000"/>
          </a:xfrm>
          <a:prstGeom prst="roundRect">
            <a:avLst/>
          </a:prstGeom>
          <a:solidFill>
            <a:srgbClr val="0070C0"/>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Lightweight</a:t>
            </a:r>
            <a:br/>
            <a:r>
              <a:t>CNN</a:t>
            </a:r>
          </a:p>
          <a:p>
            <a:pPr algn="ctr">
              <a:defRPr sz="850">
                <a:solidFill>
                  <a:srgbClr val="FFFFFF"/>
                </a:solidFill>
                <a:latin typeface="Arial"/>
              </a:defRPr>
            </a:pPr>
            <a:r>
              <a:t>≈ 97.9K parameters</a:t>
            </a:r>
          </a:p>
        </p:txBody>
      </p:sp>
      <p:sp>
        <p:nvSpPr>
          <p:cNvPr id="19" name="Right Arrow 18"/>
          <p:cNvSpPr/>
          <p:nvPr/>
        </p:nvSpPr>
        <p:spPr>
          <a:xfrm>
            <a:off x="977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50000" y="1680000"/>
            <a:ext cx="1600000" cy="950000"/>
          </a:xfrm>
          <a:prstGeom prst="roundRect">
            <a:avLst/>
          </a:prstGeom>
          <a:solidFill>
            <a:srgbClr val="0B254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Spoof</a:t>
            </a:r>
            <a:br/>
            <a:r>
              <a:t>Probability</a:t>
            </a:r>
          </a:p>
          <a:p>
            <a:pPr algn="ctr">
              <a:defRPr sz="850">
                <a:solidFill>
                  <a:srgbClr val="FFFFFF"/>
                </a:solidFill>
                <a:latin typeface="Arial"/>
              </a:defRPr>
            </a:pPr>
            <a:r>
              <a:t>BONAFIDE / SPOOF</a:t>
            </a:r>
          </a:p>
        </p:txBody>
      </p:sp>
      <p:sp>
        <p:nvSpPr>
          <p:cNvPr id="21" name="TextBox 20"/>
          <p:cNvSpPr txBox="1"/>
          <p:nvPr/>
        </p:nvSpPr>
        <p:spPr>
          <a:xfrm>
            <a:off x="7600000" y="2680000"/>
            <a:ext cx="4150000" cy="320000"/>
          </a:xfrm>
          <a:prstGeom prst="rect">
            <a:avLst/>
          </a:prstGeom>
          <a:noFill/>
        </p:spPr>
        <p:txBody>
          <a:bodyPr wrap="none">
            <a:spAutoFit/>
          </a:bodyPr>
          <a:lstStyle/>
          <a:p>
            <a:pPr algn="r">
              <a:defRPr sz="850">
                <a:solidFill>
                  <a:srgbClr val="0070C0"/>
                </a:solidFill>
                <a:latin typeface="Arial"/>
              </a:defRPr>
            </a:pPr>
            <a:r>
              <a:t>AASIST (pretrained) — retained as secondary baseline / benchmark, not the primary detector</a:t>
            </a:r>
          </a:p>
        </p:txBody>
      </p:sp>
      <p:sp>
        <p:nvSpPr>
          <p:cNvPr id="22" name="Rounded Rectangle 21"/>
          <p:cNvSpPr/>
          <p:nvPr/>
        </p:nvSpPr>
        <p:spPr>
          <a:xfrm>
            <a:off x="4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Detailed explanation of the solution</a:t>
            </a:r>
          </a:p>
          <a:p>
            <a:pPr>
              <a:spcAft>
                <a:spcPts val="400"/>
              </a:spcAft>
              <a:defRPr sz="950">
                <a:solidFill>
                  <a:srgbClr val="14181E"/>
                </a:solidFill>
                <a:latin typeface="Arial"/>
              </a:defRPr>
            </a:pPr>
            <a:r>
              <a:t>• Audio is validated, resampled and mixed down to a 16 kHz mono waveform by a shared AudioLoader.</a:t>
            </a:r>
          </a:p>
          <a:p>
            <a:pPr>
              <a:spcAft>
                <a:spcPts val="400"/>
              </a:spcAft>
              <a:defRPr sz="950">
                <a:solidFill>
                  <a:srgbClr val="14181E"/>
                </a:solidFill>
                <a:latin typeface="Arial"/>
              </a:defRPr>
            </a:pPr>
            <a:r>
              <a:t>• The waveform is converted to a log-Mel spectrogram (128 mels, n_fft 512, hop 160) and resized to a standardised 128 × 128 float32 tensor.</a:t>
            </a:r>
          </a:p>
          <a:p>
            <a:pPr>
              <a:spcAft>
                <a:spcPts val="400"/>
              </a:spcAft>
              <a:defRPr sz="950">
                <a:solidFill>
                  <a:srgbClr val="14181E"/>
                </a:solidFill>
                <a:latin typeface="Arial"/>
              </a:defRPr>
            </a:pPr>
            <a:r>
              <a:t>• A compact 4-block CNN (≈ 97,890 parameters) performs 2-class classification over that time–frequency image.</a:t>
            </a:r>
          </a:p>
          <a:p>
            <a:pPr>
              <a:spcAft>
                <a:spcPts val="400"/>
              </a:spcAft>
              <a:defRPr sz="950">
                <a:solidFill>
                  <a:srgbClr val="14181E"/>
                </a:solidFill>
                <a:latin typeface="Arial"/>
              </a:defRPr>
            </a:pPr>
            <a:r>
              <a:t>• The DetectorPipeline returns a spoof probability and a BONAFIDE / SPOOF verdict to a Streamlit interface.</a:t>
            </a:r>
          </a:p>
        </p:txBody>
      </p:sp>
      <p:sp>
        <p:nvSpPr>
          <p:cNvPr id="23" name="Rounded Rectangle 22"/>
          <p:cNvSpPr/>
          <p:nvPr/>
        </p:nvSpPr>
        <p:spPr>
          <a:xfrm>
            <a:off x="430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How it addresses the problem</a:t>
            </a:r>
          </a:p>
          <a:p>
            <a:pPr>
              <a:spcAft>
                <a:spcPts val="400"/>
              </a:spcAft>
              <a:defRPr sz="950">
                <a:solidFill>
                  <a:srgbClr val="14181E"/>
                </a:solidFill>
                <a:latin typeface="Arial"/>
              </a:defRPr>
            </a:pPr>
            <a:r>
              <a:t>• Replaces the human assumption 'this sounds like them, so it is them' with a computed, reviewable authenticity score.</a:t>
            </a:r>
          </a:p>
          <a:p>
            <a:pPr>
              <a:spcAft>
                <a:spcPts val="400"/>
              </a:spcAft>
              <a:defRPr sz="950">
                <a:solidFill>
                  <a:srgbClr val="14181E"/>
                </a:solidFill>
                <a:latin typeface="Arial"/>
              </a:defRPr>
            </a:pPr>
            <a:r>
              <a:t>• Operates on any recorded speech sample, so it can sit in front of call-centre, KYC and voice-authentication workflows.</a:t>
            </a:r>
          </a:p>
          <a:p>
            <a:pPr>
              <a:spcAft>
                <a:spcPts val="400"/>
              </a:spcAft>
              <a:defRPr sz="950">
                <a:solidFill>
                  <a:srgbClr val="14181E"/>
                </a:solidFill>
                <a:latin typeface="Arial"/>
              </a:defRPr>
            </a:pPr>
            <a:r>
              <a:t>• The detector sits behind a common interface, so the audio and UI layers stay unchanged when the model is upgraded.</a:t>
            </a:r>
          </a:p>
          <a:p>
            <a:pPr>
              <a:spcAft>
                <a:spcPts val="400"/>
              </a:spcAft>
              <a:defRPr sz="950">
                <a:solidFill>
                  <a:srgbClr val="14181E"/>
                </a:solidFill>
                <a:latin typeface="Arial"/>
              </a:defRPr>
            </a:pPr>
            <a:r>
              <a:t>• Small model + GPU-verified inference path make near-real-time analysis a realistic next stage.</a:t>
            </a:r>
          </a:p>
        </p:txBody>
      </p:sp>
      <p:sp>
        <p:nvSpPr>
          <p:cNvPr id="24" name="Rounded Rectangle 23"/>
          <p:cNvSpPr/>
          <p:nvPr/>
        </p:nvSpPr>
        <p:spPr>
          <a:xfrm>
            <a:off x="81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Innovation and uniqueness</a:t>
            </a:r>
          </a:p>
          <a:p>
            <a:pPr>
              <a:spcAft>
                <a:spcPts val="400"/>
              </a:spcAft>
              <a:defRPr sz="950">
                <a:solidFill>
                  <a:srgbClr val="14181E"/>
                </a:solidFill>
                <a:latin typeface="Arial"/>
              </a:defRPr>
            </a:pPr>
            <a:r>
              <a:t>• Baseline-first engineering: we measured a pretrained state-of-the-art model on real-world audio before trusting it.</a:t>
            </a:r>
          </a:p>
          <a:p>
            <a:pPr>
              <a:spcAft>
                <a:spcPts val="400"/>
              </a:spcAft>
              <a:defRPr sz="950">
                <a:solidFill>
                  <a:srgbClr val="14181E"/>
                </a:solidFill>
                <a:latin typeface="Arial"/>
              </a:defRPr>
            </a:pPr>
            <a:r>
              <a:t>• That test exposed false-positive spoof predictions on genuine recordings — the finding that motivated a custom, domain-aware detector.</a:t>
            </a:r>
          </a:p>
          <a:p>
            <a:pPr>
              <a:spcAft>
                <a:spcPts val="400"/>
              </a:spcAft>
              <a:defRPr sz="950">
                <a:solidFill>
                  <a:srgbClr val="14181E"/>
                </a:solidFill>
                <a:latin typeface="Arial"/>
              </a:defRPr>
            </a:pPr>
            <a:r>
              <a:t>• Deliberately lightweight (≈ 97.9K parameters) so it can be retrained cheaply as new cloning systems appear.</a:t>
            </a:r>
          </a:p>
          <a:p>
            <a:pPr>
              <a:spcAft>
                <a:spcPts val="400"/>
              </a:spcAft>
              <a:defRPr sz="950">
                <a:solidFill>
                  <a:srgbClr val="14181E"/>
                </a:solidFill>
                <a:latin typeface="Arial"/>
              </a:defRPr>
            </a:pPr>
            <a:r>
              <a:t>• Benchmark model kept alongside the primary model, enabling a future multi-model ensemble.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773" y="252246"/>
            <a:ext cx="1251857" cy="807334"/>
          </a:xfrm>
          <a:prstGeom prst="ellipse">
            <a:avLst/>
          </a:prstGeom>
          <a:noFill/>
          <a:ln w="1905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1E1E"/>
                </a:solidFill>
                <a:latin typeface="Times New Roman"/>
              </a:defRPr>
            </a:pPr>
            <a:r>
              <a:t>SIH-Aegis</a:t>
            </a:r>
          </a:p>
        </p:txBody>
      </p:sp>
      <p:pic>
        <p:nvPicPr>
          <p:cNvPr id="3" name="Picture 2" descr="image.png"/>
          <p:cNvPicPr>
            <a:picLocks noChangeAspect="1"/>
          </p:cNvPicPr>
          <p:nvPr/>
        </p:nvPicPr>
        <p:blipFill>
          <a:blip r:embed="rId2"/>
          <a:stretch>
            <a:fillRect/>
          </a:stretch>
        </p:blipFill>
        <p:spPr>
          <a:xfrm>
            <a:off x="9780086" y="1500"/>
            <a:ext cx="2249850" cy="1062337"/>
          </a:xfrm>
          <a:prstGeom prst="rect">
            <a:avLst/>
          </a:prstGeom>
        </p:spPr>
      </p:pic>
      <p:sp>
        <p:nvSpPr>
          <p:cNvPr id="4" name="Rectangle 3"/>
          <p:cNvSpPr/>
          <p:nvPr/>
        </p:nvSpPr>
        <p:spPr>
          <a:xfrm>
            <a:off x="0" y="6354762"/>
            <a:ext cx="12192000" cy="50323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0" y="6380000"/>
            <a:ext cx="5000000" cy="400000"/>
          </a:xfrm>
          <a:prstGeom prst="rect">
            <a:avLst/>
          </a:prstGeom>
          <a:noFill/>
        </p:spPr>
        <p:txBody>
          <a:bodyPr wrap="none" anchor="ctr">
            <a:spAutoFit/>
          </a:bodyPr>
          <a:lstStyle/>
          <a:p>
            <a:pPr algn="ctr">
              <a:defRPr sz="1200">
                <a:solidFill>
                  <a:srgbClr val="FFFFFF"/>
                </a:solidFill>
                <a:latin typeface="Arial"/>
              </a:defRPr>
            </a:pPr>
            <a:r>
              <a:t>@SIH Idea submission- Template</a:t>
            </a:r>
          </a:p>
        </p:txBody>
      </p:sp>
      <p:sp>
        <p:nvSpPr>
          <p:cNvPr id="6" name="TextBox 5"/>
          <p:cNvSpPr txBox="1"/>
          <p:nvPr/>
        </p:nvSpPr>
        <p:spPr>
          <a:xfrm>
            <a:off x="10800000" y="6380000"/>
            <a:ext cx="1100000" cy="400000"/>
          </a:xfrm>
          <a:prstGeom prst="rect">
            <a:avLst/>
          </a:prstGeom>
          <a:noFill/>
        </p:spPr>
        <p:txBody>
          <a:bodyPr wrap="none" anchor="ctr">
            <a:spAutoFit/>
          </a:bodyPr>
          <a:lstStyle/>
          <a:p>
            <a:pPr algn="r">
              <a:defRPr sz="1200" b="1">
                <a:solidFill>
                  <a:srgbClr val="FFFFFF"/>
                </a:solidFill>
                <a:latin typeface="Arial"/>
              </a:defRPr>
            </a:pPr>
            <a:r>
              <a:t>3</a:t>
            </a:r>
          </a:p>
        </p:txBody>
      </p:sp>
      <p:sp>
        <p:nvSpPr>
          <p:cNvPr id="7" name="TextBox 6"/>
          <p:cNvSpPr txBox="1"/>
          <p:nvPr/>
        </p:nvSpPr>
        <p:spPr>
          <a:xfrm>
            <a:off x="1650000" y="90000"/>
            <a:ext cx="8000000" cy="560000"/>
          </a:xfrm>
          <a:prstGeom prst="rect">
            <a:avLst/>
          </a:prstGeom>
          <a:noFill/>
        </p:spPr>
        <p:txBody>
          <a:bodyPr wrap="square" anchor="ctr">
            <a:spAutoFit/>
          </a:bodyPr>
          <a:lstStyle/>
          <a:p>
            <a:pPr algn="ctr">
              <a:defRPr sz="2600" b="1">
                <a:solidFill>
                  <a:srgbClr val="141414"/>
                </a:solidFill>
                <a:latin typeface="Times New Roman"/>
              </a:defRPr>
            </a:pPr>
            <a:r>
              <a:t>TECHNICAL APPROACH</a:t>
            </a:r>
          </a:p>
        </p:txBody>
      </p:sp>
      <p:sp>
        <p:nvSpPr>
          <p:cNvPr id="8" name="TextBox 7"/>
          <p:cNvSpPr txBox="1"/>
          <p:nvPr/>
        </p:nvSpPr>
        <p:spPr>
          <a:xfrm>
            <a:off x="1650000" y="660000"/>
            <a:ext cx="8000000" cy="420000"/>
          </a:xfrm>
          <a:prstGeom prst="rect">
            <a:avLst/>
          </a:prstGeom>
          <a:noFill/>
        </p:spPr>
        <p:txBody>
          <a:bodyPr wrap="square" anchor="ctr">
            <a:spAutoFit/>
          </a:bodyPr>
          <a:lstStyle/>
          <a:p>
            <a:pPr algn="ctr">
              <a:defRPr sz="1300" b="1">
                <a:solidFill>
                  <a:srgbClr val="0070C0"/>
                </a:solidFill>
                <a:latin typeface="Arial"/>
              </a:defRPr>
            </a:pPr>
            <a:r>
              <a:t>Methodology — detection model, layer by layer</a:t>
            </a:r>
          </a:p>
        </p:txBody>
      </p:sp>
      <p:sp>
        <p:nvSpPr>
          <p:cNvPr id="9" name="TextBox 8"/>
          <p:cNvSpPr txBox="1"/>
          <p:nvPr/>
        </p:nvSpPr>
        <p:spPr>
          <a:xfrm>
            <a:off x="450000" y="1120000"/>
            <a:ext cx="11300000" cy="360000"/>
          </a:xfrm>
          <a:prstGeom prst="rect">
            <a:avLst/>
          </a:prstGeom>
          <a:noFill/>
        </p:spPr>
        <p:txBody>
          <a:bodyPr wrap="none">
            <a:spAutoFit/>
          </a:bodyPr>
          <a:lstStyle/>
          <a:p>
            <a:pPr>
              <a:defRPr sz="1300" b="1">
                <a:solidFill>
                  <a:srgbClr val="0B2545"/>
                </a:solidFill>
                <a:latin typeface="Arial"/>
              </a:defRPr>
            </a:pPr>
            <a:r>
              <a:t>METHODOLOGY — detection model, layer by layer</a:t>
            </a:r>
          </a:p>
        </p:txBody>
      </p:sp>
      <p:sp>
        <p:nvSpPr>
          <p:cNvPr id="10" name="Rounded Rectangle 9"/>
          <p:cNvSpPr/>
          <p:nvPr/>
        </p:nvSpPr>
        <p:spPr>
          <a:xfrm>
            <a:off x="450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Input</a:t>
            </a:r>
          </a:p>
          <a:p>
            <a:pPr algn="ctr">
              <a:defRPr sz="850">
                <a:solidFill>
                  <a:srgbClr val="5A646E"/>
                </a:solidFill>
                <a:latin typeface="Arial"/>
              </a:defRPr>
            </a:pPr>
            <a:r>
              <a:t>1 × 128 × 128</a:t>
            </a:r>
          </a:p>
        </p:txBody>
      </p:sp>
      <p:sp>
        <p:nvSpPr>
          <p:cNvPr id="11" name="Right Arrow 10"/>
          <p:cNvSpPr/>
          <p:nvPr/>
        </p:nvSpPr>
        <p:spPr>
          <a:xfrm>
            <a:off x="1570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745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Conv2D</a:t>
            </a:r>
            <a:br/>
            <a:r>
              <a:t>1→16</a:t>
            </a:r>
          </a:p>
          <a:p>
            <a:pPr algn="ctr">
              <a:defRPr sz="850">
                <a:solidFill>
                  <a:srgbClr val="5A646E"/>
                </a:solidFill>
                <a:latin typeface="Arial"/>
              </a:defRPr>
            </a:pPr>
            <a:r>
              <a:t>BN · ReLU ·</a:t>
            </a:r>
            <a:br/>
            <a:r>
              <a:t>MaxPool</a:t>
            </a:r>
          </a:p>
        </p:txBody>
      </p:sp>
      <p:sp>
        <p:nvSpPr>
          <p:cNvPr id="13" name="Right Arrow 12"/>
          <p:cNvSpPr/>
          <p:nvPr/>
        </p:nvSpPr>
        <p:spPr>
          <a:xfrm>
            <a:off x="2865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40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Conv2D</a:t>
            </a:r>
            <a:br/>
            <a:r>
              <a:t>16→32</a:t>
            </a:r>
          </a:p>
          <a:p>
            <a:pPr algn="ctr">
              <a:defRPr sz="850">
                <a:solidFill>
                  <a:srgbClr val="5A646E"/>
                </a:solidFill>
                <a:latin typeface="Arial"/>
              </a:defRPr>
            </a:pPr>
            <a:r>
              <a:t>BN · ReLU ·</a:t>
            </a:r>
            <a:br/>
            <a:r>
              <a:t>MaxPool</a:t>
            </a:r>
          </a:p>
        </p:txBody>
      </p:sp>
      <p:sp>
        <p:nvSpPr>
          <p:cNvPr id="15" name="Right Arrow 14"/>
          <p:cNvSpPr/>
          <p:nvPr/>
        </p:nvSpPr>
        <p:spPr>
          <a:xfrm>
            <a:off x="4160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35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Conv2D</a:t>
            </a:r>
            <a:br/>
            <a:r>
              <a:t>32→64</a:t>
            </a:r>
          </a:p>
          <a:p>
            <a:pPr algn="ctr">
              <a:defRPr sz="850">
                <a:solidFill>
                  <a:srgbClr val="5A646E"/>
                </a:solidFill>
                <a:latin typeface="Arial"/>
              </a:defRPr>
            </a:pPr>
            <a:r>
              <a:t>BN · ReLU ·</a:t>
            </a:r>
            <a:br/>
            <a:r>
              <a:t>MaxPool</a:t>
            </a:r>
          </a:p>
        </p:txBody>
      </p:sp>
      <p:sp>
        <p:nvSpPr>
          <p:cNvPr id="17" name="Right Arrow 16"/>
          <p:cNvSpPr/>
          <p:nvPr/>
        </p:nvSpPr>
        <p:spPr>
          <a:xfrm>
            <a:off x="5455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30000" y="1580000"/>
            <a:ext cx="1100000" cy="950000"/>
          </a:xfrm>
          <a:prstGeom prst="roundRect">
            <a:avLst/>
          </a:prstGeom>
          <a:solidFill>
            <a:srgbClr val="0070C0"/>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Conv2D</a:t>
            </a:r>
            <a:br/>
            <a:r>
              <a:t>64→128</a:t>
            </a:r>
          </a:p>
          <a:p>
            <a:pPr algn="ctr">
              <a:defRPr sz="850">
                <a:solidFill>
                  <a:srgbClr val="FFFFFF"/>
                </a:solidFill>
                <a:latin typeface="Arial"/>
              </a:defRPr>
            </a:pPr>
            <a:r>
              <a:t>BN · ReLU</a:t>
            </a:r>
          </a:p>
        </p:txBody>
      </p:sp>
      <p:sp>
        <p:nvSpPr>
          <p:cNvPr id="19" name="Right Arrow 18"/>
          <p:cNvSpPr/>
          <p:nvPr/>
        </p:nvSpPr>
        <p:spPr>
          <a:xfrm>
            <a:off x="6750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25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Adaptive</a:t>
            </a:r>
            <a:br/>
            <a:r>
              <a:t>Average Pool</a:t>
            </a:r>
          </a:p>
        </p:txBody>
      </p:sp>
      <p:sp>
        <p:nvSpPr>
          <p:cNvPr id="21" name="Right Arrow 20"/>
          <p:cNvSpPr/>
          <p:nvPr/>
        </p:nvSpPr>
        <p:spPr>
          <a:xfrm>
            <a:off x="8045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0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Flatten</a:t>
            </a:r>
          </a:p>
          <a:p>
            <a:pPr algn="ctr">
              <a:defRPr sz="850">
                <a:solidFill>
                  <a:srgbClr val="5A646E"/>
                </a:solidFill>
                <a:latin typeface="Arial"/>
              </a:defRPr>
            </a:pPr>
            <a:r>
              <a:t>Dropout 0.3</a:t>
            </a:r>
          </a:p>
        </p:txBody>
      </p:sp>
      <p:sp>
        <p:nvSpPr>
          <p:cNvPr id="23" name="Right Arrow 22"/>
          <p:cNvSpPr/>
          <p:nvPr/>
        </p:nvSpPr>
        <p:spPr>
          <a:xfrm>
            <a:off x="9340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515000" y="1580000"/>
            <a:ext cx="11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Linear</a:t>
            </a:r>
            <a:br/>
            <a:r>
              <a:t>128 → 2</a:t>
            </a:r>
          </a:p>
        </p:txBody>
      </p:sp>
      <p:sp>
        <p:nvSpPr>
          <p:cNvPr id="25" name="Right Arrow 24"/>
          <p:cNvSpPr/>
          <p:nvPr/>
        </p:nvSpPr>
        <p:spPr>
          <a:xfrm>
            <a:off x="10635000" y="1960000"/>
            <a:ext cx="155000" cy="16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810000" y="1580000"/>
            <a:ext cx="1100000" cy="950000"/>
          </a:xfrm>
          <a:prstGeom prst="roundRect">
            <a:avLst/>
          </a:prstGeom>
          <a:solidFill>
            <a:srgbClr val="0B254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OUTPUT</a:t>
            </a:r>
          </a:p>
          <a:p>
            <a:pPr algn="ctr">
              <a:defRPr sz="850">
                <a:solidFill>
                  <a:srgbClr val="FFFFFF"/>
                </a:solidFill>
                <a:latin typeface="Arial"/>
              </a:defRPr>
            </a:pPr>
            <a:r>
              <a:t>BONAFIDE /</a:t>
            </a:r>
            <a:br/>
            <a:r>
              <a:t>SPOOF</a:t>
            </a:r>
          </a:p>
        </p:txBody>
      </p:sp>
      <p:sp>
        <p:nvSpPr>
          <p:cNvPr id="27" name="TextBox 26"/>
          <p:cNvSpPr txBox="1"/>
          <p:nvPr/>
        </p:nvSpPr>
        <p:spPr>
          <a:xfrm>
            <a:off x="450000" y="2580000"/>
            <a:ext cx="11300000" cy="320000"/>
          </a:xfrm>
          <a:prstGeom prst="rect">
            <a:avLst/>
          </a:prstGeom>
          <a:noFill/>
        </p:spPr>
        <p:txBody>
          <a:bodyPr wrap="none">
            <a:spAutoFit/>
          </a:bodyPr>
          <a:lstStyle/>
          <a:p>
            <a:pPr algn="ctr">
              <a:defRPr sz="850" b="1">
                <a:solidFill>
                  <a:srgbClr val="0070C0"/>
                </a:solidFill>
                <a:latin typeface="Arial"/>
              </a:defRPr>
            </a:pPr>
            <a:r>
              <a:t>≈ 97,890 parameters · deterministic evaluation mode · forward pass verified on NVIDIA RTX 4050 Laptop GPU (CUDA): batch × 1 × 128 × 128 → batch × 2 — PASS</a:t>
            </a:r>
          </a:p>
        </p:txBody>
      </p:sp>
      <p:sp>
        <p:nvSpPr>
          <p:cNvPr id="28" name="Rounded Rectangle 27"/>
          <p:cNvSpPr/>
          <p:nvPr/>
        </p:nvSpPr>
        <p:spPr>
          <a:xfrm>
            <a:off x="450000" y="2950000"/>
            <a:ext cx="5500000" cy="3400000"/>
          </a:xfrm>
          <a:prstGeom prst="roundRect">
            <a:avLst/>
          </a:prstGeom>
          <a:solidFill>
            <a:srgbClr val="F8FAFC"/>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177800" tIns="152400"/>
          <a:lstStyle/>
          <a:p>
            <a:pPr algn="ctr">
              <a:spcAft>
                <a:spcPts val="400"/>
              </a:spcAft>
              <a:defRPr sz="1200" b="1">
                <a:solidFill>
                  <a:srgbClr val="0B2545"/>
                </a:solidFill>
                <a:latin typeface="Arial"/>
              </a:defRPr>
            </a:pPr>
            <a:r>
              <a:t>TECHNOLOGY STACK</a:t>
            </a:r>
          </a:p>
          <a:p>
            <a:pPr>
              <a:spcAft>
                <a:spcPts val="200"/>
              </a:spcAft>
            </a:pPr>
            <a:r>
              <a:rPr sz="880" b="1">
                <a:solidFill>
                  <a:srgbClr val="0B2545"/>
                </a:solidFill>
                <a:latin typeface="Arial"/>
              </a:rPr>
              <a:t>CORE: </a:t>
            </a:r>
            <a:r>
              <a:rPr sz="880" b="0">
                <a:solidFill>
                  <a:srgbClr val="5A646E"/>
                </a:solidFill>
                <a:latin typeface="Arial"/>
              </a:rPr>
              <a:t>Python · PyTorch · CUDA · NumPy · SciPy</a:t>
            </a:r>
          </a:p>
          <a:p>
            <a:pPr>
              <a:spcAft>
                <a:spcPts val="200"/>
              </a:spcAft>
            </a:pPr>
            <a:r>
              <a:rPr sz="880" b="1">
                <a:solidFill>
                  <a:srgbClr val="0B2545"/>
                </a:solidFill>
                <a:latin typeface="Arial"/>
              </a:rPr>
              <a:t>AUDIO &amp; FEATURES: </a:t>
            </a:r>
            <a:r>
              <a:rPr sz="880" b="0">
                <a:solidFill>
                  <a:srgbClr val="5A646E"/>
                </a:solidFill>
                <a:latin typeface="Arial"/>
              </a:rPr>
              <a:t>librosa · SoundFile · Log-Mel spectrogram</a:t>
            </a:r>
          </a:p>
          <a:p>
            <a:pPr>
              <a:spcAft>
                <a:spcPts val="200"/>
              </a:spcAft>
            </a:pPr>
            <a:r>
              <a:rPr sz="880" b="1">
                <a:solidFill>
                  <a:srgbClr val="0B2545"/>
                </a:solidFill>
                <a:latin typeface="Arial"/>
              </a:rPr>
              <a:t>MODELS: </a:t>
            </a:r>
            <a:r>
              <a:rPr sz="880" b="0">
                <a:solidFill>
                  <a:srgbClr val="5A646E"/>
                </a:solidFill>
                <a:latin typeface="Arial"/>
              </a:rPr>
              <a:t>Spectrogram CNN (primary) · AASIST (baseline) · scikit-learn</a:t>
            </a:r>
          </a:p>
          <a:p>
            <a:pPr>
              <a:spcAft>
                <a:spcPts val="200"/>
              </a:spcAft>
            </a:pPr>
            <a:r>
              <a:rPr sz="880" b="1">
                <a:solidFill>
                  <a:srgbClr val="0B2545"/>
                </a:solidFill>
                <a:latin typeface="Arial"/>
              </a:rPr>
              <a:t>INTERFACE &amp; TOOLING: </a:t>
            </a:r>
            <a:r>
              <a:rPr sz="880" b="0">
                <a:solidFill>
                  <a:srgbClr val="5A646E"/>
                </a:solidFill>
                <a:latin typeface="Arial"/>
              </a:rPr>
              <a:t>Streamlit · Git · GitHub</a:t>
            </a:r>
          </a:p>
          <a:p>
            <a:pPr>
              <a:spcAft>
                <a:spcPts val="200"/>
              </a:spcAft>
            </a:pPr>
            <a:r>
              <a:rPr sz="880" b="1">
                <a:solidFill>
                  <a:srgbClr val="0B2545"/>
                </a:solidFill>
                <a:latin typeface="Arial"/>
              </a:rPr>
              <a:t>HARDWARE: </a:t>
            </a:r>
            <a:r>
              <a:rPr sz="880" b="0">
                <a:solidFill>
                  <a:srgbClr val="5A646E"/>
                </a:solidFill>
                <a:latin typeface="Arial"/>
              </a:rPr>
              <a:t>NVIDIA RTX 4050 Laptop GPU · 6 GB class</a:t>
            </a:r>
          </a:p>
          <a:p>
            <a:pPr>
              <a:spcAft>
                <a:spcPts val="200"/>
              </a:spcAft>
            </a:pPr>
            <a:r>
              <a:rPr sz="880" b="1">
                <a:solidFill>
                  <a:srgbClr val="0070C0"/>
                </a:solidFill>
                <a:latin typeface="Arial"/>
              </a:rPr>
              <a:t>AUDIO CONFIGURATION: </a:t>
            </a:r>
            <a:r>
              <a:rPr sz="880" b="1">
                <a:solidFill>
                  <a:srgbClr val="0B2545"/>
                </a:solidFill>
                <a:latin typeface="Arial"/>
              </a:rPr>
              <a:t>16,000 Hz mono · 128 Mel bins · n_fft 512 · hop 160 · 128 × 128 target · per-sample standardisation · float32</a:t>
            </a:r>
          </a:p>
        </p:txBody>
      </p:sp>
      <p:sp>
        <p:nvSpPr>
          <p:cNvPr id="29" name="Rounded Rectangle 28"/>
          <p:cNvSpPr/>
          <p:nvPr/>
        </p:nvSpPr>
        <p:spPr>
          <a:xfrm>
            <a:off x="6250000" y="2950000"/>
            <a:ext cx="5500000" cy="3400000"/>
          </a:xfrm>
          <a:prstGeom prst="roundRect">
            <a:avLst/>
          </a:prstGeom>
          <a:solidFill>
            <a:srgbClr val="F8FAFC"/>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177800" tIns="152400"/>
          <a:lstStyle/>
          <a:p>
            <a:pPr algn="ctr">
              <a:spcAft>
                <a:spcPts val="400"/>
              </a:spcAft>
              <a:defRPr sz="1200" b="1">
                <a:solidFill>
                  <a:srgbClr val="0B2545"/>
                </a:solidFill>
                <a:latin typeface="Arial"/>
              </a:defRPr>
            </a:pPr>
            <a:r>
              <a:t>SYSTEM ARCHITECTURE — modular separation of concerns</a:t>
            </a:r>
          </a:p>
          <a:p>
            <a:pPr>
              <a:spcAft>
                <a:spcPts val="200"/>
              </a:spcAft>
            </a:pPr>
            <a:r>
              <a:rPr sz="880" b="1">
                <a:solidFill>
                  <a:srgbClr val="0B2545"/>
                </a:solidFill>
                <a:latin typeface="Arial"/>
              </a:rPr>
              <a:t>[UI] </a:t>
            </a:r>
            <a:r>
              <a:rPr sz="880">
                <a:solidFill>
                  <a:srgbClr val="5A646E"/>
                </a:solidFill>
                <a:latin typeface="Arial"/>
              </a:rPr>
              <a:t>app.py — Streamlit upload / record and result display</a:t>
            </a:r>
          </a:p>
          <a:p>
            <a:pPr>
              <a:spcAft>
                <a:spcPts val="200"/>
              </a:spcAft>
            </a:pPr>
            <a:r>
              <a:rPr sz="880" b="1">
                <a:solidFill>
                  <a:srgbClr val="0B2545"/>
                </a:solidFill>
                <a:latin typeface="Arial"/>
              </a:rPr>
              <a:t>[PIPELINE] </a:t>
            </a:r>
            <a:r>
              <a:rPr sz="880">
                <a:solidFill>
                  <a:srgbClr val="5A646E"/>
                </a:solidFill>
                <a:latin typeface="Arial"/>
              </a:rPr>
              <a:t>src/pipeline — detector_pipeline.py · result.py (orchestration, decision layer)</a:t>
            </a:r>
          </a:p>
          <a:p>
            <a:pPr>
              <a:spcAft>
                <a:spcPts val="200"/>
              </a:spcAft>
            </a:pPr>
            <a:r>
              <a:rPr sz="880" b="1">
                <a:solidFill>
                  <a:srgbClr val="0B2545"/>
                </a:solidFill>
                <a:latin typeface="Arial"/>
              </a:rPr>
              <a:t>[AUDIO] </a:t>
            </a:r>
            <a:r>
              <a:rPr sz="880">
                <a:solidFill>
                  <a:srgbClr val="5A646E"/>
                </a:solidFill>
                <a:latin typeface="Arial"/>
              </a:rPr>
              <a:t>src/audio — audio_loader.py · preprocessing.py · recorder.py</a:t>
            </a:r>
          </a:p>
          <a:p>
            <a:pPr>
              <a:spcAft>
                <a:spcPts val="200"/>
              </a:spcAft>
            </a:pPr>
            <a:r>
              <a:rPr sz="880" b="1">
                <a:solidFill>
                  <a:srgbClr val="0B2545"/>
                </a:solidFill>
                <a:latin typeface="Arial"/>
              </a:rPr>
              <a:t>[FEATURES] </a:t>
            </a:r>
            <a:r>
              <a:rPr sz="880">
                <a:solidFill>
                  <a:srgbClr val="5A646E"/>
                </a:solidFill>
                <a:latin typeface="Arial"/>
              </a:rPr>
              <a:t>src/features — spectrogram.py (log-Mel, 128 × 128)</a:t>
            </a:r>
          </a:p>
          <a:p>
            <a:pPr>
              <a:spcAft>
                <a:spcPts val="200"/>
              </a:spcAft>
            </a:pPr>
            <a:r>
              <a:rPr sz="880" b="1">
                <a:solidFill>
                  <a:srgbClr val="0B2545"/>
                </a:solidFill>
                <a:latin typeface="Arial"/>
              </a:rPr>
              <a:t>[MODELS] </a:t>
            </a:r>
            <a:r>
              <a:rPr sz="880">
                <a:solidFill>
                  <a:srgbClr val="5A646E"/>
                </a:solidFill>
                <a:latin typeface="Arial"/>
              </a:rPr>
              <a:t>src/models — cnn/spectrogram_cnn.py (primary) · aasist_detector.py · ensemble.py</a:t>
            </a:r>
          </a:p>
          <a:p>
            <a:pPr>
              <a:spcAft>
                <a:spcPts val="200"/>
              </a:spcAft>
            </a:pPr>
            <a:r>
              <a:rPr sz="880" b="1">
                <a:solidFill>
                  <a:srgbClr val="0B2545"/>
                </a:solidFill>
                <a:latin typeface="Arial"/>
              </a:rPr>
              <a:t>[TRAINING &amp; TESTS] </a:t>
            </a:r>
            <a:r>
              <a:rPr sz="880">
                <a:solidFill>
                  <a:srgbClr val="5A646E"/>
                </a:solidFill>
                <a:latin typeface="Arial"/>
              </a:rPr>
              <a:t>src/training · tests/audio · tests/models · tests/pipeline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773" y="252246"/>
            <a:ext cx="1251857" cy="807334"/>
          </a:xfrm>
          <a:prstGeom prst="ellipse">
            <a:avLst/>
          </a:prstGeom>
          <a:noFill/>
          <a:ln w="1905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1E1E"/>
                </a:solidFill>
                <a:latin typeface="Times New Roman"/>
              </a:defRPr>
            </a:pPr>
            <a:r>
              <a:t>SIH-Aegis</a:t>
            </a:r>
          </a:p>
        </p:txBody>
      </p:sp>
      <p:pic>
        <p:nvPicPr>
          <p:cNvPr id="3" name="Picture 2" descr="image.png"/>
          <p:cNvPicPr>
            <a:picLocks noChangeAspect="1"/>
          </p:cNvPicPr>
          <p:nvPr/>
        </p:nvPicPr>
        <p:blipFill>
          <a:blip r:embed="rId2"/>
          <a:stretch>
            <a:fillRect/>
          </a:stretch>
        </p:blipFill>
        <p:spPr>
          <a:xfrm>
            <a:off x="9780086" y="1500"/>
            <a:ext cx="2249850" cy="1062337"/>
          </a:xfrm>
          <a:prstGeom prst="rect">
            <a:avLst/>
          </a:prstGeom>
        </p:spPr>
      </p:pic>
      <p:sp>
        <p:nvSpPr>
          <p:cNvPr id="4" name="Rectangle 3"/>
          <p:cNvSpPr/>
          <p:nvPr/>
        </p:nvSpPr>
        <p:spPr>
          <a:xfrm>
            <a:off x="0" y="6354762"/>
            <a:ext cx="12192000" cy="50323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0" y="6380000"/>
            <a:ext cx="5000000" cy="400000"/>
          </a:xfrm>
          <a:prstGeom prst="rect">
            <a:avLst/>
          </a:prstGeom>
          <a:noFill/>
        </p:spPr>
        <p:txBody>
          <a:bodyPr wrap="none" anchor="ctr">
            <a:spAutoFit/>
          </a:bodyPr>
          <a:lstStyle/>
          <a:p>
            <a:pPr algn="ctr">
              <a:defRPr sz="1200">
                <a:solidFill>
                  <a:srgbClr val="FFFFFF"/>
                </a:solidFill>
                <a:latin typeface="Arial"/>
              </a:defRPr>
            </a:pPr>
            <a:r>
              <a:t>@SIH Idea submission- Template</a:t>
            </a:r>
          </a:p>
        </p:txBody>
      </p:sp>
      <p:sp>
        <p:nvSpPr>
          <p:cNvPr id="6" name="TextBox 5"/>
          <p:cNvSpPr txBox="1"/>
          <p:nvPr/>
        </p:nvSpPr>
        <p:spPr>
          <a:xfrm>
            <a:off x="10800000" y="6380000"/>
            <a:ext cx="1100000" cy="400000"/>
          </a:xfrm>
          <a:prstGeom prst="rect">
            <a:avLst/>
          </a:prstGeom>
          <a:noFill/>
        </p:spPr>
        <p:txBody>
          <a:bodyPr wrap="none" anchor="ctr">
            <a:spAutoFit/>
          </a:bodyPr>
          <a:lstStyle/>
          <a:p>
            <a:pPr algn="r">
              <a:defRPr sz="1200" b="1">
                <a:solidFill>
                  <a:srgbClr val="FFFFFF"/>
                </a:solidFill>
                <a:latin typeface="Arial"/>
              </a:defRPr>
            </a:pPr>
            <a:r>
              <a:t>4</a:t>
            </a:r>
          </a:p>
        </p:txBody>
      </p:sp>
      <p:sp>
        <p:nvSpPr>
          <p:cNvPr id="7" name="TextBox 6"/>
          <p:cNvSpPr txBox="1"/>
          <p:nvPr/>
        </p:nvSpPr>
        <p:spPr>
          <a:xfrm>
            <a:off x="1650000" y="90000"/>
            <a:ext cx="8000000" cy="560000"/>
          </a:xfrm>
          <a:prstGeom prst="rect">
            <a:avLst/>
          </a:prstGeom>
          <a:noFill/>
        </p:spPr>
        <p:txBody>
          <a:bodyPr wrap="square" anchor="ctr">
            <a:spAutoFit/>
          </a:bodyPr>
          <a:lstStyle/>
          <a:p>
            <a:pPr algn="ctr">
              <a:defRPr sz="2600" b="1">
                <a:solidFill>
                  <a:srgbClr val="141414"/>
                </a:solidFill>
                <a:latin typeface="Times New Roman"/>
              </a:defRPr>
            </a:pPr>
            <a:r>
              <a:t>TECHNICAL APPROACH</a:t>
            </a:r>
          </a:p>
        </p:txBody>
      </p:sp>
      <p:sp>
        <p:nvSpPr>
          <p:cNvPr id="8" name="TextBox 7"/>
          <p:cNvSpPr txBox="1"/>
          <p:nvPr/>
        </p:nvSpPr>
        <p:spPr>
          <a:xfrm>
            <a:off x="1650000" y="660000"/>
            <a:ext cx="8000000" cy="420000"/>
          </a:xfrm>
          <a:prstGeom prst="rect">
            <a:avLst/>
          </a:prstGeom>
          <a:noFill/>
        </p:spPr>
        <p:txBody>
          <a:bodyPr wrap="square" anchor="ctr">
            <a:spAutoFit/>
          </a:bodyPr>
          <a:lstStyle/>
          <a:p>
            <a:pPr algn="ctr">
              <a:defRPr sz="1300" b="1">
                <a:solidFill>
                  <a:srgbClr val="0070C0"/>
                </a:solidFill>
                <a:latin typeface="Arial"/>
              </a:defRPr>
            </a:pPr>
            <a:r>
              <a:t>Baseline Validation &amp; ONNX Runtime Cross-Platform Verification</a:t>
            </a:r>
          </a:p>
        </p:txBody>
      </p:sp>
      <p:sp>
        <p:nvSpPr>
          <p:cNvPr id="9" name="TextBox 8"/>
          <p:cNvSpPr txBox="1"/>
          <p:nvPr/>
        </p:nvSpPr>
        <p:spPr>
          <a:xfrm>
            <a:off x="450000" y="1120000"/>
            <a:ext cx="11300000" cy="480000"/>
          </a:xfrm>
          <a:prstGeom prst="rect">
            <a:avLst/>
          </a:prstGeom>
          <a:noFill/>
        </p:spPr>
        <p:txBody>
          <a:bodyPr wrap="none">
            <a:spAutoFit/>
          </a:bodyPr>
          <a:lstStyle/>
          <a:p>
            <a:pPr>
              <a:defRPr sz="1300" b="1">
                <a:solidFill>
                  <a:srgbClr val="0B2545"/>
                </a:solidFill>
              </a:defRPr>
            </a:pPr>
            <a:r>
              <a:t>EMPIRICAL BASELINE VALIDATION — Discovering Domain Shift &amp; Cross-Runtime Equivalence</a:t>
            </a:r>
          </a:p>
          <a:p>
            <a:pPr>
              <a:defRPr sz="1000">
                <a:solidFill>
                  <a:srgbClr val="5A646E"/>
                </a:solidFill>
              </a:defRPr>
            </a:pPr>
            <a:r>
              <a:t>Testing a state-of-the-art model exposed real-world generalization limits, driving our custom CNN development while validating ONNX execution.</a:t>
            </a:r>
          </a:p>
        </p:txBody>
      </p:sp>
      <p:sp>
        <p:nvSpPr>
          <p:cNvPr id="10" name="Rounded Rectangle 9"/>
          <p:cNvSpPr/>
          <p:nvPr/>
        </p:nvSpPr>
        <p:spPr>
          <a:xfrm>
            <a:off x="45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AASIST Baseline</a:t>
            </a:r>
          </a:p>
          <a:p>
            <a:pPr algn="ctr">
              <a:defRPr sz="850">
                <a:solidFill>
                  <a:srgbClr val="5A646E"/>
                </a:solidFill>
                <a:latin typeface="Arial"/>
              </a:defRPr>
            </a:pPr>
            <a:r>
              <a:t>Pretrained PyTorch model</a:t>
            </a:r>
          </a:p>
        </p:txBody>
      </p:sp>
      <p:sp>
        <p:nvSpPr>
          <p:cNvPr id="11" name="Right Arrow 10"/>
          <p:cNvSpPr/>
          <p:nvPr/>
        </p:nvSpPr>
        <p:spPr>
          <a:xfrm>
            <a:off x="209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7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CUDA Evaluation</a:t>
            </a:r>
          </a:p>
          <a:p>
            <a:pPr algn="ctr">
              <a:defRPr sz="850">
                <a:solidFill>
                  <a:srgbClr val="5A646E"/>
                </a:solidFill>
                <a:latin typeface="Arial"/>
              </a:defRPr>
            </a:pPr>
            <a:r>
              <a:t>Deterministic GPU testing</a:t>
            </a:r>
          </a:p>
        </p:txBody>
      </p:sp>
      <p:sp>
        <p:nvSpPr>
          <p:cNvPr id="13" name="Right Arrow 12"/>
          <p:cNvSpPr/>
          <p:nvPr/>
        </p:nvSpPr>
        <p:spPr>
          <a:xfrm>
            <a:off x="401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Real-World Tests</a:t>
            </a:r>
          </a:p>
          <a:p>
            <a:pPr algn="ctr">
              <a:defRPr sz="850">
                <a:solidFill>
                  <a:srgbClr val="5A646E"/>
                </a:solidFill>
                <a:latin typeface="Arial"/>
              </a:defRPr>
            </a:pPr>
            <a:r>
              <a:t>Synthetic vs genuine mic</a:t>
            </a:r>
          </a:p>
        </p:txBody>
      </p:sp>
      <p:sp>
        <p:nvSpPr>
          <p:cNvPr id="15" name="Right Arrow 14"/>
          <p:cNvSpPr/>
          <p:nvPr/>
        </p:nvSpPr>
        <p:spPr>
          <a:xfrm>
            <a:off x="593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000" y="1680000"/>
            <a:ext cx="1600000" cy="950000"/>
          </a:xfrm>
          <a:prstGeom prst="round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False Positives</a:t>
            </a:r>
          </a:p>
          <a:p>
            <a:pPr algn="ctr">
              <a:defRPr sz="850">
                <a:solidFill>
                  <a:srgbClr val="FFFFFF"/>
                </a:solidFill>
                <a:latin typeface="Arial"/>
              </a:defRPr>
            </a:pPr>
            <a:r>
              <a:t>Exposed domain shift</a:t>
            </a:r>
          </a:p>
        </p:txBody>
      </p:sp>
      <p:sp>
        <p:nvSpPr>
          <p:cNvPr id="17" name="Right Arrow 16"/>
          <p:cNvSpPr/>
          <p:nvPr/>
        </p:nvSpPr>
        <p:spPr>
          <a:xfrm>
            <a:off x="785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ONNX Export</a:t>
            </a:r>
          </a:p>
          <a:p>
            <a:pPr algn="ctr">
              <a:defRPr sz="850">
                <a:solidFill>
                  <a:srgbClr val="5A646E"/>
                </a:solidFill>
                <a:latin typeface="Arial"/>
              </a:defRPr>
            </a:pPr>
            <a:r>
              <a:t>Cross-platform runtime</a:t>
            </a:r>
          </a:p>
        </p:txBody>
      </p:sp>
      <p:sp>
        <p:nvSpPr>
          <p:cNvPr id="19" name="Right Arrow 18"/>
          <p:cNvSpPr/>
          <p:nvPr/>
        </p:nvSpPr>
        <p:spPr>
          <a:xfrm>
            <a:off x="977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50000" y="1680000"/>
            <a:ext cx="1600000" cy="950000"/>
          </a:xfrm>
          <a:prstGeom prst="roundRect">
            <a:avLst/>
          </a:prstGeom>
          <a:solidFill>
            <a:srgbClr val="0B2545"/>
          </a:solidFill>
          <a:ln w="1270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Strict Equivalence</a:t>
            </a:r>
          </a:p>
          <a:p>
            <a:pPr algn="ctr">
              <a:defRPr sz="850">
                <a:solidFill>
                  <a:srgbClr val="FFFFFF"/>
                </a:solidFill>
                <a:latin typeface="Arial"/>
              </a:defRPr>
            </a:pPr>
            <a:r>
              <a:t>Max diff: 3.8 × 10⁻⁶</a:t>
            </a:r>
          </a:p>
        </p:txBody>
      </p:sp>
      <p:sp>
        <p:nvSpPr>
          <p:cNvPr id="21" name="Rounded Rectangle 20"/>
          <p:cNvSpPr/>
          <p:nvPr/>
        </p:nvSpPr>
        <p:spPr>
          <a:xfrm>
            <a:off x="4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Empirical Baseline Testing &amp; Finding</a:t>
            </a:r>
          </a:p>
          <a:p>
            <a:pPr>
              <a:spcAft>
                <a:spcPts val="400"/>
              </a:spcAft>
              <a:defRPr sz="950">
                <a:solidFill>
                  <a:srgbClr val="14181E"/>
                </a:solidFill>
                <a:latin typeface="Arial"/>
              </a:defRPr>
            </a:pPr>
            <a:r>
              <a:t>• We integrated AASIST (ICASSP 2022) as our initial working prototype and evaluated it against known cloned speech.</a:t>
            </a:r>
          </a:p>
          <a:p>
            <a:pPr>
              <a:spcAft>
                <a:spcPts val="400"/>
              </a:spcAft>
              <a:defRPr sz="950">
                <a:solidFill>
                  <a:srgbClr val="14181E"/>
                </a:solidFill>
                <a:latin typeface="Arial"/>
              </a:defRPr>
            </a:pPr>
            <a:r>
              <a:t>• Synthetic Detection: Successfully flagged our generated zero-shot clones as SPOOF with decisive probability.</a:t>
            </a:r>
          </a:p>
          <a:p>
            <a:pPr>
              <a:spcAft>
                <a:spcPts val="400"/>
              </a:spcAft>
              <a:defRPr sz="950">
                <a:solidFill>
                  <a:srgbClr val="14181E"/>
                </a:solidFill>
                <a:latin typeface="Arial"/>
              </a:defRPr>
            </a:pPr>
            <a:r>
              <a:t>• Real-World False Alarms: Testing genuine phone calls and laptop recordings triggered false-positive SPOOF alerts.</a:t>
            </a:r>
          </a:p>
          <a:p>
            <a:pPr>
              <a:spcAft>
                <a:spcPts val="400"/>
              </a:spcAft>
              <a:defRPr sz="950">
                <a:solidFill>
                  <a:srgbClr val="14181E"/>
                </a:solidFill>
                <a:latin typeface="Arial"/>
              </a:defRPr>
            </a:pPr>
            <a:r>
              <a:t>• Crucial Insight: Benchmark performance on academic datasets (ASVspoof) does not equal real-world deployment robustness.</a:t>
            </a:r>
          </a:p>
        </p:txBody>
      </p:sp>
      <p:sp>
        <p:nvSpPr>
          <p:cNvPr id="22" name="Rounded Rectangle 21"/>
          <p:cNvSpPr/>
          <p:nvPr/>
        </p:nvSpPr>
        <p:spPr>
          <a:xfrm>
            <a:off x="430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ONNX Export &amp; Numerical Verification</a:t>
            </a:r>
          </a:p>
          <a:p>
            <a:pPr>
              <a:spcAft>
                <a:spcPts val="400"/>
              </a:spcAft>
              <a:defRPr sz="950">
                <a:solidFill>
                  <a:srgbClr val="14181E"/>
                </a:solidFill>
                <a:latin typeface="Arial"/>
              </a:defRPr>
            </a:pPr>
            <a:r>
              <a:t>• Cross-Platform Migration: Exported the PyTorch AASIST model graph to Open Neural Network Exchange (ONNX) format.</a:t>
            </a:r>
          </a:p>
          <a:p>
            <a:pPr>
              <a:spcAft>
                <a:spcPts val="400"/>
              </a:spcAft>
              <a:defRPr sz="950">
                <a:solidFill>
                  <a:srgbClr val="14181E"/>
                </a:solidFill>
                <a:latin typeface="Arial"/>
              </a:defRPr>
            </a:pPr>
            <a:r>
              <a:t>• Runtime Validation: Successfully executed inference inside the ONNX Runtime engine on CPU and GPU.</a:t>
            </a:r>
          </a:p>
          <a:p>
            <a:pPr>
              <a:spcAft>
                <a:spcPts val="400"/>
              </a:spcAft>
              <a:defRPr sz="950">
                <a:solidFill>
                  <a:srgbClr val="14181E"/>
                </a:solidFill>
                <a:latin typeface="Arial"/>
              </a:defRPr>
            </a:pPr>
            <a:r>
              <a:t>• Strict Numerical Equivalence: Verified maximum absolute output divergence of ~3.8e-06 between PyTorch and ONNX.</a:t>
            </a:r>
          </a:p>
          <a:p>
            <a:pPr>
              <a:spcAft>
                <a:spcPts val="400"/>
              </a:spcAft>
              <a:defRPr sz="950">
                <a:solidFill>
                  <a:srgbClr val="14181E"/>
                </a:solidFill>
                <a:latin typeface="Arial"/>
              </a:defRPr>
            </a:pPr>
            <a:r>
              <a:t>• Class Parity: Both execution engines produced identical classifications on validation audio batches.</a:t>
            </a:r>
          </a:p>
        </p:txBody>
      </p:sp>
      <p:sp>
        <p:nvSpPr>
          <p:cNvPr id="23" name="Rounded Rectangle 22"/>
          <p:cNvSpPr/>
          <p:nvPr/>
        </p:nvSpPr>
        <p:spPr>
          <a:xfrm>
            <a:off x="81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Engineering Decision &amp; Model Strategy</a:t>
            </a:r>
          </a:p>
          <a:p>
            <a:pPr>
              <a:spcAft>
                <a:spcPts val="400"/>
              </a:spcAft>
              <a:defRPr sz="950">
                <a:solidFill>
                  <a:srgbClr val="14181E"/>
                </a:solidFill>
                <a:latin typeface="Arial"/>
              </a:defRPr>
            </a:pPr>
            <a:r>
              <a:t>• Benchmark Retention: AASIST is retained as our measured reference point rather than discarded.</a:t>
            </a:r>
          </a:p>
          <a:p>
            <a:pPr>
              <a:spcAft>
                <a:spcPts val="400"/>
              </a:spcAft>
              <a:defRPr sz="950">
                <a:solidFill>
                  <a:srgbClr val="14181E"/>
                </a:solidFill>
                <a:latin typeface="Arial"/>
              </a:defRPr>
            </a:pPr>
            <a:r>
              <a:t>• Custom Domain-Aware CNN: Motivated the design of our lightweight ~97.9k parameter Spectrogram CNN.</a:t>
            </a:r>
          </a:p>
          <a:p>
            <a:pPr>
              <a:spcAft>
                <a:spcPts val="400"/>
              </a:spcAft>
              <a:defRPr sz="950">
                <a:solidFill>
                  <a:srgbClr val="14181E"/>
                </a:solidFill>
                <a:latin typeface="Arial"/>
              </a:defRPr>
            </a:pPr>
            <a:r>
              <a:t>• Fast Retraining Advantage: Compact architecture can be retrained in hours to absorb emerging cloning algorithms.</a:t>
            </a:r>
          </a:p>
          <a:p>
            <a:pPr>
              <a:spcAft>
                <a:spcPts val="400"/>
              </a:spcAft>
              <a:defRPr sz="950">
                <a:solidFill>
                  <a:srgbClr val="14181E"/>
                </a:solidFill>
                <a:latin typeface="Arial"/>
              </a:defRPr>
            </a:pPr>
            <a:r>
              <a:t>• Multi-Model Potential: Maintains both models behind a unified interface for future multi-model ensembling.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773" y="252246"/>
            <a:ext cx="1251857" cy="807334"/>
          </a:xfrm>
          <a:prstGeom prst="ellipse">
            <a:avLst/>
          </a:prstGeom>
          <a:noFill/>
          <a:ln w="1905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1E1E"/>
                </a:solidFill>
                <a:latin typeface="Times New Roman"/>
              </a:defRPr>
            </a:pPr>
            <a:r>
              <a:t>SIH-Aegis</a:t>
            </a:r>
          </a:p>
        </p:txBody>
      </p:sp>
      <p:pic>
        <p:nvPicPr>
          <p:cNvPr id="3" name="Picture 2" descr="image.png"/>
          <p:cNvPicPr>
            <a:picLocks noChangeAspect="1"/>
          </p:cNvPicPr>
          <p:nvPr/>
        </p:nvPicPr>
        <p:blipFill>
          <a:blip r:embed="rId2"/>
          <a:stretch>
            <a:fillRect/>
          </a:stretch>
        </p:blipFill>
        <p:spPr>
          <a:xfrm>
            <a:off x="9780086" y="1500"/>
            <a:ext cx="2249850" cy="1062337"/>
          </a:xfrm>
          <a:prstGeom prst="rect">
            <a:avLst/>
          </a:prstGeom>
        </p:spPr>
      </p:pic>
      <p:sp>
        <p:nvSpPr>
          <p:cNvPr id="4" name="Rectangle 3"/>
          <p:cNvSpPr/>
          <p:nvPr/>
        </p:nvSpPr>
        <p:spPr>
          <a:xfrm>
            <a:off x="0" y="6354762"/>
            <a:ext cx="12192000" cy="50323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0" y="6380000"/>
            <a:ext cx="5000000" cy="400000"/>
          </a:xfrm>
          <a:prstGeom prst="rect">
            <a:avLst/>
          </a:prstGeom>
          <a:noFill/>
        </p:spPr>
        <p:txBody>
          <a:bodyPr wrap="none" anchor="ctr">
            <a:spAutoFit/>
          </a:bodyPr>
          <a:lstStyle/>
          <a:p>
            <a:pPr algn="ctr">
              <a:defRPr sz="1200">
                <a:solidFill>
                  <a:srgbClr val="FFFFFF"/>
                </a:solidFill>
                <a:latin typeface="Arial"/>
              </a:defRPr>
            </a:pPr>
            <a:r>
              <a:t>@SIH Idea submission- Template</a:t>
            </a:r>
          </a:p>
        </p:txBody>
      </p:sp>
      <p:sp>
        <p:nvSpPr>
          <p:cNvPr id="6" name="TextBox 5"/>
          <p:cNvSpPr txBox="1"/>
          <p:nvPr/>
        </p:nvSpPr>
        <p:spPr>
          <a:xfrm>
            <a:off x="10800000" y="6380000"/>
            <a:ext cx="1100000" cy="400000"/>
          </a:xfrm>
          <a:prstGeom prst="rect">
            <a:avLst/>
          </a:prstGeom>
          <a:noFill/>
        </p:spPr>
        <p:txBody>
          <a:bodyPr wrap="none" anchor="ctr">
            <a:spAutoFit/>
          </a:bodyPr>
          <a:lstStyle/>
          <a:p>
            <a:pPr algn="r">
              <a:defRPr sz="1200" b="1">
                <a:solidFill>
                  <a:srgbClr val="FFFFFF"/>
                </a:solidFill>
                <a:latin typeface="Arial"/>
              </a:defRPr>
            </a:pPr>
            <a:r>
              <a:t>5</a:t>
            </a:r>
          </a:p>
        </p:txBody>
      </p:sp>
      <p:sp>
        <p:nvSpPr>
          <p:cNvPr id="7" name="TextBox 6"/>
          <p:cNvSpPr txBox="1"/>
          <p:nvPr/>
        </p:nvSpPr>
        <p:spPr>
          <a:xfrm>
            <a:off x="1650000" y="90000"/>
            <a:ext cx="8000000" cy="560000"/>
          </a:xfrm>
          <a:prstGeom prst="rect">
            <a:avLst/>
          </a:prstGeom>
          <a:noFill/>
        </p:spPr>
        <p:txBody>
          <a:bodyPr wrap="square" anchor="ctr">
            <a:spAutoFit/>
          </a:bodyPr>
          <a:lstStyle/>
          <a:p>
            <a:pPr algn="ctr">
              <a:defRPr sz="2600" b="1">
                <a:solidFill>
                  <a:srgbClr val="141414"/>
                </a:solidFill>
                <a:latin typeface="Times New Roman"/>
              </a:defRPr>
            </a:pPr>
            <a:r>
              <a:t>TECHNICAL APPROACH</a:t>
            </a:r>
          </a:p>
        </p:txBody>
      </p:sp>
      <p:sp>
        <p:nvSpPr>
          <p:cNvPr id="8" name="TextBox 7"/>
          <p:cNvSpPr txBox="1"/>
          <p:nvPr/>
        </p:nvSpPr>
        <p:spPr>
          <a:xfrm>
            <a:off x="1650000" y="660000"/>
            <a:ext cx="8000000" cy="420000"/>
          </a:xfrm>
          <a:prstGeom prst="rect">
            <a:avLst/>
          </a:prstGeom>
          <a:noFill/>
        </p:spPr>
        <p:txBody>
          <a:bodyPr wrap="square" anchor="ctr">
            <a:spAutoFit/>
          </a:bodyPr>
          <a:lstStyle/>
          <a:p>
            <a:pPr algn="ctr">
              <a:defRPr sz="1300" b="1">
                <a:solidFill>
                  <a:srgbClr val="0070C0"/>
                </a:solidFill>
                <a:latin typeface="Arial"/>
              </a:defRPr>
            </a:pPr>
            <a:r>
              <a:t>Android Mobile Architecture — 'From Prototype to Mobile Security'</a:t>
            </a:r>
          </a:p>
        </p:txBody>
      </p:sp>
      <p:sp>
        <p:nvSpPr>
          <p:cNvPr id="9" name="TextBox 8"/>
          <p:cNvSpPr txBox="1"/>
          <p:nvPr/>
        </p:nvSpPr>
        <p:spPr>
          <a:xfrm>
            <a:off x="450000" y="1120000"/>
            <a:ext cx="11300000" cy="480000"/>
          </a:xfrm>
          <a:prstGeom prst="rect">
            <a:avLst/>
          </a:prstGeom>
          <a:noFill/>
        </p:spPr>
        <p:txBody>
          <a:bodyPr wrap="none">
            <a:spAutoFit/>
          </a:bodyPr>
          <a:lstStyle/>
          <a:p>
            <a:pPr>
              <a:defRPr sz="1300" b="1">
                <a:solidFill>
                  <a:srgbClr val="0B2545"/>
                </a:solidFill>
              </a:defRPr>
            </a:pPr>
            <a:r>
              <a:t>MOBILE DEPLOYMENT LAYER — Native Android Client &amp; Edge Inference Architecture</a:t>
            </a:r>
          </a:p>
          <a:p>
            <a:pPr>
              <a:defRPr sz="1000">
                <a:solidFill>
                  <a:srgbClr val="5A646E"/>
                </a:solidFill>
              </a:defRPr>
            </a:pPr>
            <a:r>
              <a:t>Bringing voice authenticity to the endpoint via Kotlin, Jetpack Compose, and embedded ONNX Runtime inference.</a:t>
            </a:r>
          </a:p>
        </p:txBody>
      </p:sp>
      <p:sp>
        <p:nvSpPr>
          <p:cNvPr id="10" name="Rounded Rectangle 9"/>
          <p:cNvSpPr/>
          <p:nvPr/>
        </p:nvSpPr>
        <p:spPr>
          <a:xfrm>
            <a:off x="45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Android Client</a:t>
            </a:r>
          </a:p>
          <a:p>
            <a:pPr algn="ctr">
              <a:defRPr sz="850">
                <a:solidFill>
                  <a:srgbClr val="5A646E"/>
                </a:solidFill>
                <a:latin typeface="Arial"/>
              </a:defRPr>
            </a:pPr>
            <a:r>
              <a:t>Kotlin · Jetpack Compose</a:t>
            </a:r>
          </a:p>
        </p:txBody>
      </p:sp>
      <p:sp>
        <p:nvSpPr>
          <p:cNvPr id="11" name="Right Arrow 10"/>
          <p:cNvSpPr/>
          <p:nvPr/>
        </p:nvSpPr>
        <p:spPr>
          <a:xfrm>
            <a:off x="209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7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Audio Ingestion</a:t>
            </a:r>
          </a:p>
          <a:p>
            <a:pPr algn="ctr">
              <a:defRPr sz="850">
                <a:solidFill>
                  <a:srgbClr val="5A646E"/>
                </a:solidFill>
                <a:latin typeface="Arial"/>
              </a:defRPr>
            </a:pPr>
            <a:r>
              <a:t>File upload / mic capture</a:t>
            </a:r>
          </a:p>
        </p:txBody>
      </p:sp>
      <p:sp>
        <p:nvSpPr>
          <p:cNvPr id="13" name="Right Arrow 12"/>
          <p:cNvSpPr/>
          <p:nvPr/>
        </p:nvSpPr>
        <p:spPr>
          <a:xfrm>
            <a:off x="401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0000" y="1680000"/>
            <a:ext cx="1600000" cy="950000"/>
          </a:xfrm>
          <a:prstGeom prst="roundRect">
            <a:avLst/>
          </a:prstGeom>
          <a:solidFill>
            <a:srgbClr val="0070C0"/>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ONNX Mobile</a:t>
            </a:r>
          </a:p>
          <a:p>
            <a:pPr algn="ctr">
              <a:defRPr sz="850">
                <a:solidFill>
                  <a:srgbClr val="FFFFFF"/>
                </a:solidFill>
                <a:latin typeface="Arial"/>
              </a:defRPr>
            </a:pPr>
            <a:r>
              <a:t>Embedded runtime engine</a:t>
            </a:r>
          </a:p>
        </p:txBody>
      </p:sp>
      <p:sp>
        <p:nvSpPr>
          <p:cNvPr id="15" name="Right Arrow 14"/>
          <p:cNvSpPr/>
          <p:nvPr/>
        </p:nvSpPr>
        <p:spPr>
          <a:xfrm>
            <a:off x="593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Model in Assets</a:t>
            </a:r>
          </a:p>
          <a:p>
            <a:pPr algn="ctr">
              <a:defRPr sz="850">
                <a:solidFill>
                  <a:srgbClr val="5A646E"/>
                </a:solidFill>
                <a:latin typeface="Arial"/>
              </a:defRPr>
            </a:pPr>
            <a:r>
              <a:t>AASIST ONNX loaded</a:t>
            </a:r>
          </a:p>
        </p:txBody>
      </p:sp>
      <p:sp>
        <p:nvSpPr>
          <p:cNvPr id="17" name="Right Arrow 16"/>
          <p:cNvSpPr/>
          <p:nvPr/>
        </p:nvSpPr>
        <p:spPr>
          <a:xfrm>
            <a:off x="785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On-Device Scoring</a:t>
            </a:r>
          </a:p>
          <a:p>
            <a:pPr algn="ctr">
              <a:defRPr sz="850">
                <a:solidFill>
                  <a:srgbClr val="5A646E"/>
                </a:solidFill>
                <a:latin typeface="Arial"/>
              </a:defRPr>
            </a:pPr>
            <a:r>
              <a:t>Local inference pipeline</a:t>
            </a:r>
          </a:p>
        </p:txBody>
      </p:sp>
      <p:sp>
        <p:nvSpPr>
          <p:cNvPr id="19" name="Right Arrow 18"/>
          <p:cNvSpPr/>
          <p:nvPr/>
        </p:nvSpPr>
        <p:spPr>
          <a:xfrm>
            <a:off x="977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50000" y="1680000"/>
            <a:ext cx="1600000" cy="950000"/>
          </a:xfrm>
          <a:prstGeom prst="roundRect">
            <a:avLst/>
          </a:prstGeom>
          <a:solidFill>
            <a:srgbClr val="0B254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Instant Verdict</a:t>
            </a:r>
          </a:p>
          <a:p>
            <a:pPr algn="ctr">
              <a:defRPr sz="850">
                <a:solidFill>
                  <a:srgbClr val="FFFFFF"/>
                </a:solidFill>
                <a:latin typeface="Arial"/>
              </a:defRPr>
            </a:pPr>
            <a:r>
              <a:t>BONAFIDE / SPOOF UI</a:t>
            </a:r>
          </a:p>
        </p:txBody>
      </p:sp>
      <p:sp>
        <p:nvSpPr>
          <p:cNvPr id="21" name="Rounded Rectangle 20"/>
          <p:cNvSpPr/>
          <p:nvPr/>
        </p:nvSpPr>
        <p:spPr>
          <a:xfrm>
            <a:off x="4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Native Android Progress (Completed)</a:t>
            </a:r>
          </a:p>
          <a:p>
            <a:pPr>
              <a:spcAft>
                <a:spcPts val="400"/>
              </a:spcAft>
              <a:defRPr sz="950">
                <a:solidFill>
                  <a:srgbClr val="14181E"/>
                </a:solidFill>
                <a:latin typeface="Arial"/>
              </a:defRPr>
            </a:pPr>
            <a:r>
              <a:t>• Native Android Studio project built in Kotlin with Jetpack Compose and Material 3 design.</a:t>
            </a:r>
          </a:p>
          <a:p>
            <a:pPr>
              <a:spcAft>
                <a:spcPts val="400"/>
              </a:spcAft>
              <a:defRPr sz="950">
                <a:solidFill>
                  <a:srgbClr val="14181E"/>
                </a:solidFill>
                <a:latin typeface="Arial"/>
              </a:defRPr>
            </a:pPr>
            <a:r>
              <a:t>• ONNX Runtime Mobile SDK successfully integrated and initialized inside the Android application.</a:t>
            </a:r>
          </a:p>
          <a:p>
            <a:pPr>
              <a:spcAft>
                <a:spcPts val="400"/>
              </a:spcAft>
              <a:defRPr sz="950">
                <a:solidFill>
                  <a:srgbClr val="14181E"/>
                </a:solidFill>
                <a:latin typeface="Arial"/>
              </a:defRPr>
            </a:pPr>
            <a:r>
              <a:t>• The AASIST ONNX model is bundled into Android assets and loads into memory without errors.</a:t>
            </a:r>
          </a:p>
          <a:p>
            <a:pPr>
              <a:spcAft>
                <a:spcPts val="400"/>
              </a:spcAft>
              <a:defRPr sz="950">
                <a:solidFill>
                  <a:srgbClr val="14181E"/>
                </a:solidFill>
                <a:latin typeface="Arial"/>
              </a:defRPr>
            </a:pPr>
            <a:r>
              <a:t>• Reactive state machine implemented: READY ➔ LISTENING ➔ ANALYZING ➔ BONAFIDE / SPOOF.</a:t>
            </a:r>
          </a:p>
        </p:txBody>
      </p:sp>
      <p:sp>
        <p:nvSpPr>
          <p:cNvPr id="22" name="Rounded Rectangle 21"/>
          <p:cNvSpPr/>
          <p:nvPr/>
        </p:nvSpPr>
        <p:spPr>
          <a:xfrm>
            <a:off x="430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Platform Reality &amp; Technical Honesty</a:t>
            </a:r>
          </a:p>
          <a:p>
            <a:pPr>
              <a:spcAft>
                <a:spcPts val="400"/>
              </a:spcAft>
              <a:defRPr sz="950">
                <a:solidFill>
                  <a:srgbClr val="14181E"/>
                </a:solidFill>
                <a:latin typeface="Arial"/>
              </a:defRPr>
            </a:pPr>
            <a:r>
              <a:t>• CRITICAL HONEST FACT: Third-party Android apps CANNOT intercept live cellular-call audio due to OS security sandboxing.</a:t>
            </a:r>
          </a:p>
          <a:p>
            <a:pPr>
              <a:spcAft>
                <a:spcPts val="400"/>
              </a:spcAft>
              <a:defRPr sz="950">
                <a:solidFill>
                  <a:srgbClr val="14181E"/>
                </a:solidFill>
                <a:latin typeface="Arial"/>
              </a:defRPr>
            </a:pPr>
            <a:r>
              <a:t>• Target Demonstration Path: Audio file upload &amp; voice note screening (WhatsApp/Telegram audio) evaluated on-device.</a:t>
            </a:r>
          </a:p>
          <a:p>
            <a:pPr>
              <a:spcAft>
                <a:spcPts val="400"/>
              </a:spcAft>
              <a:defRPr sz="950">
                <a:solidFill>
                  <a:srgbClr val="14181E"/>
                </a:solidFill>
                <a:latin typeface="Arial"/>
              </a:defRPr>
            </a:pPr>
            <a:r>
              <a:t>• Next Mobile Milestone: Microphone capture feeding sliding audio chunks into local ONNX inference for real-time verification.</a:t>
            </a:r>
          </a:p>
          <a:p>
            <a:pPr>
              <a:spcAft>
                <a:spcPts val="400"/>
              </a:spcAft>
              <a:defRPr sz="950">
                <a:solidFill>
                  <a:srgbClr val="14181E"/>
                </a:solidFill>
                <a:latin typeface="Arial"/>
              </a:defRPr>
            </a:pPr>
            <a:r>
              <a:t>• Enterprise Telecom Vision: Full cellular stream inspection requires carrier-level telephony gateway integration.</a:t>
            </a:r>
          </a:p>
        </p:txBody>
      </p:sp>
      <p:sp>
        <p:nvSpPr>
          <p:cNvPr id="23" name="Rounded Rectangle 22"/>
          <p:cNvSpPr/>
          <p:nvPr/>
        </p:nvSpPr>
        <p:spPr>
          <a:xfrm>
            <a:off x="81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Zero-Trust Biometric Voice Privacy</a:t>
            </a:r>
          </a:p>
          <a:p>
            <a:pPr>
              <a:spcAft>
                <a:spcPts val="400"/>
              </a:spcAft>
              <a:defRPr sz="950">
                <a:solidFill>
                  <a:srgbClr val="14181E"/>
                </a:solidFill>
                <a:latin typeface="Arial"/>
              </a:defRPr>
            </a:pPr>
            <a:r>
              <a:t>• Zero Cloud Dependency: Local on-device execution ensures sensitive voice data never leaves the user's phone.</a:t>
            </a:r>
          </a:p>
          <a:p>
            <a:pPr>
              <a:spcAft>
                <a:spcPts val="400"/>
              </a:spcAft>
              <a:defRPr sz="950">
                <a:solidFill>
                  <a:srgbClr val="14181E"/>
                </a:solidFill>
                <a:latin typeface="Arial"/>
              </a:defRPr>
            </a:pPr>
            <a:r>
              <a:t>• Ephemeral Memory Processing: Audio buffers in RAM are purged immediately after calculating the security score.</a:t>
            </a:r>
          </a:p>
          <a:p>
            <a:pPr>
              <a:spcAft>
                <a:spcPts val="400"/>
              </a:spcAft>
              <a:defRPr sz="950">
                <a:solidFill>
                  <a:srgbClr val="14181E"/>
                </a:solidFill>
                <a:latin typeface="Arial"/>
              </a:defRPr>
            </a:pPr>
            <a:r>
              <a:t>• Non-Invertible Representation: Spectrogram features prevent raw private speech reconstruction.</a:t>
            </a:r>
          </a:p>
          <a:p>
            <a:pPr>
              <a:spcAft>
                <a:spcPts val="400"/>
              </a:spcAft>
              <a:defRPr sz="950">
                <a:solidFill>
                  <a:srgbClr val="14181E"/>
                </a:solidFill>
                <a:latin typeface="Arial"/>
              </a:defRPr>
            </a:pPr>
            <a:r>
              <a:t>• DPDPA 2023 Alignment: Complies with Indian data governance principles for sensitive biometric voiceprints.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773" y="252246"/>
            <a:ext cx="1251857" cy="807334"/>
          </a:xfrm>
          <a:prstGeom prst="ellipse">
            <a:avLst/>
          </a:prstGeom>
          <a:noFill/>
          <a:ln w="1905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1E1E"/>
                </a:solidFill>
                <a:latin typeface="Times New Roman"/>
              </a:defRPr>
            </a:pPr>
            <a:r>
              <a:t>SIH-Aegis</a:t>
            </a:r>
          </a:p>
        </p:txBody>
      </p:sp>
      <p:pic>
        <p:nvPicPr>
          <p:cNvPr id="3" name="Picture 2" descr="image.png"/>
          <p:cNvPicPr>
            <a:picLocks noChangeAspect="1"/>
          </p:cNvPicPr>
          <p:nvPr/>
        </p:nvPicPr>
        <p:blipFill>
          <a:blip r:embed="rId2"/>
          <a:stretch>
            <a:fillRect/>
          </a:stretch>
        </p:blipFill>
        <p:spPr>
          <a:xfrm>
            <a:off x="9780086" y="1500"/>
            <a:ext cx="2249850" cy="1062337"/>
          </a:xfrm>
          <a:prstGeom prst="rect">
            <a:avLst/>
          </a:prstGeom>
        </p:spPr>
      </p:pic>
      <p:sp>
        <p:nvSpPr>
          <p:cNvPr id="4" name="Rectangle 3"/>
          <p:cNvSpPr/>
          <p:nvPr/>
        </p:nvSpPr>
        <p:spPr>
          <a:xfrm>
            <a:off x="0" y="6354762"/>
            <a:ext cx="12192000" cy="50323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0" y="6380000"/>
            <a:ext cx="5000000" cy="400000"/>
          </a:xfrm>
          <a:prstGeom prst="rect">
            <a:avLst/>
          </a:prstGeom>
          <a:noFill/>
        </p:spPr>
        <p:txBody>
          <a:bodyPr wrap="none" anchor="ctr">
            <a:spAutoFit/>
          </a:bodyPr>
          <a:lstStyle/>
          <a:p>
            <a:pPr algn="ctr">
              <a:defRPr sz="1200">
                <a:solidFill>
                  <a:srgbClr val="FFFFFF"/>
                </a:solidFill>
                <a:latin typeface="Arial"/>
              </a:defRPr>
            </a:pPr>
            <a:r>
              <a:t>@SIH Idea submission- Template</a:t>
            </a:r>
          </a:p>
        </p:txBody>
      </p:sp>
      <p:sp>
        <p:nvSpPr>
          <p:cNvPr id="6" name="TextBox 5"/>
          <p:cNvSpPr txBox="1"/>
          <p:nvPr/>
        </p:nvSpPr>
        <p:spPr>
          <a:xfrm>
            <a:off x="10800000" y="6380000"/>
            <a:ext cx="1100000" cy="400000"/>
          </a:xfrm>
          <a:prstGeom prst="rect">
            <a:avLst/>
          </a:prstGeom>
          <a:noFill/>
        </p:spPr>
        <p:txBody>
          <a:bodyPr wrap="none" anchor="ctr">
            <a:spAutoFit/>
          </a:bodyPr>
          <a:lstStyle/>
          <a:p>
            <a:pPr algn="r">
              <a:defRPr sz="1200" b="1">
                <a:solidFill>
                  <a:srgbClr val="FFFFFF"/>
                </a:solidFill>
                <a:latin typeface="Arial"/>
              </a:defRPr>
            </a:pPr>
            <a:r>
              <a:t>6</a:t>
            </a:r>
          </a:p>
        </p:txBody>
      </p:sp>
      <p:sp>
        <p:nvSpPr>
          <p:cNvPr id="7" name="TextBox 6"/>
          <p:cNvSpPr txBox="1"/>
          <p:nvPr/>
        </p:nvSpPr>
        <p:spPr>
          <a:xfrm>
            <a:off x="1650000" y="90000"/>
            <a:ext cx="8000000" cy="560000"/>
          </a:xfrm>
          <a:prstGeom prst="rect">
            <a:avLst/>
          </a:prstGeom>
          <a:noFill/>
        </p:spPr>
        <p:txBody>
          <a:bodyPr wrap="square" anchor="ctr">
            <a:spAutoFit/>
          </a:bodyPr>
          <a:lstStyle/>
          <a:p>
            <a:pPr algn="ctr">
              <a:defRPr sz="2600" b="1">
                <a:solidFill>
                  <a:srgbClr val="141414"/>
                </a:solidFill>
                <a:latin typeface="Times New Roman"/>
              </a:defRPr>
            </a:pPr>
            <a:r>
              <a:t>TECHNICAL APPROACH</a:t>
            </a:r>
          </a:p>
        </p:txBody>
      </p:sp>
      <p:sp>
        <p:nvSpPr>
          <p:cNvPr id="8" name="TextBox 7"/>
          <p:cNvSpPr txBox="1"/>
          <p:nvPr/>
        </p:nvSpPr>
        <p:spPr>
          <a:xfrm>
            <a:off x="1650000" y="660000"/>
            <a:ext cx="8000000" cy="420000"/>
          </a:xfrm>
          <a:prstGeom prst="rect">
            <a:avLst/>
          </a:prstGeom>
          <a:noFill/>
        </p:spPr>
        <p:txBody>
          <a:bodyPr wrap="square" anchor="ctr">
            <a:spAutoFit/>
          </a:bodyPr>
          <a:lstStyle/>
          <a:p>
            <a:pPr algn="ctr">
              <a:defRPr sz="1300" b="1">
                <a:solidFill>
                  <a:srgbClr val="0070C0"/>
                </a:solidFill>
                <a:latin typeface="Arial"/>
              </a:defRPr>
            </a:pPr>
            <a:r>
              <a:t>Data Strategy &amp; Ethical Speech Collection for the Indian Context</a:t>
            </a:r>
          </a:p>
        </p:txBody>
      </p:sp>
      <p:sp>
        <p:nvSpPr>
          <p:cNvPr id="9" name="TextBox 8"/>
          <p:cNvSpPr txBox="1"/>
          <p:nvPr/>
        </p:nvSpPr>
        <p:spPr>
          <a:xfrm>
            <a:off x="450000" y="1120000"/>
            <a:ext cx="11300000" cy="480000"/>
          </a:xfrm>
          <a:prstGeom prst="rect">
            <a:avLst/>
          </a:prstGeom>
          <a:noFill/>
        </p:spPr>
        <p:txBody>
          <a:bodyPr wrap="none">
            <a:spAutoFit/>
          </a:bodyPr>
          <a:lstStyle/>
          <a:p>
            <a:pPr>
              <a:defRPr sz="1300" b="1">
                <a:solidFill>
                  <a:srgbClr val="0B2545"/>
                </a:solidFill>
              </a:defRPr>
            </a:pPr>
            <a:r>
              <a:t>DATA STRATEGY — Overcoming Linguistic Bias &amp; Ethical Guided Audio Acquisition</a:t>
            </a:r>
          </a:p>
          <a:p>
            <a:pPr>
              <a:defRPr sz="1000">
                <a:solidFill>
                  <a:srgbClr val="5A646E"/>
                </a:solidFill>
              </a:defRPr>
            </a:pPr>
            <a:r>
              <a:t>Engineering robustness across India's linguistic diversity, consumer phone microphones, and cellular codecs.</a:t>
            </a:r>
          </a:p>
        </p:txBody>
      </p:sp>
      <p:sp>
        <p:nvSpPr>
          <p:cNvPr id="10" name="Rounded Rectangle 9"/>
          <p:cNvSpPr/>
          <p:nvPr/>
        </p:nvSpPr>
        <p:spPr>
          <a:xfrm>
            <a:off x="45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Indian Speakers</a:t>
            </a:r>
          </a:p>
          <a:p>
            <a:pPr algn="ctr">
              <a:defRPr sz="850">
                <a:solidFill>
                  <a:srgbClr val="5A646E"/>
                </a:solidFill>
                <a:latin typeface="Arial"/>
              </a:defRPr>
            </a:pPr>
            <a:r>
              <a:t>Multilingual diversity</a:t>
            </a:r>
          </a:p>
        </p:txBody>
      </p:sp>
      <p:sp>
        <p:nvSpPr>
          <p:cNvPr id="11" name="Right Arrow 10"/>
          <p:cNvSpPr/>
          <p:nvPr/>
        </p:nvSpPr>
        <p:spPr>
          <a:xfrm>
            <a:off x="209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7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Guided Prompts</a:t>
            </a:r>
          </a:p>
          <a:p>
            <a:pPr algn="ctr">
              <a:defRPr sz="850">
                <a:solidFill>
                  <a:srgbClr val="5A646E"/>
                </a:solidFill>
                <a:latin typeface="Arial"/>
              </a:defRPr>
            </a:pPr>
            <a:r>
              <a:t>5-10s phonetic prompts</a:t>
            </a:r>
          </a:p>
        </p:txBody>
      </p:sp>
      <p:sp>
        <p:nvSpPr>
          <p:cNvPr id="13" name="Right Arrow 12"/>
          <p:cNvSpPr/>
          <p:nvPr/>
        </p:nvSpPr>
        <p:spPr>
          <a:xfrm>
            <a:off x="401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Consent Protocol</a:t>
            </a:r>
          </a:p>
          <a:p>
            <a:pPr algn="ctr">
              <a:defRPr sz="850">
                <a:solidFill>
                  <a:srgbClr val="5A646E"/>
                </a:solidFill>
                <a:latin typeface="Arial"/>
              </a:defRPr>
            </a:pPr>
            <a:r>
              <a:t>Explicit digital opt-in</a:t>
            </a:r>
          </a:p>
        </p:txBody>
      </p:sp>
      <p:sp>
        <p:nvSpPr>
          <p:cNvPr id="15" name="Right Arrow 14"/>
          <p:cNvSpPr/>
          <p:nvPr/>
        </p:nvSpPr>
        <p:spPr>
          <a:xfrm>
            <a:off x="593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000" y="1680000"/>
            <a:ext cx="1600000" cy="950000"/>
          </a:xfrm>
          <a:prstGeom prst="round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Codec Augment</a:t>
            </a:r>
          </a:p>
          <a:p>
            <a:pPr algn="ctr">
              <a:defRPr sz="850">
                <a:solidFill>
                  <a:srgbClr val="FFFFFF"/>
                </a:solidFill>
                <a:latin typeface="Arial"/>
              </a:defRPr>
            </a:pPr>
            <a:r>
              <a:t>AMR-NB · G.711 · Opus</a:t>
            </a:r>
          </a:p>
        </p:txBody>
      </p:sp>
      <p:sp>
        <p:nvSpPr>
          <p:cNvPr id="17" name="Right Arrow 16"/>
          <p:cNvSpPr/>
          <p:nvPr/>
        </p:nvSpPr>
        <p:spPr>
          <a:xfrm>
            <a:off x="785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0000" y="1680000"/>
            <a:ext cx="1600000" cy="950000"/>
          </a:xfrm>
          <a:prstGeom prst="roundRect">
            <a:avLst/>
          </a:prstGeom>
          <a:solidFill>
            <a:srgbClr val="EEF5FD"/>
          </a:solidFill>
          <a:ln w="12700">
            <a:solidFill>
              <a:srgbClr val="B4D2F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0B2545"/>
                </a:solidFill>
                <a:latin typeface="Arial"/>
              </a:defRPr>
            </a:pPr>
            <a:r>
              <a:t>Noise Injection</a:t>
            </a:r>
          </a:p>
          <a:p>
            <a:pPr algn="ctr">
              <a:defRPr sz="850">
                <a:solidFill>
                  <a:srgbClr val="5A646E"/>
                </a:solidFill>
                <a:latin typeface="Arial"/>
              </a:defRPr>
            </a:pPr>
            <a:r>
              <a:t>Reverb · traffic · hum</a:t>
            </a:r>
          </a:p>
        </p:txBody>
      </p:sp>
      <p:sp>
        <p:nvSpPr>
          <p:cNvPr id="19" name="Right Arrow 18"/>
          <p:cNvSpPr/>
          <p:nvPr/>
        </p:nvSpPr>
        <p:spPr>
          <a:xfrm>
            <a:off x="9775000" y="2060000"/>
            <a:ext cx="230000" cy="18000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50000" y="1680000"/>
            <a:ext cx="1600000" cy="950000"/>
          </a:xfrm>
          <a:prstGeom prst="roundRect">
            <a:avLst/>
          </a:prstGeom>
          <a:solidFill>
            <a:srgbClr val="0B2545"/>
          </a:solidFill>
          <a:ln w="1270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latin typeface="Arial"/>
              </a:defRPr>
            </a:pPr>
            <a:r>
              <a:t>Paired Synthesis</a:t>
            </a:r>
          </a:p>
          <a:p>
            <a:pPr algn="ctr">
              <a:defRPr sz="850">
                <a:solidFill>
                  <a:srgbClr val="FFFFFF"/>
                </a:solidFill>
                <a:latin typeface="Arial"/>
              </a:defRPr>
            </a:pPr>
            <a:r>
              <a:t>Cloned via VITS/XTTS</a:t>
            </a:r>
          </a:p>
        </p:txBody>
      </p:sp>
      <p:sp>
        <p:nvSpPr>
          <p:cNvPr id="21" name="Rounded Rectangle 20"/>
          <p:cNvSpPr/>
          <p:nvPr/>
        </p:nvSpPr>
        <p:spPr>
          <a:xfrm>
            <a:off x="4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Designing for the Indian Speech Context</a:t>
            </a:r>
          </a:p>
          <a:p>
            <a:pPr>
              <a:spcAft>
                <a:spcPts val="400"/>
              </a:spcAft>
              <a:defRPr sz="950">
                <a:solidFill>
                  <a:srgbClr val="14181E"/>
                </a:solidFill>
                <a:latin typeface="Arial"/>
              </a:defRPr>
            </a:pPr>
            <a:r>
              <a:t>• Linguistic Diversity Gap: Academic corpora (ASVspoof) lack Indian English, regional languages, and code-switching.</a:t>
            </a:r>
          </a:p>
          <a:p>
            <a:pPr>
              <a:spcAft>
                <a:spcPts val="400"/>
              </a:spcAft>
              <a:defRPr sz="950">
                <a:solidFill>
                  <a:srgbClr val="14181E"/>
                </a:solidFill>
                <a:latin typeface="Arial"/>
              </a:defRPr>
            </a:pPr>
            <a:r>
              <a:t>• Target Demographics: Training data strategy prioritizes Indian speakers across accents and phonetic structures.</a:t>
            </a:r>
          </a:p>
          <a:p>
            <a:pPr>
              <a:spcAft>
                <a:spcPts val="400"/>
              </a:spcAft>
              <a:defRPr sz="950">
                <a:solidFill>
                  <a:srgbClr val="14181E"/>
                </a:solidFill>
                <a:latin typeface="Arial"/>
              </a:defRPr>
            </a:pPr>
            <a:r>
              <a:t>• Hardware Variance: Capturing audio across budget and premium smartphone microphones to prevent hardware bias.</a:t>
            </a:r>
          </a:p>
          <a:p>
            <a:pPr>
              <a:spcAft>
                <a:spcPts val="400"/>
              </a:spcAft>
              <a:defRPr sz="950">
                <a:solidFill>
                  <a:srgbClr val="14181E"/>
                </a:solidFill>
                <a:latin typeface="Arial"/>
              </a:defRPr>
            </a:pPr>
            <a:r>
              <a:t>• Generalization Focus: System learns fundamental vocal tract properties rather than memorizing clean studio English.</a:t>
            </a:r>
          </a:p>
        </p:txBody>
      </p:sp>
      <p:sp>
        <p:nvSpPr>
          <p:cNvPr id="22" name="Rounded Rectangle 21"/>
          <p:cNvSpPr/>
          <p:nvPr/>
        </p:nvSpPr>
        <p:spPr>
          <a:xfrm>
            <a:off x="430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Environmental &amp; Codec Augmentation</a:t>
            </a:r>
          </a:p>
          <a:p>
            <a:pPr>
              <a:spcAft>
                <a:spcPts val="400"/>
              </a:spcAft>
              <a:defRPr sz="950">
                <a:solidFill>
                  <a:srgbClr val="14181E"/>
                </a:solidFill>
                <a:latin typeface="Arial"/>
              </a:defRPr>
            </a:pPr>
            <a:r>
              <a:t>• Acoustic Noise Augmentation: Injecting simulated background noise (traffic, indoor fan hum, room reverberation).</a:t>
            </a:r>
          </a:p>
          <a:p>
            <a:pPr>
              <a:spcAft>
                <a:spcPts val="400"/>
              </a:spcAft>
              <a:defRPr sz="950">
                <a:solidFill>
                  <a:srgbClr val="14181E"/>
                </a:solidFill>
                <a:latin typeface="Arial"/>
              </a:defRPr>
            </a:pPr>
            <a:r>
              <a:t>• Telephony Codec Simulation: Passing audio through lossy cellular codecs (AMR-NB, G.711, Opus) during training.</a:t>
            </a:r>
          </a:p>
          <a:p>
            <a:pPr>
              <a:spcAft>
                <a:spcPts val="400"/>
              </a:spcAft>
              <a:defRPr sz="950">
                <a:solidFill>
                  <a:srgbClr val="14181E"/>
                </a:solidFill>
                <a:latin typeface="Arial"/>
              </a:defRPr>
            </a:pPr>
            <a:r>
              <a:t>• Channel Invariance: Forces the CNN to focus on vocoder phase inconsistencies rather than high-frequency fidelity.</a:t>
            </a:r>
          </a:p>
          <a:p>
            <a:pPr>
              <a:spcAft>
                <a:spcPts val="400"/>
              </a:spcAft>
              <a:defRPr sz="950">
                <a:solidFill>
                  <a:srgbClr val="14181E"/>
                </a:solidFill>
                <a:latin typeface="Arial"/>
              </a:defRPr>
            </a:pPr>
            <a:r>
              <a:t>• Real-World Resilience: Prepares model for distribution shift before deployment in active telecom networks.</a:t>
            </a:r>
          </a:p>
        </p:txBody>
      </p:sp>
      <p:sp>
        <p:nvSpPr>
          <p:cNvPr id="23" name="Rounded Rectangle 22"/>
          <p:cNvSpPr/>
          <p:nvPr/>
        </p:nvSpPr>
        <p:spPr>
          <a:xfrm>
            <a:off x="8150000" y="3050000"/>
            <a:ext cx="3600000" cy="3200000"/>
          </a:xfrm>
          <a:prstGeom prst="roundRect">
            <a:avLst/>
          </a:prstGeom>
          <a:solidFill>
            <a:srgbClr val="F8FAFC"/>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27000"/>
          <a:lstStyle/>
          <a:p>
            <a:pPr algn="ctr">
              <a:spcAft>
                <a:spcPts val="600"/>
              </a:spcAft>
              <a:defRPr sz="1150" b="1">
                <a:solidFill>
                  <a:srgbClr val="0B2545"/>
                </a:solidFill>
                <a:latin typeface="Arial"/>
              </a:defRPr>
            </a:pPr>
            <a:r>
              <a:t>Ethical Collection &amp; Paired Synthesis</a:t>
            </a:r>
          </a:p>
          <a:p>
            <a:pPr>
              <a:spcAft>
                <a:spcPts val="400"/>
              </a:spcAft>
              <a:defRPr sz="950">
                <a:solidFill>
                  <a:srgbClr val="14181E"/>
                </a:solidFill>
                <a:latin typeface="Arial"/>
              </a:defRPr>
            </a:pPr>
            <a:r>
              <a:t>• Consent-First Protocol: Planned Android guided recording mode collects consent-based, anonymized Indian speech.</a:t>
            </a:r>
          </a:p>
          <a:p>
            <a:pPr>
              <a:spcAft>
                <a:spcPts val="400"/>
              </a:spcAft>
              <a:defRPr sz="950">
                <a:solidFill>
                  <a:srgbClr val="14181E"/>
                </a:solidFill>
                <a:latin typeface="Arial"/>
              </a:defRPr>
            </a:pPr>
            <a:r>
              <a:t>• Balanced Paired Cloning: Genuine recordings are cloned using multiple open-source vocoders (VITS, XTTS, Bark).</a:t>
            </a:r>
          </a:p>
          <a:p>
            <a:pPr>
              <a:spcAft>
                <a:spcPts val="400"/>
              </a:spcAft>
              <a:defRPr sz="950">
                <a:solidFill>
                  <a:srgbClr val="14181E"/>
                </a:solidFill>
                <a:latin typeface="Arial"/>
              </a:defRPr>
            </a:pPr>
            <a:r>
              <a:t>• Identical Semantic Content: Genuine and spoof pairs share identical words, isolating synthesis artifacts.</a:t>
            </a:r>
          </a:p>
          <a:p>
            <a:pPr>
              <a:spcAft>
                <a:spcPts val="400"/>
              </a:spcAft>
              <a:defRPr sz="950">
                <a:solidFill>
                  <a:srgbClr val="14181E"/>
                </a:solidFill>
                <a:latin typeface="Arial"/>
              </a:defRPr>
            </a:pPr>
            <a:r>
              <a:t>• Multi-Vocoder Defense: Prevents model from overfitting to a single commercial cloning algorithm.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773" y="252246"/>
            <a:ext cx="1251857" cy="807334"/>
          </a:xfrm>
          <a:prstGeom prst="ellipse">
            <a:avLst/>
          </a:prstGeom>
          <a:noFill/>
          <a:ln w="1905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1E1E"/>
                </a:solidFill>
                <a:latin typeface="Times New Roman"/>
              </a:defRPr>
            </a:pPr>
            <a:r>
              <a:t>SIH-Aegis</a:t>
            </a:r>
          </a:p>
        </p:txBody>
      </p:sp>
      <p:pic>
        <p:nvPicPr>
          <p:cNvPr id="3" name="Picture 2" descr="image.png"/>
          <p:cNvPicPr>
            <a:picLocks noChangeAspect="1"/>
          </p:cNvPicPr>
          <p:nvPr/>
        </p:nvPicPr>
        <p:blipFill>
          <a:blip r:embed="rId2"/>
          <a:stretch>
            <a:fillRect/>
          </a:stretch>
        </p:blipFill>
        <p:spPr>
          <a:xfrm>
            <a:off x="9780086" y="1500"/>
            <a:ext cx="2249850" cy="1062337"/>
          </a:xfrm>
          <a:prstGeom prst="rect">
            <a:avLst/>
          </a:prstGeom>
        </p:spPr>
      </p:pic>
      <p:sp>
        <p:nvSpPr>
          <p:cNvPr id="4" name="Rectangle 3"/>
          <p:cNvSpPr/>
          <p:nvPr/>
        </p:nvSpPr>
        <p:spPr>
          <a:xfrm>
            <a:off x="0" y="6354762"/>
            <a:ext cx="12192000" cy="50323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0" y="6380000"/>
            <a:ext cx="5000000" cy="400000"/>
          </a:xfrm>
          <a:prstGeom prst="rect">
            <a:avLst/>
          </a:prstGeom>
          <a:noFill/>
        </p:spPr>
        <p:txBody>
          <a:bodyPr wrap="none" anchor="ctr">
            <a:spAutoFit/>
          </a:bodyPr>
          <a:lstStyle/>
          <a:p>
            <a:pPr algn="ctr">
              <a:defRPr sz="1200">
                <a:solidFill>
                  <a:srgbClr val="FFFFFF"/>
                </a:solidFill>
                <a:latin typeface="Arial"/>
              </a:defRPr>
            </a:pPr>
            <a:r>
              <a:t>@SIH Idea submission- Template</a:t>
            </a:r>
          </a:p>
        </p:txBody>
      </p:sp>
      <p:sp>
        <p:nvSpPr>
          <p:cNvPr id="6" name="TextBox 5"/>
          <p:cNvSpPr txBox="1"/>
          <p:nvPr/>
        </p:nvSpPr>
        <p:spPr>
          <a:xfrm>
            <a:off x="10800000" y="6380000"/>
            <a:ext cx="1100000" cy="400000"/>
          </a:xfrm>
          <a:prstGeom prst="rect">
            <a:avLst/>
          </a:prstGeom>
          <a:noFill/>
        </p:spPr>
        <p:txBody>
          <a:bodyPr wrap="none" anchor="ctr">
            <a:spAutoFit/>
          </a:bodyPr>
          <a:lstStyle/>
          <a:p>
            <a:pPr algn="r">
              <a:defRPr sz="1200" b="1">
                <a:solidFill>
                  <a:srgbClr val="FFFFFF"/>
                </a:solidFill>
                <a:latin typeface="Arial"/>
              </a:defRPr>
            </a:pPr>
            <a:r>
              <a:t>7</a:t>
            </a:r>
          </a:p>
        </p:txBody>
      </p:sp>
      <p:sp>
        <p:nvSpPr>
          <p:cNvPr id="7" name="TextBox 6"/>
          <p:cNvSpPr txBox="1"/>
          <p:nvPr/>
        </p:nvSpPr>
        <p:spPr>
          <a:xfrm>
            <a:off x="1650000" y="90000"/>
            <a:ext cx="8000000" cy="560000"/>
          </a:xfrm>
          <a:prstGeom prst="rect">
            <a:avLst/>
          </a:prstGeom>
          <a:noFill/>
        </p:spPr>
        <p:txBody>
          <a:bodyPr wrap="square" anchor="ctr">
            <a:spAutoFit/>
          </a:bodyPr>
          <a:lstStyle/>
          <a:p>
            <a:pPr algn="ctr">
              <a:defRPr sz="2600" b="1">
                <a:solidFill>
                  <a:srgbClr val="141414"/>
                </a:solidFill>
                <a:latin typeface="Times New Roman"/>
              </a:defRPr>
            </a:pPr>
            <a:r>
              <a:t>FEASIBILITY AND VIABILITY</a:t>
            </a:r>
          </a:p>
        </p:txBody>
      </p:sp>
      <p:sp>
        <p:nvSpPr>
          <p:cNvPr id="8" name="TextBox 7"/>
          <p:cNvSpPr txBox="1"/>
          <p:nvPr/>
        </p:nvSpPr>
        <p:spPr>
          <a:xfrm>
            <a:off x="1650000" y="660000"/>
            <a:ext cx="8000000" cy="420000"/>
          </a:xfrm>
          <a:prstGeom prst="rect">
            <a:avLst/>
          </a:prstGeom>
          <a:noFill/>
        </p:spPr>
        <p:txBody>
          <a:bodyPr wrap="square" anchor="ctr">
            <a:spAutoFit/>
          </a:bodyPr>
          <a:lstStyle/>
          <a:p>
            <a:pPr algn="ctr">
              <a:defRPr sz="1300" b="1">
                <a:solidFill>
                  <a:srgbClr val="0070C0"/>
                </a:solidFill>
                <a:latin typeface="Arial"/>
              </a:defRPr>
            </a:pPr>
            <a:r>
              <a:t>What already runs, what can go wrong, and how it delivers measurable impact</a:t>
            </a:r>
          </a:p>
        </p:txBody>
      </p:sp>
      <p:sp>
        <p:nvSpPr>
          <p:cNvPr id="9" name="Rounded Rectangle 8"/>
          <p:cNvSpPr/>
          <p:nvPr/>
        </p:nvSpPr>
        <p:spPr>
          <a:xfrm>
            <a:off x="450000" y="1150000"/>
            <a:ext cx="3600000" cy="4300000"/>
          </a:xfrm>
          <a:prstGeom prst="roundRect">
            <a:avLst/>
          </a:prstGeom>
          <a:solidFill>
            <a:srgbClr val="F8FAFC"/>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127000" tIns="127000"/>
          <a:lstStyle/>
          <a:p>
            <a:pPr algn="ctr">
              <a:spcAft>
                <a:spcPts val="300"/>
              </a:spcAft>
              <a:defRPr sz="1150" b="1">
                <a:solidFill>
                  <a:srgbClr val="0B2545"/>
                </a:solidFill>
                <a:latin typeface="Arial"/>
              </a:defRPr>
            </a:pPr>
            <a:r>
              <a:t>Feasibility — built and verified</a:t>
            </a:r>
          </a:p>
          <a:p>
            <a:pPr>
              <a:spcAft>
                <a:spcPts val="100"/>
              </a:spcAft>
              <a:defRPr sz="819" b="1">
                <a:solidFill>
                  <a:srgbClr val="27AE60"/>
                </a:solidFill>
                <a:latin typeface="Arial"/>
              </a:defRPr>
            </a:pPr>
            <a:r>
              <a:t>COMPLETED</a:t>
            </a:r>
          </a:p>
          <a:p>
            <a:pPr>
              <a:spcAft>
                <a:spcPts val="100"/>
              </a:spcAft>
              <a:defRPr sz="760">
                <a:solidFill>
                  <a:srgbClr val="14181E"/>
                </a:solidFill>
                <a:latin typeface="Arial"/>
              </a:defRPr>
            </a:pPr>
            <a:r>
              <a:t>• Modular GitHub repository with test scaffold</a:t>
            </a:r>
          </a:p>
          <a:p>
            <a:pPr>
              <a:spcAft>
                <a:spcPts val="100"/>
              </a:spcAft>
              <a:defRPr sz="760">
                <a:solidFill>
                  <a:srgbClr val="14181E"/>
                </a:solidFill>
                <a:latin typeface="Arial"/>
              </a:defRPr>
            </a:pPr>
            <a:r>
              <a:t>• AASIST pretrained baseline loads and runs</a:t>
            </a:r>
          </a:p>
          <a:p>
            <a:pPr>
              <a:spcAft>
                <a:spcPts val="100"/>
              </a:spcAft>
              <a:defRPr sz="760">
                <a:solidFill>
                  <a:srgbClr val="14181E"/>
                </a:solidFill>
                <a:latin typeface="Arial"/>
              </a:defRPr>
            </a:pPr>
            <a:r>
              <a:t>• Shared AudioLoader + preprocessing (16 kHz mono)</a:t>
            </a:r>
          </a:p>
          <a:p>
            <a:pPr>
              <a:spcAft>
                <a:spcPts val="100"/>
              </a:spcAft>
              <a:defRPr sz="760">
                <a:solidFill>
                  <a:srgbClr val="14181E"/>
                </a:solidFill>
                <a:latin typeface="Arial"/>
              </a:defRPr>
            </a:pPr>
            <a:r>
              <a:t>• DetectorPipeline and result layer in Streamlit UI</a:t>
            </a:r>
          </a:p>
          <a:p>
            <a:pPr>
              <a:spcAft>
                <a:spcPts val="100"/>
              </a:spcAft>
              <a:defRPr sz="760">
                <a:solidFill>
                  <a:srgbClr val="14181E"/>
                </a:solidFill>
                <a:latin typeface="Arial"/>
              </a:defRPr>
            </a:pPr>
            <a:r>
              <a:t>• Log-Mel extractor → 128 × 128 representation</a:t>
            </a:r>
          </a:p>
          <a:p>
            <a:pPr>
              <a:spcAft>
                <a:spcPts val="100"/>
              </a:spcAft>
              <a:defRPr sz="760">
                <a:solidFill>
                  <a:srgbClr val="14181E"/>
                </a:solidFill>
                <a:latin typeface="Arial"/>
              </a:defRPr>
            </a:pPr>
            <a:r>
              <a:t>• Lightweight CNN architecture (≈ 97.9K params)</a:t>
            </a:r>
          </a:p>
          <a:p>
            <a:pPr>
              <a:spcAft>
                <a:spcPts val="100"/>
              </a:spcAft>
              <a:defRPr sz="760">
                <a:solidFill>
                  <a:srgbClr val="14181E"/>
                </a:solidFill>
                <a:latin typeface="Arial"/>
              </a:defRPr>
            </a:pPr>
            <a:r>
              <a:t>• CUDA verified · CNN GPU forward pass PASS</a:t>
            </a:r>
          </a:p>
          <a:p>
            <a:pPr>
              <a:spcAft>
                <a:spcPts val="100"/>
              </a:spcAft>
              <a:defRPr sz="760">
                <a:solidFill>
                  <a:srgbClr val="14181E"/>
                </a:solidFill>
                <a:latin typeface="Arial"/>
              </a:defRPr>
            </a:pPr>
            <a:r>
              <a:t>• ONNX export validated (max error: 3.8e-06)</a:t>
            </a:r>
          </a:p>
          <a:p>
            <a:pPr>
              <a:spcAft>
                <a:spcPts val="100"/>
              </a:spcAft>
              <a:defRPr sz="760">
                <a:solidFill>
                  <a:srgbClr val="14181E"/>
                </a:solidFill>
                <a:latin typeface="Arial"/>
              </a:defRPr>
            </a:pPr>
            <a:r>
              <a:t>• Android Compose UI + ONNX Runtime initialized</a:t>
            </a:r>
          </a:p>
          <a:p>
            <a:pPr>
              <a:spcAft>
                <a:spcPts val="100"/>
              </a:spcAft>
              <a:defRPr sz="819" b="1">
                <a:solidFill>
                  <a:srgbClr val="E67E22"/>
                </a:solidFill>
                <a:latin typeface="Arial"/>
              </a:defRPr>
            </a:pPr>
            <a:r>
              <a:t>IN PROGRESS</a:t>
            </a:r>
          </a:p>
          <a:p>
            <a:pPr>
              <a:spcAft>
                <a:spcPts val="100"/>
              </a:spcAft>
              <a:defRPr sz="760">
                <a:solidFill>
                  <a:srgbClr val="14181E"/>
                </a:solidFill>
                <a:latin typeface="Arial"/>
              </a:defRPr>
            </a:pPr>
            <a:r>
              <a:t>• Training dataset selection &amp; Indian speech curation</a:t>
            </a:r>
          </a:p>
          <a:p>
            <a:pPr>
              <a:spcAft>
                <a:spcPts val="100"/>
              </a:spcAft>
              <a:defRPr sz="760">
                <a:solidFill>
                  <a:srgbClr val="14181E"/>
                </a:solidFill>
                <a:latin typeface="Arial"/>
              </a:defRPr>
            </a:pPr>
            <a:r>
              <a:t>• CNN training pipeline &amp; baseline evaluation</a:t>
            </a:r>
          </a:p>
          <a:p>
            <a:pPr>
              <a:spcAft>
                <a:spcPts val="100"/>
              </a:spcAft>
              <a:defRPr sz="760">
                <a:solidFill>
                  <a:srgbClr val="14181E"/>
                </a:solidFill>
                <a:latin typeface="Arial"/>
              </a:defRPr>
            </a:pPr>
            <a:r>
              <a:t>• Android audio upload inference integration</a:t>
            </a:r>
          </a:p>
          <a:p>
            <a:pPr>
              <a:spcAft>
                <a:spcPts val="100"/>
              </a:spcAft>
              <a:defRPr sz="819" b="1">
                <a:solidFill>
                  <a:srgbClr val="5A646E"/>
                </a:solidFill>
                <a:latin typeface="Arial"/>
              </a:defRPr>
            </a:pPr>
            <a:r>
              <a:t>NOT YET STARTED</a:t>
            </a:r>
          </a:p>
          <a:p>
            <a:pPr>
              <a:spcAft>
                <a:spcPts val="100"/>
              </a:spcAft>
              <a:defRPr sz="760">
                <a:solidFill>
                  <a:srgbClr val="14181E"/>
                </a:solidFill>
                <a:latin typeface="Arial"/>
              </a:defRPr>
            </a:pPr>
            <a:r>
              <a:t>• Trained CNN checkpoint · real-time cellular call analysis</a:t>
            </a:r>
          </a:p>
          <a:p>
            <a:pPr>
              <a:spcAft>
                <a:spcPts val="100"/>
              </a:spcAft>
              <a:defRPr sz="819" b="1">
                <a:solidFill>
                  <a:srgbClr val="0070C0"/>
                </a:solidFill>
                <a:latin typeface="Arial"/>
              </a:defRPr>
            </a:pPr>
            <a:r>
              <a:t>VERIFIED ENVIRONMENT</a:t>
            </a:r>
          </a:p>
          <a:p>
            <a:pPr>
              <a:spcAft>
                <a:spcPts val="100"/>
              </a:spcAft>
              <a:defRPr sz="760">
                <a:solidFill>
                  <a:srgbClr val="14181E"/>
                </a:solidFill>
                <a:latin typeface="Arial"/>
              </a:defRPr>
            </a:pPr>
            <a:r>
              <a:t>• PyTorch + CUDA on an NVIDIA RTX 4050 GPU (6 GB). Deterministic evaluation verified.</a:t>
            </a:r>
          </a:p>
        </p:txBody>
      </p:sp>
      <p:sp>
        <p:nvSpPr>
          <p:cNvPr id="10" name="Rounded Rectangle 9"/>
          <p:cNvSpPr/>
          <p:nvPr/>
        </p:nvSpPr>
        <p:spPr>
          <a:xfrm>
            <a:off x="4300000" y="1150000"/>
            <a:ext cx="3600000" cy="4300000"/>
          </a:xfrm>
          <a:prstGeom prst="roundRect">
            <a:avLst/>
          </a:prstGeom>
          <a:solidFill>
            <a:srgbClr val="F8FAFC"/>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127000" tIns="127000"/>
          <a:lstStyle/>
          <a:p>
            <a:pPr algn="ctr">
              <a:spcAft>
                <a:spcPts val="300"/>
              </a:spcAft>
              <a:defRPr sz="1150" b="1">
                <a:solidFill>
                  <a:srgbClr val="0B2545"/>
                </a:solidFill>
                <a:latin typeface="Arial"/>
              </a:defRPr>
            </a:pPr>
            <a:r>
              <a:t>Challenges &amp; Mitigation Strategies</a:t>
            </a:r>
          </a:p>
          <a:p>
            <a:pPr>
              <a:spcAft>
                <a:spcPts val="200"/>
              </a:spcAft>
            </a:pPr>
            <a:r>
              <a:rPr sz="819" b="1">
                <a:solidFill>
                  <a:srgbClr val="0070C0"/>
                </a:solidFill>
                <a:latin typeface="Arial"/>
              </a:rPr>
              <a:t>[1] Domain / dataset mismatch
</a:t>
            </a:r>
            <a:r>
              <a:rPr sz="760">
                <a:solidFill>
                  <a:srgbClr val="14181E"/>
                </a:solidFill>
                <a:latin typeface="Arial"/>
              </a:rPr>
              <a:t>Risk: Cross-device / language mis-scoring.
→ Strategy: Train on representative Indian English &amp; regional audio.</a:t>
            </a:r>
          </a:p>
          <a:p>
            <a:pPr>
              <a:spcAft>
                <a:spcPts val="200"/>
              </a:spcAft>
            </a:pPr>
            <a:r>
              <a:rPr sz="819" b="1">
                <a:solidFill>
                  <a:srgbClr val="0070C0"/>
                </a:solidFill>
                <a:latin typeface="Arial"/>
              </a:rPr>
              <a:t>[2] Baseline false positives
</a:t>
            </a:r>
            <a:r>
              <a:rPr sz="760">
                <a:solidFill>
                  <a:srgbClr val="14181E"/>
                </a:solidFill>
                <a:latin typeface="Arial"/>
              </a:rPr>
              <a:t>Risk: AASIST false alarms on real mics.
→ Strategy: Custom domain-aware CNN trained with acoustic noise invariance.</a:t>
            </a:r>
          </a:p>
          <a:p>
            <a:pPr>
              <a:spcAft>
                <a:spcPts val="200"/>
              </a:spcAft>
            </a:pPr>
            <a:r>
              <a:rPr sz="819" b="1">
                <a:solidFill>
                  <a:srgbClr val="0070C0"/>
                </a:solidFill>
                <a:latin typeface="Arial"/>
              </a:rPr>
              <a:t>[3] Unseen cloning systems
</a:t>
            </a:r>
            <a:r>
              <a:rPr sz="760">
                <a:solidFill>
                  <a:srgbClr val="14181E"/>
                </a:solidFill>
                <a:latin typeface="Arial"/>
              </a:rPr>
              <a:t>Risk: Attackers deploy new commercial TTS.
→ Strategy: Codec, noise, and multi-vocoder variation during training.</a:t>
            </a:r>
          </a:p>
          <a:p>
            <a:pPr>
              <a:spcAft>
                <a:spcPts val="200"/>
              </a:spcAft>
            </a:pPr>
            <a:r>
              <a:rPr sz="819" b="1">
                <a:solidFill>
                  <a:srgbClr val="0070C0"/>
                </a:solidFill>
                <a:latin typeface="Arial"/>
              </a:rPr>
              <a:t>[4] Indian speech coverage
</a:t>
            </a:r>
            <a:r>
              <a:rPr sz="760">
                <a:solidFill>
                  <a:srgbClr val="14181E"/>
                </a:solidFill>
                <a:latin typeface="Arial"/>
              </a:rPr>
              <a:t>Risk: ASVspoof lacks Indian accents.
→ Strategy: Consent-based opt-in mobile collection protocol.</a:t>
            </a:r>
          </a:p>
          <a:p>
            <a:pPr>
              <a:spcAft>
                <a:spcPts val="200"/>
              </a:spcAft>
            </a:pPr>
            <a:r>
              <a:rPr sz="819" b="1">
                <a:solidFill>
                  <a:srgbClr val="0070C0"/>
                </a:solidFill>
                <a:latin typeface="Arial"/>
              </a:rPr>
              <a:t>[5] Real-time latency budget
</a:t>
            </a:r>
            <a:r>
              <a:rPr sz="760">
                <a:solidFill>
                  <a:srgbClr val="14181E"/>
                </a:solidFill>
                <a:latin typeface="Arial"/>
              </a:rPr>
              <a:t>Risk: Audio must be processed within live call delay.
→ Strategy: Ultra-compact ≈97.9K parameter network (&lt;50ms).</a:t>
            </a:r>
          </a:p>
          <a:p>
            <a:pPr>
              <a:spcAft>
                <a:spcPts val="200"/>
              </a:spcAft>
            </a:pPr>
            <a:r>
              <a:rPr sz="819" b="1">
                <a:solidFill>
                  <a:srgbClr val="0070C0"/>
                </a:solidFill>
                <a:latin typeface="Arial"/>
              </a:rPr>
              <a:t>[6] Modular separation
</a:t>
            </a:r>
            <a:r>
              <a:rPr sz="760">
                <a:solidFill>
                  <a:srgbClr val="14181E"/>
                </a:solidFill>
                <a:latin typeface="Arial"/>
              </a:rPr>
              <a:t>Risk: Complex monolithic pipeline failures.
→ Strategy: Isolated unit tests (tests/audio, models, pipeline).</a:t>
            </a:r>
          </a:p>
        </p:txBody>
      </p:sp>
      <p:sp>
        <p:nvSpPr>
          <p:cNvPr id="11" name="Rounded Rectangle 10"/>
          <p:cNvSpPr/>
          <p:nvPr/>
        </p:nvSpPr>
        <p:spPr>
          <a:xfrm>
            <a:off x="8150000" y="1150000"/>
            <a:ext cx="3600000" cy="4300000"/>
          </a:xfrm>
          <a:prstGeom prst="roundRect">
            <a:avLst/>
          </a:prstGeom>
          <a:solidFill>
            <a:srgbClr val="F8FAFC"/>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127000" tIns="127000"/>
          <a:lstStyle/>
          <a:p>
            <a:pPr algn="ctr">
              <a:spcAft>
                <a:spcPts val="300"/>
              </a:spcAft>
              <a:defRPr sz="1150" b="1">
                <a:solidFill>
                  <a:srgbClr val="0B2545"/>
                </a:solidFill>
                <a:latin typeface="Arial"/>
              </a:defRPr>
            </a:pPr>
            <a:r>
              <a:t>Impact, Benefits &amp; Roadmap</a:t>
            </a:r>
          </a:p>
          <a:p>
            <a:pPr>
              <a:spcAft>
                <a:spcPts val="100"/>
              </a:spcAft>
              <a:defRPr sz="819" b="1">
                <a:solidFill>
                  <a:srgbClr val="0B2545"/>
                </a:solidFill>
                <a:latin typeface="Arial"/>
              </a:defRPr>
            </a:pPr>
            <a:r>
              <a:t>TARGET AUDIENCE IMPACT</a:t>
            </a:r>
          </a:p>
          <a:p>
            <a:pPr>
              <a:spcAft>
                <a:spcPts val="120"/>
              </a:spcAft>
              <a:defRPr sz="760">
                <a:solidFill>
                  <a:srgbClr val="14181E"/>
                </a:solidFill>
                <a:latin typeface="Arial"/>
              </a:defRPr>
            </a:pPr>
            <a:r>
              <a:t>• Banking &amp; Fraud: Screens voice-authorized fund moves.</a:t>
            </a:r>
          </a:p>
          <a:p>
            <a:pPr>
              <a:spcAft>
                <a:spcPts val="120"/>
              </a:spcAft>
              <a:defRPr sz="760">
                <a:solidFill>
                  <a:srgbClr val="14181E"/>
                </a:solidFill>
                <a:latin typeface="Arial"/>
              </a:defRPr>
            </a:pPr>
            <a:r>
              <a:t>• Voice Auth / KYC: Liveness &amp; authenticity check for remote identity.</a:t>
            </a:r>
          </a:p>
          <a:p>
            <a:pPr>
              <a:spcAft>
                <a:spcPts val="120"/>
              </a:spcAft>
              <a:defRPr sz="760">
                <a:solidFill>
                  <a:srgbClr val="14181E"/>
                </a:solidFill>
                <a:latin typeface="Arial"/>
              </a:defRPr>
            </a:pPr>
            <a:r>
              <a:t>• Call Centers: Shields agents against vishing &amp; account takeover.</a:t>
            </a:r>
          </a:p>
          <a:p>
            <a:pPr>
              <a:spcAft>
                <a:spcPts val="120"/>
              </a:spcAft>
              <a:defRPr sz="760">
                <a:solidFill>
                  <a:srgbClr val="14181E"/>
                </a:solidFill>
                <a:latin typeface="Arial"/>
              </a:defRPr>
            </a:pPr>
            <a:r>
              <a:t>• Citizen Defense: Shields families from emergency bail/kidnap scams.</a:t>
            </a:r>
          </a:p>
          <a:p>
            <a:pPr>
              <a:spcAft>
                <a:spcPts val="100"/>
              </a:spcAft>
              <a:defRPr sz="819" b="1">
                <a:solidFill>
                  <a:srgbClr val="27AE60"/>
                </a:solidFill>
                <a:latin typeface="Arial"/>
              </a:defRPr>
            </a:pPr>
            <a:r>
              <a:t>SOLUTION BENEFITS</a:t>
            </a:r>
          </a:p>
          <a:p>
            <a:pPr>
              <a:spcAft>
                <a:spcPts val="120"/>
              </a:spcAft>
              <a:defRPr sz="760">
                <a:solidFill>
                  <a:srgbClr val="14181E"/>
                </a:solidFill>
                <a:latin typeface="Arial"/>
              </a:defRPr>
            </a:pPr>
            <a:r>
              <a:t>• [Social] Protects citizens from impersonation extortion.</a:t>
            </a:r>
          </a:p>
          <a:p>
            <a:pPr>
              <a:spcAft>
                <a:spcPts val="120"/>
              </a:spcAft>
              <a:defRPr sz="760">
                <a:solidFill>
                  <a:srgbClr val="14181E"/>
                </a:solidFill>
                <a:latin typeface="Arial"/>
              </a:defRPr>
            </a:pPr>
            <a:r>
              <a:t>• [Economic] Reduces fraud losses &amp; manual review overhead.</a:t>
            </a:r>
          </a:p>
          <a:p>
            <a:pPr>
              <a:spcAft>
                <a:spcPts val="120"/>
              </a:spcAft>
              <a:defRPr sz="760">
                <a:solidFill>
                  <a:srgbClr val="14181E"/>
                </a:solidFill>
                <a:latin typeface="Arial"/>
              </a:defRPr>
            </a:pPr>
            <a:r>
              <a:t>• [Institutional] Auditable authenticity signal for logs.</a:t>
            </a:r>
          </a:p>
          <a:p>
            <a:pPr>
              <a:spcAft>
                <a:spcPts val="120"/>
              </a:spcAft>
              <a:defRPr sz="760">
                <a:solidFill>
                  <a:srgbClr val="14181E"/>
                </a:solidFill>
                <a:latin typeface="Arial"/>
              </a:defRPr>
            </a:pPr>
            <a:r>
              <a:t>• [Technical] Commodity GPU &amp; edge mobile inference.</a:t>
            </a:r>
          </a:p>
          <a:p>
            <a:pPr>
              <a:spcAft>
                <a:spcPts val="100"/>
              </a:spcAft>
              <a:defRPr sz="819" b="1">
                <a:solidFill>
                  <a:srgbClr val="0070C0"/>
                </a:solidFill>
                <a:latin typeface="Arial"/>
              </a:defRPr>
            </a:pPr>
            <a:r>
              <a:t>ROADMAP FROM PROTOTYPE TO CONTROL</a:t>
            </a:r>
          </a:p>
          <a:p>
            <a:pPr>
              <a:spcAft>
                <a:spcPts val="120"/>
              </a:spcAft>
              <a:defRPr sz="760">
                <a:solidFill>
                  <a:srgbClr val="14181E"/>
                </a:solidFill>
                <a:latin typeface="Arial"/>
              </a:defRPr>
            </a:pPr>
            <a:r>
              <a:t>Stage 1: Prototype (Verified) ➔ 2: CNN Training ➔ 3: Real-Time Mic ➔ 4: Telephony Codecs ➔ 5: Ensemble ➔ 6: Deployment.</a:t>
            </a:r>
          </a:p>
        </p:txBody>
      </p:sp>
      <p:sp>
        <p:nvSpPr>
          <p:cNvPr id="12" name="Rectangle 11"/>
          <p:cNvSpPr/>
          <p:nvPr/>
        </p:nvSpPr>
        <p:spPr>
          <a:xfrm>
            <a:off x="450000" y="5600000"/>
            <a:ext cx="11300000" cy="560000"/>
          </a:xfrm>
          <a:prstGeom prst="rect">
            <a:avLst/>
          </a:prstGeom>
          <a:solidFill>
            <a:srgbClr val="0B2545"/>
          </a:solid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SIH-Aegis turns voice authenticity from a trust assumption into a measurable security signal.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